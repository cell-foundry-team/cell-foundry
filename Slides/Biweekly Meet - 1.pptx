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Open Sauce Heavy" charset="1" panose="00000A00000000000000"/>
      <p:regular r:id="rId38"/>
    </p:embeddedFont>
    <p:embeddedFont>
      <p:font typeface="Noto Serif" charset="1" panose="02020600060500020200"/>
      <p:regular r:id="rId39"/>
    </p:embeddedFont>
    <p:embeddedFont>
      <p:font typeface="Open Sauce Bold" charset="1" panose="00000800000000000000"/>
      <p:regular r:id="rId40"/>
    </p:embeddedFont>
    <p:embeddedFont>
      <p:font typeface="Canva Sans" charset="1" panose="020B0503030501040103"/>
      <p:regular r:id="rId41"/>
    </p:embeddedFont>
    <p:embeddedFont>
      <p:font typeface="Canva Sans Bold" charset="1" panose="020B0803030501040103"/>
      <p:regular r:id="rId42"/>
    </p:embeddedFont>
    <p:embeddedFont>
      <p:font typeface="Canva Sans Medium" charset="1" panose="020B0603030501040103"/>
      <p:regular r:id="rId43"/>
    </p:embeddedFont>
    <p:embeddedFont>
      <p:font typeface="Open Sauce" charset="1" panose="00000500000000000000"/>
      <p:regular r:id="rId44"/>
    </p:embeddedFont>
    <p:embeddedFont>
      <p:font typeface="Arimo Bold" charset="1" panose="020B0704020202020204"/>
      <p:regular r:id="rId45"/>
    </p:embeddedFont>
    <p:embeddedFont>
      <p:font typeface="Arimo" charset="1" panose="020B0604020202020204"/>
      <p:regular r:id="rId46"/>
    </p:embeddedFont>
    <p:embeddedFont>
      <p:font typeface="Arimo Italics" charset="1" panose="020B0604020202090204"/>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https://github.com/settings/organizations" TargetMode="External" Type="http://schemas.openxmlformats.org/officeDocument/2006/relationships/hyperlink"/><Relationship Id="rId5" Target="https://discord.gg/jvTn7ZJj"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1028700" y="795203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835255" y="708008"/>
            <a:ext cx="5017743" cy="1298710"/>
          </a:xfrm>
          <a:custGeom>
            <a:avLst/>
            <a:gdLst/>
            <a:ahLst/>
            <a:cxnLst/>
            <a:rect r="r" b="b" t="t" l="l"/>
            <a:pathLst>
              <a:path h="1298710" w="5017743">
                <a:moveTo>
                  <a:pt x="0" y="0"/>
                </a:moveTo>
                <a:lnTo>
                  <a:pt x="5017742" y="0"/>
                </a:lnTo>
                <a:lnTo>
                  <a:pt x="5017742" y="1298710"/>
                </a:lnTo>
                <a:lnTo>
                  <a:pt x="0" y="1298710"/>
                </a:lnTo>
                <a:lnTo>
                  <a:pt x="0" y="0"/>
                </a:lnTo>
                <a:close/>
              </a:path>
            </a:pathLst>
          </a:custGeom>
          <a:blipFill>
            <a:blip r:embed="rId2">
              <a:alphaModFix amt="90000"/>
            </a:blip>
            <a:stretch>
              <a:fillRect l="0" t="0" r="0" b="0"/>
            </a:stretch>
          </a:blipFill>
          <a:ln cap="sq">
            <a:noFill/>
            <a:prstDash val="solid"/>
            <a:miter/>
          </a:ln>
        </p:spPr>
      </p:sp>
      <p:sp>
        <p:nvSpPr>
          <p:cNvPr name="Freeform 4" id="4"/>
          <p:cNvSpPr/>
          <p:nvPr/>
        </p:nvSpPr>
        <p:spPr>
          <a:xfrm flipH="false" flipV="false" rot="0">
            <a:off x="13230990" y="8517946"/>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5" id="5"/>
          <p:cNvSpPr txBox="true"/>
          <p:nvPr/>
        </p:nvSpPr>
        <p:spPr>
          <a:xfrm rot="0">
            <a:off x="835255" y="3692547"/>
            <a:ext cx="10607576" cy="1450953"/>
          </a:xfrm>
          <a:prstGeom prst="rect">
            <a:avLst/>
          </a:prstGeom>
        </p:spPr>
        <p:txBody>
          <a:bodyPr anchor="t" rtlCol="false" tIns="0" lIns="0" bIns="0" rIns="0">
            <a:spAutoFit/>
          </a:bodyPr>
          <a:lstStyle/>
          <a:p>
            <a:pPr algn="l">
              <a:lnSpc>
                <a:spcPts val="11901"/>
              </a:lnSpc>
            </a:pPr>
            <a:r>
              <a:rPr lang="en-US" b="true" sz="8500" spc="-340">
                <a:solidFill>
                  <a:srgbClr val="12100E"/>
                </a:solidFill>
                <a:latin typeface="Open Sauce Heavy"/>
                <a:ea typeface="Open Sauce Heavy"/>
                <a:cs typeface="Open Sauce Heavy"/>
                <a:sym typeface="Open Sauce Heavy"/>
              </a:rPr>
              <a:t>CELL FOUNDRY</a:t>
            </a:r>
          </a:p>
        </p:txBody>
      </p:sp>
      <p:sp>
        <p:nvSpPr>
          <p:cNvPr name="TextBox 6" id="6"/>
          <p:cNvSpPr txBox="true"/>
          <p:nvPr/>
        </p:nvSpPr>
        <p:spPr>
          <a:xfrm rot="0">
            <a:off x="934906" y="5376045"/>
            <a:ext cx="10034500" cy="555352"/>
          </a:xfrm>
          <a:prstGeom prst="rect">
            <a:avLst/>
          </a:prstGeom>
        </p:spPr>
        <p:txBody>
          <a:bodyPr anchor="t" rtlCol="false" tIns="0" lIns="0" bIns="0" rIns="0">
            <a:spAutoFit/>
          </a:bodyPr>
          <a:lstStyle/>
          <a:p>
            <a:pPr algn="l">
              <a:lnSpc>
                <a:spcPts val="4565"/>
              </a:lnSpc>
            </a:pPr>
            <a:r>
              <a:rPr lang="en-US" sz="3260" spc="-65">
                <a:solidFill>
                  <a:srgbClr val="12100E"/>
                </a:solidFill>
                <a:latin typeface="Noto Serif"/>
                <a:ea typeface="Noto Serif"/>
                <a:cs typeface="Noto Serif"/>
                <a:sym typeface="Noto Serif"/>
              </a:rPr>
              <a:t>Meeting Title: Project Plan</a:t>
            </a:r>
          </a:p>
        </p:txBody>
      </p:sp>
      <p:sp>
        <p:nvSpPr>
          <p:cNvPr name="TextBox 7" id="7"/>
          <p:cNvSpPr txBox="true"/>
          <p:nvPr/>
        </p:nvSpPr>
        <p:spPr>
          <a:xfrm rot="0">
            <a:off x="1028700" y="8276011"/>
            <a:ext cx="2822929" cy="398145"/>
          </a:xfrm>
          <a:prstGeom prst="rect">
            <a:avLst/>
          </a:prstGeom>
        </p:spPr>
        <p:txBody>
          <a:bodyPr anchor="t" rtlCol="false" tIns="0" lIns="0" bIns="0" rIns="0">
            <a:spAutoFit/>
          </a:bodyPr>
          <a:lstStyle/>
          <a:p>
            <a:pPr algn="l">
              <a:lnSpc>
                <a:spcPts val="3360"/>
              </a:lnSpc>
            </a:pPr>
            <a:r>
              <a:rPr lang="en-US" sz="2100" b="true">
                <a:solidFill>
                  <a:srgbClr val="12100E"/>
                </a:solidFill>
                <a:latin typeface="Open Sauce Bold"/>
                <a:ea typeface="Open Sauce Bold"/>
                <a:cs typeface="Open Sauce Bold"/>
                <a:sym typeface="Open Sauce Bold"/>
              </a:rPr>
              <a:t>DATE: 08.10.2026</a:t>
            </a:r>
          </a:p>
        </p:txBody>
      </p:sp>
      <p:sp>
        <p:nvSpPr>
          <p:cNvPr name="TextBox 8" id="8"/>
          <p:cNvSpPr txBox="true"/>
          <p:nvPr/>
        </p:nvSpPr>
        <p:spPr>
          <a:xfrm rot="0">
            <a:off x="934906" y="6198097"/>
            <a:ext cx="7963793" cy="611822"/>
          </a:xfrm>
          <a:prstGeom prst="rect">
            <a:avLst/>
          </a:prstGeom>
        </p:spPr>
        <p:txBody>
          <a:bodyPr anchor="t" rtlCol="false" tIns="0" lIns="0" bIns="0" rIns="0">
            <a:spAutoFit/>
          </a:bodyPr>
          <a:lstStyle/>
          <a:p>
            <a:pPr algn="l">
              <a:lnSpc>
                <a:spcPts val="2502"/>
              </a:lnSpc>
              <a:spcBef>
                <a:spcPct val="0"/>
              </a:spcBef>
            </a:pPr>
            <a:r>
              <a:rPr lang="en-US" sz="1787" spc="-71">
                <a:solidFill>
                  <a:srgbClr val="12100E"/>
                </a:solidFill>
                <a:latin typeface="Canva Sans"/>
                <a:ea typeface="Canva Sans"/>
                <a:cs typeface="Canva Sans"/>
                <a:sym typeface="Canva Sans"/>
              </a:rPr>
              <a:t>PAVIN S</a:t>
            </a:r>
            <a:r>
              <a:rPr lang="en-US" sz="1787" spc="-71">
                <a:solidFill>
                  <a:srgbClr val="12100E"/>
                </a:solidFill>
                <a:latin typeface="Canva Sans"/>
                <a:ea typeface="Canva Sans"/>
                <a:cs typeface="Canva Sans"/>
                <a:sym typeface="Canva Sans"/>
              </a:rPr>
              <a:t>UMATHI PALANICHAMY · PRETHEBHA MUTHUKUMARAN · PRIYAM JHA</a:t>
            </a:r>
          </a:p>
          <a:p>
            <a:pPr algn="l">
              <a:lnSpc>
                <a:spcPts val="2502"/>
              </a:lnSpc>
              <a:spcBef>
                <a:spcPct val="0"/>
              </a:spcBef>
            </a:pPr>
            <a:r>
              <a:rPr lang="en-US" b="true" sz="1787" spc="-71">
                <a:solidFill>
                  <a:srgbClr val="12100E"/>
                </a:solidFill>
                <a:latin typeface="Canva Sans Bold"/>
                <a:ea typeface="Canva Sans Bold"/>
                <a:cs typeface="Canva Sans Bold"/>
                <a:sym typeface="Canva Sans Bold"/>
              </a:rPr>
              <a:t>MENTOR:</a:t>
            </a:r>
            <a:r>
              <a:rPr lang="en-US" sz="1787" spc="-71">
                <a:solidFill>
                  <a:srgbClr val="12100E"/>
                </a:solidFill>
                <a:latin typeface="Canva Sans"/>
                <a:ea typeface="Canva Sans"/>
                <a:cs typeface="Canva Sans"/>
                <a:sym typeface="Canva Sans"/>
              </a:rPr>
              <a:t> PROF. DR. MAGDA GREGOROVÁ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896081" y="1788966"/>
            <a:ext cx="2165821" cy="679450"/>
          </a:xfrm>
          <a:prstGeom prst="rect">
            <a:avLst/>
          </a:prstGeom>
        </p:spPr>
        <p:txBody>
          <a:bodyPr anchor="t" rtlCol="false" tIns="0" lIns="0" bIns="0" rIns="0">
            <a:spAutoFit/>
          </a:bodyPr>
          <a:lstStyle/>
          <a:p>
            <a:pPr algn="ctr">
              <a:lnSpc>
                <a:spcPts val="5599"/>
              </a:lnSpc>
            </a:pPr>
            <a:r>
              <a:rPr lang="en-US" sz="3999" b="true">
                <a:solidFill>
                  <a:srgbClr val="12100E"/>
                </a:solidFill>
                <a:latin typeface="Canva Sans Bold"/>
                <a:ea typeface="Canva Sans Bold"/>
                <a:cs typeface="Canva Sans Bold"/>
                <a:sym typeface="Canva Sans Bold"/>
              </a:rPr>
              <a:t>AGENDA</a:t>
            </a:r>
          </a:p>
        </p:txBody>
      </p:sp>
      <p:sp>
        <p:nvSpPr>
          <p:cNvPr name="TextBox 8" id="8"/>
          <p:cNvSpPr txBox="true"/>
          <p:nvPr/>
        </p:nvSpPr>
        <p:spPr>
          <a:xfrm rot="0">
            <a:off x="896081" y="2761139"/>
            <a:ext cx="13066488" cy="4225925"/>
          </a:xfrm>
          <a:prstGeom prst="rect">
            <a:avLst/>
          </a:prstGeom>
        </p:spPr>
        <p:txBody>
          <a:bodyPr anchor="t" rtlCol="false" tIns="0" lIns="0" bIns="0" rIns="0">
            <a:spAutoFit/>
          </a:bodyPr>
          <a:lstStyle/>
          <a:p>
            <a:pPr algn="l" marL="431801" indent="-215900" lvl="1">
              <a:lnSpc>
                <a:spcPts val="2800"/>
              </a:lnSpc>
              <a:buAutoNum type="arabicPeriod" startAt="1"/>
            </a:pPr>
            <a:r>
              <a:rPr lang="en-US" sz="2000" spc="-80">
                <a:solidFill>
                  <a:srgbClr val="12100E"/>
                </a:solidFill>
                <a:latin typeface="Canva Sans"/>
                <a:ea typeface="Canva Sans"/>
                <a:cs typeface="Canva Sans"/>
                <a:sym typeface="Canva Sans"/>
              </a:rPr>
              <a:t>CLIENT</a:t>
            </a:r>
          </a:p>
          <a:p>
            <a:pPr algn="l" marL="431801" indent="-215900" lvl="1">
              <a:lnSpc>
                <a:spcPts val="2800"/>
              </a:lnSpc>
              <a:buAutoNum type="arabicPeriod" startAt="1"/>
            </a:pPr>
            <a:r>
              <a:rPr lang="en-US" sz="2000" spc="-80">
                <a:solidFill>
                  <a:srgbClr val="12100E"/>
                </a:solidFill>
                <a:latin typeface="Canva Sans"/>
                <a:ea typeface="Canva Sans"/>
                <a:cs typeface="Canva Sans"/>
                <a:sym typeface="Canva Sans"/>
              </a:rPr>
              <a:t>The problem and why it matters</a:t>
            </a:r>
          </a:p>
          <a:p>
            <a:pPr algn="l" marL="431801" indent="-215900" lvl="1">
              <a:lnSpc>
                <a:spcPts val="2800"/>
              </a:lnSpc>
              <a:buAutoNum type="arabicPeriod" startAt="1"/>
            </a:pPr>
            <a:r>
              <a:rPr lang="en-US" sz="2000" spc="-80">
                <a:solidFill>
                  <a:srgbClr val="12100E"/>
                </a:solidFill>
                <a:latin typeface="Canva Sans"/>
                <a:ea typeface="Canva Sans"/>
                <a:cs typeface="Canva Sans"/>
                <a:sym typeface="Canva Sans"/>
              </a:rPr>
              <a:t>REQUIREMENTS AND DATA</a:t>
            </a:r>
          </a:p>
          <a:p>
            <a:pPr algn="l" marL="431801" indent="-215900" lvl="1">
              <a:lnSpc>
                <a:spcPts val="2800"/>
              </a:lnSpc>
              <a:buAutoNum type="arabicPeriod" startAt="1"/>
            </a:pPr>
            <a:r>
              <a:rPr lang="en-US" sz="2000" spc="-80">
                <a:solidFill>
                  <a:srgbClr val="12100E"/>
                </a:solidFill>
                <a:latin typeface="Canva Sans"/>
                <a:ea typeface="Canva Sans"/>
                <a:cs typeface="Canva Sans"/>
                <a:sym typeface="Canva Sans"/>
              </a:rPr>
              <a:t>Scope: what’s in, what’s open</a:t>
            </a:r>
          </a:p>
          <a:p>
            <a:pPr algn="l" marL="431801" indent="-215900" lvl="1">
              <a:lnSpc>
                <a:spcPts val="2800"/>
              </a:lnSpc>
              <a:buAutoNum type="arabicPeriod" startAt="1"/>
            </a:pPr>
            <a:r>
              <a:rPr lang="en-US" sz="2000" spc="-80">
                <a:solidFill>
                  <a:srgbClr val="12100E"/>
                </a:solidFill>
                <a:latin typeface="Canva Sans"/>
                <a:ea typeface="Canva Sans"/>
                <a:cs typeface="Canva Sans"/>
                <a:sym typeface="Canva Sans"/>
              </a:rPr>
              <a:t>Project plan: recommended work sequence</a:t>
            </a:r>
          </a:p>
          <a:p>
            <a:pPr algn="l" marL="431801" indent="-215900" lvl="1">
              <a:lnSpc>
                <a:spcPts val="2800"/>
              </a:lnSpc>
              <a:spcBef>
                <a:spcPct val="0"/>
              </a:spcBef>
              <a:buAutoNum type="arabicPeriod" startAt="1"/>
            </a:pPr>
            <a:r>
              <a:rPr lang="en-US" sz="2000" spc="-80">
                <a:solidFill>
                  <a:srgbClr val="12100E"/>
                </a:solidFill>
                <a:latin typeface="Canva Sans"/>
                <a:ea typeface="Canva Sans"/>
                <a:cs typeface="Canva Sans"/>
                <a:sym typeface="Canva Sans"/>
              </a:rPr>
              <a:t>Res</a:t>
            </a:r>
            <a:r>
              <a:rPr lang="en-US" sz="2000" spc="-80">
                <a:solidFill>
                  <a:srgbClr val="12100E"/>
                </a:solidFill>
                <a:latin typeface="Canva Sans"/>
                <a:ea typeface="Canva Sans"/>
                <a:cs typeface="Canva Sans"/>
                <a:sym typeface="Canva Sans"/>
              </a:rPr>
              <a:t>OURCES AND RISKS</a:t>
            </a:r>
          </a:p>
          <a:p>
            <a:pPr algn="l" marL="431801" indent="-215900" lvl="1">
              <a:lnSpc>
                <a:spcPts val="2800"/>
              </a:lnSpc>
              <a:spcBef>
                <a:spcPct val="0"/>
              </a:spcBef>
              <a:buAutoNum type="arabicPeriod" startAt="1"/>
            </a:pPr>
            <a:r>
              <a:rPr lang="en-US" sz="2000" spc="-80">
                <a:solidFill>
                  <a:srgbClr val="12100E"/>
                </a:solidFill>
                <a:latin typeface="Canva Sans"/>
                <a:ea typeface="Canva Sans"/>
                <a:cs typeface="Canva Sans"/>
                <a:sym typeface="Canva Sans"/>
              </a:rPr>
              <a:t>MILESTONES</a:t>
            </a:r>
          </a:p>
          <a:p>
            <a:pPr algn="l" marL="431801" indent="-215900" lvl="1">
              <a:lnSpc>
                <a:spcPts val="2800"/>
              </a:lnSpc>
              <a:spcBef>
                <a:spcPct val="0"/>
              </a:spcBef>
              <a:buAutoNum type="arabicPeriod" startAt="1"/>
            </a:pPr>
            <a:r>
              <a:rPr lang="en-US" sz="2000" spc="-80">
                <a:solidFill>
                  <a:srgbClr val="12100E"/>
                </a:solidFill>
                <a:latin typeface="Canva Sans"/>
                <a:ea typeface="Canva Sans"/>
                <a:cs typeface="Canva Sans"/>
                <a:sym typeface="Canva Sans"/>
              </a:rPr>
              <a:t>TEAM</a:t>
            </a:r>
          </a:p>
          <a:p>
            <a:pPr algn="l" marL="431801" indent="-215900" lvl="1">
              <a:lnSpc>
                <a:spcPts val="2800"/>
              </a:lnSpc>
              <a:spcBef>
                <a:spcPct val="0"/>
              </a:spcBef>
              <a:buAutoNum type="arabicPeriod" startAt="1"/>
            </a:pPr>
            <a:r>
              <a:rPr lang="en-US" sz="2000" spc="-80">
                <a:solidFill>
                  <a:srgbClr val="12100E"/>
                </a:solidFill>
                <a:latin typeface="Canva Sans"/>
                <a:ea typeface="Canva Sans"/>
                <a:cs typeface="Canva Sans"/>
                <a:sym typeface="Canva Sans"/>
              </a:rPr>
              <a:t>TRACKING AND COMMUNICATION</a:t>
            </a:r>
          </a:p>
          <a:p>
            <a:pPr algn="l" marL="431801" indent="-215900" lvl="1">
              <a:lnSpc>
                <a:spcPts val="2800"/>
              </a:lnSpc>
              <a:spcBef>
                <a:spcPct val="0"/>
              </a:spcBef>
              <a:buAutoNum type="arabicPeriod" startAt="1"/>
            </a:pPr>
            <a:r>
              <a:rPr lang="en-US" sz="2000" spc="-80">
                <a:solidFill>
                  <a:srgbClr val="12100E"/>
                </a:solidFill>
                <a:latin typeface="Canva Sans"/>
                <a:ea typeface="Canva Sans"/>
                <a:cs typeface="Canva Sans"/>
                <a:sym typeface="Canva Sans"/>
              </a:rPr>
              <a:t> TECHNICAL WORK: APPROACH, ZERO-SHOT RESULTS, FINDINGS</a:t>
            </a:r>
          </a:p>
          <a:p>
            <a:pPr algn="l" marL="431801" indent="-215900" lvl="1">
              <a:lnSpc>
                <a:spcPts val="2800"/>
              </a:lnSpc>
              <a:spcBef>
                <a:spcPct val="0"/>
              </a:spcBef>
              <a:buAutoNum type="arabicPeriod" startAt="1"/>
            </a:pPr>
            <a:r>
              <a:rPr lang="en-US" sz="2000" spc="-80">
                <a:solidFill>
                  <a:srgbClr val="12100E"/>
                </a:solidFill>
                <a:latin typeface="Canva Sans"/>
                <a:ea typeface="Canva Sans"/>
                <a:cs typeface="Canva Sans"/>
                <a:sym typeface="Canva Sans"/>
              </a:rPr>
              <a:t> DELIVERABLES AND STATUS</a:t>
            </a:r>
          </a:p>
          <a:p>
            <a:pPr algn="l">
              <a:lnSpc>
                <a:spcPts val="28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755523" y="1930518"/>
            <a:ext cx="1825526" cy="679450"/>
          </a:xfrm>
          <a:prstGeom prst="rect">
            <a:avLst/>
          </a:prstGeom>
        </p:spPr>
        <p:txBody>
          <a:bodyPr anchor="t" rtlCol="false" tIns="0" lIns="0" bIns="0" rIns="0">
            <a:spAutoFit/>
          </a:bodyPr>
          <a:lstStyle/>
          <a:p>
            <a:pPr algn="ctr">
              <a:lnSpc>
                <a:spcPts val="5599"/>
              </a:lnSpc>
            </a:pPr>
            <a:r>
              <a:rPr lang="en-US" sz="3999" b="true">
                <a:solidFill>
                  <a:srgbClr val="12100E"/>
                </a:solidFill>
                <a:latin typeface="Canva Sans Bold"/>
                <a:ea typeface="Canva Sans Bold"/>
                <a:cs typeface="Canva Sans Bold"/>
                <a:sym typeface="Canva Sans Bold"/>
              </a:rPr>
              <a:t>CLIENT</a:t>
            </a:r>
          </a:p>
        </p:txBody>
      </p:sp>
      <p:sp>
        <p:nvSpPr>
          <p:cNvPr name="TextBox 8" id="8"/>
          <p:cNvSpPr txBox="true"/>
          <p:nvPr/>
        </p:nvSpPr>
        <p:spPr>
          <a:xfrm rot="0">
            <a:off x="755523" y="2849861"/>
            <a:ext cx="13152239" cy="3927475"/>
          </a:xfrm>
          <a:prstGeom prst="rect">
            <a:avLst/>
          </a:prstGeom>
        </p:spPr>
        <p:txBody>
          <a:bodyPr anchor="t" rtlCol="false" tIns="0" lIns="0" bIns="0" rIns="0">
            <a:spAutoFit/>
          </a:bodyPr>
          <a:lstStyle/>
          <a:p>
            <a:pPr algn="l">
              <a:lnSpc>
                <a:spcPts val="3499"/>
              </a:lnSpc>
              <a:spcBef>
                <a:spcPct val="0"/>
              </a:spcBef>
            </a:pPr>
            <a:r>
              <a:rPr lang="en-US" b="true" sz="2499" spc="-99">
                <a:solidFill>
                  <a:srgbClr val="12100E"/>
                </a:solidFill>
                <a:latin typeface="Canva Sans Bold"/>
                <a:ea typeface="Canva Sans Bold"/>
                <a:cs typeface="Canva Sans Bold"/>
                <a:sym typeface="Canva Sans Bold"/>
              </a:rPr>
              <a:t>IMES - </a:t>
            </a:r>
            <a:r>
              <a:rPr lang="en-US" b="true" sz="2499" spc="-99">
                <a:solidFill>
                  <a:srgbClr val="12100E"/>
                </a:solidFill>
                <a:latin typeface="Canva Sans Bold"/>
                <a:ea typeface="Canva Sans Bold"/>
                <a:cs typeface="Canva Sans Bold"/>
                <a:sym typeface="Canva Sans Bold"/>
              </a:rPr>
              <a:t>Instit</a:t>
            </a:r>
            <a:r>
              <a:rPr lang="en-US" b="true" sz="2499" spc="-99">
                <a:solidFill>
                  <a:srgbClr val="12100E"/>
                </a:solidFill>
                <a:latin typeface="Canva Sans Bold"/>
                <a:ea typeface="Canva Sans Bold"/>
                <a:cs typeface="Canva Sans Bold"/>
                <a:sym typeface="Canva Sans Bold"/>
              </a:rPr>
              <a:t>UT FÜR MEDIZINTECHNIK SCHWEINFURT, THWS. RESEARCH PARTNER </a:t>
            </a:r>
          </a:p>
          <a:p>
            <a:pPr algn="l">
              <a:lnSpc>
                <a:spcPts val="3499"/>
              </a:lnSpc>
              <a:spcBef>
                <a:spcPct val="0"/>
              </a:spcBef>
            </a:pPr>
          </a:p>
          <a:p>
            <a:pPr algn="l">
              <a:lnSpc>
                <a:spcPts val="3499"/>
              </a:lnSpc>
              <a:spcBef>
                <a:spcPct val="0"/>
              </a:spcBef>
            </a:pPr>
            <a:r>
              <a:rPr lang="en-US" sz="2499" spc="-99">
                <a:solidFill>
                  <a:srgbClr val="12100E"/>
                </a:solidFill>
                <a:latin typeface="Canva Sans"/>
                <a:ea typeface="Canva Sans"/>
                <a:cs typeface="Canva Sans"/>
                <a:sym typeface="Canva Sans"/>
              </a:rPr>
              <a:t>PROVIDER OF  MICROSCOPY IMAGING DATA</a:t>
            </a:r>
          </a:p>
          <a:p>
            <a:pPr algn="l">
              <a:lnSpc>
                <a:spcPts val="3499"/>
              </a:lnSpc>
              <a:spcBef>
                <a:spcPct val="0"/>
              </a:spcBef>
            </a:pPr>
            <a:r>
              <a:rPr lang="en-US" sz="2499" spc="-99">
                <a:solidFill>
                  <a:srgbClr val="12100E"/>
                </a:solidFill>
                <a:latin typeface="Canva Sans"/>
                <a:ea typeface="Canva Sans"/>
                <a:cs typeface="Canva Sans"/>
                <a:sym typeface="Canva Sans"/>
              </a:rPr>
              <a:t>BIOMEDICAL DOMAIN EXPERTISE.</a:t>
            </a:r>
          </a:p>
          <a:p>
            <a:pPr algn="l">
              <a:lnSpc>
                <a:spcPts val="3499"/>
              </a:lnSpc>
              <a:spcBef>
                <a:spcPct val="0"/>
              </a:spcBef>
            </a:pPr>
          </a:p>
          <a:p>
            <a:pPr algn="l">
              <a:lnSpc>
                <a:spcPts val="3499"/>
              </a:lnSpc>
              <a:spcBef>
                <a:spcPct val="0"/>
              </a:spcBef>
            </a:pPr>
            <a:r>
              <a:rPr lang="en-US" b="true" sz="2499" spc="-99">
                <a:solidFill>
                  <a:srgbClr val="12100E"/>
                </a:solidFill>
                <a:latin typeface="Canva Sans Bold"/>
                <a:ea typeface="Canva Sans Bold"/>
                <a:cs typeface="Canva Sans Bold"/>
                <a:sym typeface="Canva Sans Bold"/>
              </a:rPr>
              <a:t>CONTACTS: </a:t>
            </a:r>
          </a:p>
          <a:p>
            <a:pPr algn="l">
              <a:lnSpc>
                <a:spcPts val="3499"/>
              </a:lnSpc>
              <a:spcBef>
                <a:spcPct val="0"/>
              </a:spcBef>
            </a:pPr>
            <a:r>
              <a:rPr lang="en-US" sz="2499" spc="-99">
                <a:solidFill>
                  <a:srgbClr val="12100E"/>
                </a:solidFill>
                <a:latin typeface="Canva Sans"/>
                <a:ea typeface="Canva Sans"/>
                <a:cs typeface="Canva Sans"/>
                <a:sym typeface="Canva Sans"/>
              </a:rPr>
              <a:t>NICOLE PAUL - IMMEDIATE POINT OF CONTACT AND THE ONE WHO WORKS WITH THE CODE</a:t>
            </a:r>
          </a:p>
          <a:p>
            <a:pPr algn="l">
              <a:lnSpc>
                <a:spcPts val="3499"/>
              </a:lnSpc>
              <a:spcBef>
                <a:spcPct val="0"/>
              </a:spcBef>
            </a:pPr>
            <a:r>
              <a:rPr lang="en-US" sz="2499" spc="-99">
                <a:solidFill>
                  <a:srgbClr val="12100E"/>
                </a:solidFill>
                <a:latin typeface="Canva Sans"/>
                <a:ea typeface="Canva Sans"/>
                <a:cs typeface="Canva Sans"/>
                <a:sym typeface="Canva Sans"/>
              </a:rPr>
              <a:t>JAN HANSMANN - THE BIOLOGY EXPERT</a:t>
            </a:r>
          </a:p>
          <a:p>
            <a:pPr algn="l">
              <a:lnSpc>
                <a:spcPts val="349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2190965" y="2083345"/>
            <a:ext cx="9525" cy="307022"/>
          </a:xfrm>
          <a:prstGeom prst="rect">
            <a:avLst/>
          </a:prstGeom>
        </p:spPr>
        <p:txBody>
          <a:bodyPr anchor="t" rtlCol="false" tIns="0" lIns="0" bIns="0" rIns="0">
            <a:spAutoFit/>
          </a:bodyPr>
          <a:lstStyle/>
          <a:p>
            <a:pPr algn="ctr">
              <a:lnSpc>
                <a:spcPts val="2502"/>
              </a:lnSpc>
              <a:spcBef>
                <a:spcPct val="0"/>
              </a:spcBef>
            </a:pPr>
          </a:p>
        </p:txBody>
      </p:sp>
      <p:sp>
        <p:nvSpPr>
          <p:cNvPr name="TextBox 8" id="8"/>
          <p:cNvSpPr txBox="true"/>
          <p:nvPr/>
        </p:nvSpPr>
        <p:spPr>
          <a:xfrm rot="0">
            <a:off x="708907" y="1892418"/>
            <a:ext cx="7314158"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Project</a:t>
            </a:r>
            <a:r>
              <a:rPr lang="en-US" b="true" sz="6000">
                <a:solidFill>
                  <a:srgbClr val="12100E"/>
                </a:solidFill>
                <a:latin typeface="Canva Sans Bold"/>
                <a:ea typeface="Canva Sans Bold"/>
                <a:cs typeface="Canva Sans Bold"/>
                <a:sym typeface="Canva Sans Bold"/>
              </a:rPr>
              <a:t> description </a:t>
            </a:r>
          </a:p>
        </p:txBody>
      </p:sp>
      <p:sp>
        <p:nvSpPr>
          <p:cNvPr name="TextBox 9" id="9"/>
          <p:cNvSpPr txBox="true"/>
          <p:nvPr/>
        </p:nvSpPr>
        <p:spPr>
          <a:xfrm rot="0">
            <a:off x="708907" y="3229189"/>
            <a:ext cx="15201884" cy="4930775"/>
          </a:xfrm>
          <a:prstGeom prst="rect">
            <a:avLst/>
          </a:prstGeom>
        </p:spPr>
        <p:txBody>
          <a:bodyPr anchor="t" rtlCol="false" tIns="0" lIns="0" bIns="0" rIns="0">
            <a:spAutoFit/>
          </a:bodyPr>
          <a:lstStyle/>
          <a:p>
            <a:pPr algn="l">
              <a:lnSpc>
                <a:spcPts val="2800"/>
              </a:lnSpc>
              <a:spcBef>
                <a:spcPct val="0"/>
              </a:spcBef>
            </a:pPr>
            <a:r>
              <a:rPr lang="en-US" b="true" sz="2000" spc="-80">
                <a:solidFill>
                  <a:srgbClr val="12100E"/>
                </a:solidFill>
                <a:latin typeface="Canva Sans Bold"/>
                <a:ea typeface="Canva Sans Bold"/>
                <a:cs typeface="Canva Sans Bold"/>
                <a:sym typeface="Canva Sans Bold"/>
              </a:rPr>
              <a:t>P</a:t>
            </a:r>
            <a:r>
              <a:rPr lang="en-US" b="true" sz="2000" spc="-80">
                <a:solidFill>
                  <a:srgbClr val="12100E"/>
                </a:solidFill>
                <a:latin typeface="Canva Sans Bold"/>
                <a:ea typeface="Canva Sans Bold"/>
                <a:cs typeface="Canva Sans Bold"/>
                <a:sym typeface="Canva Sans Bold"/>
              </a:rPr>
              <a:t>ORCINE TISSUE: CULTURED MEAT (PRIORITY - CONFIRMED BY IMES - NICOLE)</a:t>
            </a:r>
          </a:p>
          <a:p>
            <a:pPr algn="l">
              <a:lnSpc>
                <a:spcPts val="2800"/>
              </a:lnSpc>
              <a:spcBef>
                <a:spcPct val="0"/>
              </a:spcBef>
            </a:pPr>
          </a:p>
          <a:p>
            <a:pPr algn="l">
              <a:lnSpc>
                <a:spcPts val="2800"/>
              </a:lnSpc>
              <a:spcBef>
                <a:spcPct val="0"/>
              </a:spcBef>
            </a:pPr>
            <a:r>
              <a:rPr lang="en-US" sz="2000" spc="-80">
                <a:solidFill>
                  <a:srgbClr val="12100E"/>
                </a:solidFill>
                <a:latin typeface="Canva Sans"/>
                <a:ea typeface="Canva Sans"/>
                <a:cs typeface="Canva Sans"/>
                <a:sym typeface="Canva Sans"/>
              </a:rPr>
              <a:t>LAB-GROWN MEAT IS PRODUCED FROM ANIMAL CELLS IN VITRO. </a:t>
            </a:r>
          </a:p>
          <a:p>
            <a:pPr algn="l">
              <a:lnSpc>
                <a:spcPts val="2800"/>
              </a:lnSpc>
              <a:spcBef>
                <a:spcPct val="0"/>
              </a:spcBef>
            </a:pPr>
            <a:r>
              <a:rPr lang="en-US" sz="2000" spc="-80">
                <a:solidFill>
                  <a:srgbClr val="12100E"/>
                </a:solidFill>
                <a:latin typeface="Canva Sans"/>
                <a:ea typeface="Canva Sans"/>
                <a:cs typeface="Canva Sans"/>
                <a:sym typeface="Canva Sans"/>
              </a:rPr>
              <a:t>MUSCLE TISSUE ALONE DOES NOT REPRODUCE REAL MEAT’S FLAVOR, MOST OF THAT FLAVOR COMES FROM FAT, NOT MUSCLE. </a:t>
            </a:r>
          </a:p>
          <a:p>
            <a:pPr algn="l">
              <a:lnSpc>
                <a:spcPts val="2800"/>
              </a:lnSpc>
              <a:spcBef>
                <a:spcPct val="0"/>
              </a:spcBef>
            </a:pPr>
            <a:r>
              <a:rPr lang="en-US" sz="2000" spc="-80">
                <a:solidFill>
                  <a:srgbClr val="12100E"/>
                </a:solidFill>
                <a:latin typeface="Canva Sans"/>
                <a:ea typeface="Canva Sans"/>
                <a:cs typeface="Canva Sans"/>
                <a:sym typeface="Canva Sans"/>
              </a:rPr>
              <a:t>FAT CELLS (ADIPOCYTES) ARE DELIBERATELY INCLUDED IN THE CULTURE TO CONTRIBUTE FLAVOR.</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HUMAN TISSUE HAVE TWO PURPOSES</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1) </a:t>
            </a:r>
            <a:r>
              <a:rPr lang="en-US" sz="2000" spc="-80">
                <a:solidFill>
                  <a:srgbClr val="12100E"/>
                </a:solidFill>
                <a:latin typeface="Canva Sans"/>
                <a:ea typeface="Canva Sans"/>
                <a:cs typeface="Canva Sans"/>
                <a:sym typeface="Canva Sans"/>
              </a:rPr>
              <a:t>BIOMEDICAL RESEARCH: OBESITY, TYPE 2 DIABETES, METABOLIC SYNDROME  </a:t>
            </a:r>
          </a:p>
          <a:p>
            <a:pPr algn="l">
              <a:lnSpc>
                <a:spcPts val="2800"/>
              </a:lnSpc>
              <a:spcBef>
                <a:spcPct val="0"/>
              </a:spcBef>
            </a:pPr>
            <a:r>
              <a:rPr lang="en-US" sz="2000" spc="-80">
                <a:solidFill>
                  <a:srgbClr val="12100E"/>
                </a:solidFill>
                <a:latin typeface="Canva Sans"/>
                <a:ea typeface="Canva Sans"/>
                <a:cs typeface="Canva Sans"/>
                <a:sym typeface="Canva Sans"/>
              </a:rPr>
              <a:t>ADIPOCYTE SIZE AND COUNT ARE THE PRIMARY READOUTS.</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2) </a:t>
            </a:r>
            <a:r>
              <a:rPr lang="en-US" sz="2000" spc="-80">
                <a:solidFill>
                  <a:srgbClr val="12100E"/>
                </a:solidFill>
                <a:latin typeface="Canva Sans"/>
                <a:ea typeface="Canva Sans"/>
                <a:cs typeface="Canva Sans"/>
                <a:sym typeface="Canva Sans"/>
              </a:rPr>
              <a:t>DRUG TESTING: VIA THE HANNOVER COLLABORATION, CELL CULTURE AHEAD OF CLINICAL TRIALS.</a:t>
            </a:r>
          </a:p>
          <a:p>
            <a:pPr algn="l">
              <a:lnSpc>
                <a:spcPts val="2800"/>
              </a:lnSpc>
              <a:spcBef>
                <a:spcPct val="0"/>
              </a:spcBef>
            </a:pPr>
          </a:p>
          <a:p>
            <a:pPr algn="l">
              <a:lnSpc>
                <a:spcPts val="2800"/>
              </a:lnSpc>
              <a:spcBef>
                <a:spcPct val="0"/>
              </a:spcBef>
            </a:pPr>
          </a:p>
        </p:txBody>
      </p:sp>
      <p:grpSp>
        <p:nvGrpSpPr>
          <p:cNvPr name="Group 10" id="10"/>
          <p:cNvGrpSpPr/>
          <p:nvPr/>
        </p:nvGrpSpPr>
        <p:grpSpPr>
          <a:xfrm rot="0">
            <a:off x="10584180" y="4290060"/>
            <a:ext cx="4974908" cy="430530"/>
            <a:chOff x="0" y="0"/>
            <a:chExt cx="6633210" cy="574040"/>
          </a:xfrm>
        </p:grpSpPr>
        <p:sp>
          <p:nvSpPr>
            <p:cNvPr name="Freeform 11" id="11"/>
            <p:cNvSpPr/>
            <p:nvPr/>
          </p:nvSpPr>
          <p:spPr>
            <a:xfrm flipH="false" flipV="false" rot="0">
              <a:off x="-2822" y="44396"/>
              <a:ext cx="6587637" cy="685351"/>
            </a:xfrm>
            <a:custGeom>
              <a:avLst/>
              <a:gdLst/>
              <a:ahLst/>
              <a:cxnLst/>
              <a:rect r="r" b="b" t="t" l="l"/>
              <a:pathLst>
                <a:path h="685351" w="6587637">
                  <a:moveTo>
                    <a:pt x="53622" y="15294"/>
                  </a:moveTo>
                  <a:cubicBezTo>
                    <a:pt x="6422672" y="14024"/>
                    <a:pt x="6437912" y="20374"/>
                    <a:pt x="6464582" y="31804"/>
                  </a:cubicBezTo>
                  <a:cubicBezTo>
                    <a:pt x="6483632" y="40694"/>
                    <a:pt x="6495062" y="48314"/>
                    <a:pt x="6510302" y="63554"/>
                  </a:cubicBezTo>
                  <a:cubicBezTo>
                    <a:pt x="6531892" y="83874"/>
                    <a:pt x="6559832" y="125784"/>
                    <a:pt x="6572532" y="153724"/>
                  </a:cubicBezTo>
                  <a:cubicBezTo>
                    <a:pt x="6581422" y="172774"/>
                    <a:pt x="6583962" y="189284"/>
                    <a:pt x="6585232" y="207064"/>
                  </a:cubicBezTo>
                  <a:cubicBezTo>
                    <a:pt x="6587772" y="224844"/>
                    <a:pt x="6589042" y="241354"/>
                    <a:pt x="6585232" y="261674"/>
                  </a:cubicBezTo>
                  <a:cubicBezTo>
                    <a:pt x="6580152" y="290884"/>
                    <a:pt x="6567452" y="335334"/>
                    <a:pt x="6547132" y="364544"/>
                  </a:cubicBezTo>
                  <a:cubicBezTo>
                    <a:pt x="6526812" y="393754"/>
                    <a:pt x="6496332" y="420424"/>
                    <a:pt x="6464582" y="436934"/>
                  </a:cubicBezTo>
                  <a:cubicBezTo>
                    <a:pt x="6434102" y="453444"/>
                    <a:pt x="6382032" y="481384"/>
                    <a:pt x="6359172" y="463604"/>
                  </a:cubicBezTo>
                  <a:cubicBezTo>
                    <a:pt x="6309642" y="425504"/>
                    <a:pt x="6309642" y="44504"/>
                    <a:pt x="6359172" y="6404"/>
                  </a:cubicBezTo>
                  <a:cubicBezTo>
                    <a:pt x="6382032" y="-12646"/>
                    <a:pt x="6434102" y="15294"/>
                    <a:pt x="6464582" y="31804"/>
                  </a:cubicBezTo>
                  <a:cubicBezTo>
                    <a:pt x="6496332" y="48314"/>
                    <a:pt x="6526812" y="74984"/>
                    <a:pt x="6547132" y="104194"/>
                  </a:cubicBezTo>
                  <a:cubicBezTo>
                    <a:pt x="6567452" y="133404"/>
                    <a:pt x="6580152" y="177854"/>
                    <a:pt x="6585232" y="207064"/>
                  </a:cubicBezTo>
                  <a:cubicBezTo>
                    <a:pt x="6589042" y="227384"/>
                    <a:pt x="6587772" y="243894"/>
                    <a:pt x="6585232" y="261674"/>
                  </a:cubicBezTo>
                  <a:cubicBezTo>
                    <a:pt x="6583962" y="280724"/>
                    <a:pt x="6581422" y="295964"/>
                    <a:pt x="6572532" y="315014"/>
                  </a:cubicBezTo>
                  <a:cubicBezTo>
                    <a:pt x="6559832" y="342954"/>
                    <a:pt x="6531892" y="384864"/>
                    <a:pt x="6510302" y="405184"/>
                  </a:cubicBezTo>
                  <a:cubicBezTo>
                    <a:pt x="6495062" y="420424"/>
                    <a:pt x="6483632" y="428044"/>
                    <a:pt x="6464582" y="436934"/>
                  </a:cubicBezTo>
                  <a:cubicBezTo>
                    <a:pt x="6437912" y="449634"/>
                    <a:pt x="6422672" y="454714"/>
                    <a:pt x="6359172" y="463604"/>
                  </a:cubicBezTo>
                  <a:cubicBezTo>
                    <a:pt x="5876572" y="522024"/>
                    <a:pt x="501932" y="923344"/>
                    <a:pt x="53622" y="477574"/>
                  </a:cubicBezTo>
                  <a:cubicBezTo>
                    <a:pt x="-67028" y="356924"/>
                    <a:pt x="53622" y="15294"/>
                    <a:pt x="53622" y="15294"/>
                  </a:cubicBezTo>
                </a:path>
              </a:pathLst>
            </a:custGeom>
            <a:solidFill>
              <a:srgbClr val="FFF234">
                <a:alpha val="24706"/>
              </a:srgbClr>
            </a:solidFill>
            <a:ln cap="sq">
              <a:noFill/>
              <a:prstDash val="solid"/>
              <a:miter/>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Freeform 5" id="5"/>
          <p:cNvSpPr/>
          <p:nvPr/>
        </p:nvSpPr>
        <p:spPr>
          <a:xfrm flipH="false" flipV="false" rot="0">
            <a:off x="708907" y="5143500"/>
            <a:ext cx="6044022" cy="3399762"/>
          </a:xfrm>
          <a:custGeom>
            <a:avLst/>
            <a:gdLst/>
            <a:ahLst/>
            <a:cxnLst/>
            <a:rect r="r" b="b" t="t" l="l"/>
            <a:pathLst>
              <a:path h="3399762" w="6044022">
                <a:moveTo>
                  <a:pt x="0" y="0"/>
                </a:moveTo>
                <a:lnTo>
                  <a:pt x="6044022" y="0"/>
                </a:lnTo>
                <a:lnTo>
                  <a:pt x="6044022" y="3399762"/>
                </a:lnTo>
                <a:lnTo>
                  <a:pt x="0" y="3399762"/>
                </a:lnTo>
                <a:lnTo>
                  <a:pt x="0" y="0"/>
                </a:lnTo>
                <a:close/>
              </a:path>
            </a:pathLst>
          </a:custGeom>
          <a:blipFill>
            <a:blip r:embed="rId4"/>
            <a:stretch>
              <a:fillRect l="0" t="0" r="0" b="0"/>
            </a:stretch>
          </a:blipFill>
        </p:spPr>
      </p:sp>
      <p:sp>
        <p:nvSpPr>
          <p:cNvPr name="Freeform 6" id="6"/>
          <p:cNvSpPr/>
          <p:nvPr/>
        </p:nvSpPr>
        <p:spPr>
          <a:xfrm flipH="false" flipV="false" rot="0">
            <a:off x="10483974" y="5072092"/>
            <a:ext cx="6170970" cy="3471171"/>
          </a:xfrm>
          <a:custGeom>
            <a:avLst/>
            <a:gdLst/>
            <a:ahLst/>
            <a:cxnLst/>
            <a:rect r="r" b="b" t="t" l="l"/>
            <a:pathLst>
              <a:path h="3471171" w="6170970">
                <a:moveTo>
                  <a:pt x="0" y="0"/>
                </a:moveTo>
                <a:lnTo>
                  <a:pt x="6170970" y="0"/>
                </a:lnTo>
                <a:lnTo>
                  <a:pt x="6170970" y="3471170"/>
                </a:lnTo>
                <a:lnTo>
                  <a:pt x="0" y="3471170"/>
                </a:lnTo>
                <a:lnTo>
                  <a:pt x="0" y="0"/>
                </a:lnTo>
                <a:close/>
              </a:path>
            </a:pathLst>
          </a:custGeom>
          <a:blipFill>
            <a:blip r:embed="rId5"/>
            <a:stretch>
              <a:fillRect l="0" t="0" r="0" b="0"/>
            </a:stretch>
          </a:blipFill>
        </p:spPr>
      </p:sp>
      <p:sp>
        <p:nvSpPr>
          <p:cNvPr name="TextBox 7" id="7"/>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8" id="8"/>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TextBox 9" id="9"/>
          <p:cNvSpPr txBox="true"/>
          <p:nvPr/>
        </p:nvSpPr>
        <p:spPr>
          <a:xfrm rot="0">
            <a:off x="708907" y="1892418"/>
            <a:ext cx="8966895"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Cell Culture Description</a:t>
            </a:r>
          </a:p>
        </p:txBody>
      </p:sp>
      <p:sp>
        <p:nvSpPr>
          <p:cNvPr name="TextBox 10" id="10"/>
          <p:cNvSpPr txBox="true"/>
          <p:nvPr/>
        </p:nvSpPr>
        <p:spPr>
          <a:xfrm rot="0">
            <a:off x="708907" y="3198347"/>
            <a:ext cx="15103031" cy="1758950"/>
          </a:xfrm>
          <a:prstGeom prst="rect">
            <a:avLst/>
          </a:prstGeom>
        </p:spPr>
        <p:txBody>
          <a:bodyPr anchor="t" rtlCol="false" tIns="0" lIns="0" bIns="0" rIns="0">
            <a:spAutoFit/>
          </a:bodyPr>
          <a:lstStyle/>
          <a:p>
            <a:pPr algn="l">
              <a:lnSpc>
                <a:spcPts val="2800"/>
              </a:lnSpc>
              <a:spcBef>
                <a:spcPct val="0"/>
              </a:spcBef>
            </a:pPr>
            <a:r>
              <a:rPr lang="en-US" sz="2000" spc="-80">
                <a:solidFill>
                  <a:srgbClr val="12100E"/>
                </a:solidFill>
                <a:latin typeface="Canva Sans"/>
                <a:ea typeface="Canva Sans"/>
                <a:cs typeface="Canva Sans"/>
                <a:sym typeface="Canva Sans"/>
              </a:rPr>
              <a:t>MIXED POPULATIONS OF ADIPOCYTES AND STEM CELLS (BONE-MARROW DERIVED, CAPABLE OF BECOMING EITHER BONE CELLS OR ADIPOCYTES). </a:t>
            </a:r>
          </a:p>
          <a:p>
            <a:pPr algn="l">
              <a:lnSpc>
                <a:spcPts val="2800"/>
              </a:lnSpc>
              <a:spcBef>
                <a:spcPct val="0"/>
              </a:spcBef>
            </a:pPr>
          </a:p>
          <a:p>
            <a:pPr algn="l">
              <a:lnSpc>
                <a:spcPts val="2800"/>
              </a:lnSpc>
              <a:spcBef>
                <a:spcPct val="0"/>
              </a:spcBef>
            </a:pPr>
            <a:r>
              <a:rPr lang="en-US" sz="2000" spc="-80">
                <a:solidFill>
                  <a:srgbClr val="12100E"/>
                </a:solidFill>
                <a:latin typeface="Canva Sans"/>
                <a:ea typeface="Canva Sans"/>
                <a:cs typeface="Canva Sans"/>
                <a:sym typeface="Canva Sans"/>
              </a:rPr>
              <a:t>APPROXIMATELY 90% BECOME FAT CELLS, 10% REMAIN STEM CELLS BUT ONLY AN EXTERNALLY REPORTED ESTIMATE</a:t>
            </a:r>
          </a:p>
          <a:p>
            <a:pPr algn="l">
              <a:lnSpc>
                <a:spcPts val="2800"/>
              </a:lnSpc>
              <a:spcBef>
                <a:spcPct val="0"/>
              </a:spcBef>
            </a:pPr>
          </a:p>
        </p:txBody>
      </p:sp>
      <p:sp>
        <p:nvSpPr>
          <p:cNvPr name="TextBox 11" id="11"/>
          <p:cNvSpPr txBox="true"/>
          <p:nvPr/>
        </p:nvSpPr>
        <p:spPr>
          <a:xfrm rot="0">
            <a:off x="2037441" y="8695662"/>
            <a:ext cx="2392635" cy="356233"/>
          </a:xfrm>
          <a:prstGeom prst="rect">
            <a:avLst/>
          </a:prstGeom>
        </p:spPr>
        <p:txBody>
          <a:bodyPr anchor="t" rtlCol="false" tIns="0" lIns="0" bIns="0" rIns="0">
            <a:spAutoFit/>
          </a:bodyPr>
          <a:lstStyle/>
          <a:p>
            <a:pPr algn="ctr">
              <a:lnSpc>
                <a:spcPts val="2940"/>
              </a:lnSpc>
            </a:pPr>
            <a:r>
              <a:rPr lang="en-US" sz="2100" b="true">
                <a:solidFill>
                  <a:srgbClr val="12100E"/>
                </a:solidFill>
                <a:latin typeface="Canva Sans Bold"/>
                <a:ea typeface="Canva Sans Bold"/>
                <a:cs typeface="Canva Sans Bold"/>
                <a:sym typeface="Canva Sans Bold"/>
              </a:rPr>
              <a:t>Training Human bf</a:t>
            </a:r>
          </a:p>
        </p:txBody>
      </p:sp>
      <p:sp>
        <p:nvSpPr>
          <p:cNvPr name="TextBox 12" id="12"/>
          <p:cNvSpPr txBox="true"/>
          <p:nvPr/>
        </p:nvSpPr>
        <p:spPr>
          <a:xfrm rot="0">
            <a:off x="12726099" y="8695662"/>
            <a:ext cx="2440335" cy="356233"/>
          </a:xfrm>
          <a:prstGeom prst="rect">
            <a:avLst/>
          </a:prstGeom>
        </p:spPr>
        <p:txBody>
          <a:bodyPr anchor="t" rtlCol="false" tIns="0" lIns="0" bIns="0" rIns="0">
            <a:spAutoFit/>
          </a:bodyPr>
          <a:lstStyle/>
          <a:p>
            <a:pPr algn="ctr">
              <a:lnSpc>
                <a:spcPts val="2940"/>
              </a:lnSpc>
            </a:pPr>
            <a:r>
              <a:rPr lang="en-US" sz="2100" b="true">
                <a:solidFill>
                  <a:srgbClr val="12100E"/>
                </a:solidFill>
                <a:latin typeface="Canva Sans Bold"/>
                <a:ea typeface="Canva Sans Bold"/>
                <a:cs typeface="Canva Sans Bold"/>
                <a:sym typeface="Canva Sans Bold"/>
              </a:rPr>
              <a:t>Training Porcine bf</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867874" y="1892418"/>
            <a:ext cx="9800704"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Requirements (from IMES)</a:t>
            </a:r>
          </a:p>
        </p:txBody>
      </p:sp>
      <p:sp>
        <p:nvSpPr>
          <p:cNvPr name="TextBox 8" id="8"/>
          <p:cNvSpPr txBox="true"/>
          <p:nvPr/>
        </p:nvSpPr>
        <p:spPr>
          <a:xfrm rot="0">
            <a:off x="858349" y="3301048"/>
            <a:ext cx="17420126" cy="4389755"/>
          </a:xfrm>
          <a:prstGeom prst="rect">
            <a:avLst/>
          </a:prstGeom>
        </p:spPr>
        <p:txBody>
          <a:bodyPr anchor="t" rtlCol="false" tIns="0" lIns="0" bIns="0" rIns="0">
            <a:spAutoFit/>
          </a:bodyPr>
          <a:lstStyle/>
          <a:p>
            <a:pPr algn="l" marL="496571" indent="-248285" lvl="1">
              <a:lnSpc>
                <a:spcPts val="3220"/>
              </a:lnSpc>
              <a:spcBef>
                <a:spcPct val="0"/>
              </a:spcBef>
              <a:buFont typeface="Arial"/>
              <a:buChar char="•"/>
            </a:pPr>
            <a:r>
              <a:rPr lang="en-US" sz="2300" spc="-92">
                <a:solidFill>
                  <a:srgbClr val="12100E"/>
                </a:solidFill>
                <a:latin typeface="Canva Sans"/>
                <a:ea typeface="Canva Sans"/>
                <a:cs typeface="Canva Sans"/>
                <a:sym typeface="Canva Sans"/>
              </a:rPr>
              <a:t>RELIABLY SEGMENT INDIVID</a:t>
            </a:r>
            <a:r>
              <a:rPr lang="en-US" sz="2300" spc="-92">
                <a:solidFill>
                  <a:srgbClr val="12100E"/>
                </a:solidFill>
                <a:latin typeface="Canva Sans"/>
                <a:ea typeface="Canva Sans"/>
                <a:cs typeface="Canva Sans"/>
                <a:sym typeface="Canva Sans"/>
              </a:rPr>
              <a:t>UAL CELLS THAT ARE SUFFICIENTLY DISTINGUISHABLE FROM ONE ANOTHER.</a:t>
            </a:r>
          </a:p>
          <a:p>
            <a:pPr algn="l">
              <a:lnSpc>
                <a:spcPts val="3220"/>
              </a:lnSpc>
              <a:spcBef>
                <a:spcPct val="0"/>
              </a:spcBef>
            </a:pPr>
          </a:p>
          <a:p>
            <a:pPr algn="l" marL="496571" indent="-248285" lvl="1">
              <a:lnSpc>
                <a:spcPts val="3220"/>
              </a:lnSpc>
              <a:spcBef>
                <a:spcPct val="0"/>
              </a:spcBef>
              <a:buFont typeface="Arial"/>
              <a:buChar char="•"/>
            </a:pPr>
            <a:r>
              <a:rPr lang="en-US" sz="2300" spc="-92">
                <a:solidFill>
                  <a:srgbClr val="12100E"/>
                </a:solidFill>
                <a:latin typeface="Canva Sans"/>
                <a:ea typeface="Canva Sans"/>
                <a:cs typeface="Canva Sans"/>
                <a:sym typeface="Canva Sans"/>
              </a:rPr>
              <a:t>WITHIN LARGER CLUSTERS AND CONNECTED CELL AREAS, IDENTIFY INDIVIDUAL CELLS OR STRUCTURES AS FAR AS POSSIBLE, SO AT LEAST AN APPROXIMATE CELL COUNT CAN BE OBTAINED, </a:t>
            </a:r>
            <a:r>
              <a:rPr lang="en-US" b="true" sz="2300" spc="-92">
                <a:solidFill>
                  <a:srgbClr val="12100E"/>
                </a:solidFill>
                <a:latin typeface="Canva Sans Bold"/>
                <a:ea typeface="Canva Sans Bold"/>
                <a:cs typeface="Canva Sans Bold"/>
                <a:sym typeface="Canva Sans Bold"/>
              </a:rPr>
              <a:t>BUT PARTIAL ANNOTAION WITH BETTER CONFIDENCE IS APPRECIATED (BY IMES)</a:t>
            </a:r>
            <a:r>
              <a:rPr lang="en-US" sz="2300" spc="-92">
                <a:solidFill>
                  <a:srgbClr val="12100E"/>
                </a:solidFill>
                <a:latin typeface="Canva Sans"/>
                <a:ea typeface="Canva Sans"/>
                <a:cs typeface="Canva Sans"/>
                <a:sym typeface="Canva Sans"/>
              </a:rPr>
              <a:t>.</a:t>
            </a:r>
          </a:p>
          <a:p>
            <a:pPr algn="l">
              <a:lnSpc>
                <a:spcPts val="3220"/>
              </a:lnSpc>
              <a:spcBef>
                <a:spcPct val="0"/>
              </a:spcBef>
            </a:pPr>
          </a:p>
          <a:p>
            <a:pPr algn="l" marL="496571" indent="-248285" lvl="1">
              <a:lnSpc>
                <a:spcPts val="3220"/>
              </a:lnSpc>
              <a:spcBef>
                <a:spcPct val="0"/>
              </a:spcBef>
              <a:buFont typeface="Arial"/>
              <a:buChar char="•"/>
            </a:pPr>
            <a:r>
              <a:rPr lang="en-US" sz="2300" spc="-92">
                <a:solidFill>
                  <a:srgbClr val="12100E"/>
                </a:solidFill>
                <a:latin typeface="Canva Sans"/>
                <a:ea typeface="Canva Sans"/>
                <a:cs typeface="Canva Sans"/>
                <a:sym typeface="Canva Sans"/>
              </a:rPr>
              <a:t>DISTINGUISH CELL STATE: </a:t>
            </a:r>
            <a:r>
              <a:rPr lang="en-US" b="true" sz="2300" spc="-92">
                <a:solidFill>
                  <a:srgbClr val="12100E"/>
                </a:solidFill>
                <a:latin typeface="Canva Sans Bold"/>
                <a:ea typeface="Canva Sans Bold"/>
                <a:cs typeface="Canva Sans Bold"/>
                <a:sym typeface="Canva Sans Bold"/>
              </a:rPr>
              <a:t>ADIPOCYTE VS. STEM CELL, </a:t>
            </a:r>
            <a:r>
              <a:rPr lang="en-US" sz="2300" spc="-92">
                <a:solidFill>
                  <a:srgbClr val="12100E"/>
                </a:solidFill>
                <a:latin typeface="Canva Sans"/>
                <a:ea typeface="Canva Sans"/>
                <a:cs typeface="Canva Sans"/>
                <a:sym typeface="Canva Sans"/>
              </a:rPr>
              <a:t>NOT JUST LOCATE AND COUNT ONE FIXED CELL TYPE. </a:t>
            </a:r>
          </a:p>
          <a:p>
            <a:pPr algn="l">
              <a:lnSpc>
                <a:spcPts val="3220"/>
              </a:lnSpc>
              <a:spcBef>
                <a:spcPct val="0"/>
              </a:spcBef>
            </a:pPr>
          </a:p>
          <a:p>
            <a:pPr algn="l">
              <a:lnSpc>
                <a:spcPts val="3220"/>
              </a:lnSpc>
              <a:spcBef>
                <a:spcPct val="0"/>
              </a:spcBef>
            </a:pPr>
            <a:r>
              <a:rPr lang="en-US" b="true" sz="2300" spc="-92">
                <a:solidFill>
                  <a:srgbClr val="12100E"/>
                </a:solidFill>
                <a:latin typeface="Canva Sans Bold"/>
                <a:ea typeface="Canva Sans Bold"/>
                <a:cs typeface="Canva Sans Bold"/>
                <a:sym typeface="Canva Sans Bold"/>
              </a:rPr>
              <a:t> PROBLEM:</a:t>
            </a:r>
          </a:p>
          <a:p>
            <a:pPr algn="l">
              <a:lnSpc>
                <a:spcPts val="3220"/>
              </a:lnSpc>
              <a:spcBef>
                <a:spcPct val="0"/>
              </a:spcBef>
            </a:pPr>
            <a:r>
              <a:rPr lang="en-US" sz="2300" spc="-92">
                <a:solidFill>
                  <a:srgbClr val="12100E"/>
                </a:solidFill>
                <a:latin typeface="Canva Sans"/>
                <a:ea typeface="Canva Sans"/>
                <a:cs typeface="Canva Sans"/>
                <a:sym typeface="Canva Sans"/>
              </a:rPr>
              <a:t>NO TYPE LABELS EXIST, SO THIS MUST BE DONE VISUALLY.</a:t>
            </a:r>
          </a:p>
          <a:p>
            <a:pPr algn="l">
              <a:lnSpc>
                <a:spcPts val="322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0" y="1892418"/>
            <a:ext cx="18288000"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Requirements (from IMES) - PRIORITY Confirmed</a:t>
            </a:r>
          </a:p>
        </p:txBody>
      </p:sp>
      <p:sp>
        <p:nvSpPr>
          <p:cNvPr name="TextBox 8" id="8"/>
          <p:cNvSpPr txBox="true"/>
          <p:nvPr/>
        </p:nvSpPr>
        <p:spPr>
          <a:xfrm rot="0">
            <a:off x="867874" y="3301048"/>
            <a:ext cx="14621470" cy="3189605"/>
          </a:xfrm>
          <a:prstGeom prst="rect">
            <a:avLst/>
          </a:prstGeom>
        </p:spPr>
        <p:txBody>
          <a:bodyPr anchor="t" rtlCol="false" tIns="0" lIns="0" bIns="0" rIns="0">
            <a:spAutoFit/>
          </a:bodyPr>
          <a:lstStyle/>
          <a:p>
            <a:pPr algn="l" marL="496571" indent="-248285" lvl="1">
              <a:lnSpc>
                <a:spcPts val="3220"/>
              </a:lnSpc>
              <a:spcBef>
                <a:spcPct val="0"/>
              </a:spcBef>
              <a:buFont typeface="Arial"/>
              <a:buChar char="•"/>
            </a:pPr>
            <a:r>
              <a:rPr lang="en-US" sz="2300" spc="-92">
                <a:solidFill>
                  <a:srgbClr val="12100E"/>
                </a:solidFill>
                <a:latin typeface="Canva Sans"/>
                <a:ea typeface="Canva Sans"/>
                <a:cs typeface="Canva Sans"/>
                <a:sym typeface="Canva Sans"/>
              </a:rPr>
              <a:t>PORCINE BRIGHTFIELD IS THE MAIN GOAL</a:t>
            </a:r>
          </a:p>
          <a:p>
            <a:pPr algn="l">
              <a:lnSpc>
                <a:spcPts val="3220"/>
              </a:lnSpc>
              <a:spcBef>
                <a:spcPct val="0"/>
              </a:spcBef>
            </a:pPr>
          </a:p>
          <a:p>
            <a:pPr algn="l" marL="496571" indent="-248285" lvl="1">
              <a:lnSpc>
                <a:spcPts val="3220"/>
              </a:lnSpc>
              <a:spcBef>
                <a:spcPct val="0"/>
              </a:spcBef>
              <a:buFont typeface="Arial"/>
              <a:buChar char="•"/>
            </a:pPr>
            <a:r>
              <a:rPr lang="en-US" sz="2300" spc="-92">
                <a:solidFill>
                  <a:srgbClr val="12100E"/>
                </a:solidFill>
                <a:latin typeface="Canva Sans"/>
                <a:ea typeface="Canva Sans"/>
                <a:cs typeface="Canva Sans"/>
                <a:sym typeface="Canva Sans"/>
              </a:rPr>
              <a:t>HUMAN ADIPOCYTE ANNOTATIONS WERE NOT FULLY TRUSTED EVEN BY IMES'S OWN BIOLOGISTS</a:t>
            </a:r>
          </a:p>
          <a:p>
            <a:pPr algn="l">
              <a:lnSpc>
                <a:spcPts val="3220"/>
              </a:lnSpc>
              <a:spcBef>
                <a:spcPct val="0"/>
              </a:spcBef>
            </a:pPr>
          </a:p>
          <a:p>
            <a:pPr algn="l" marL="496571" indent="-248285" lvl="1">
              <a:lnSpc>
                <a:spcPts val="3220"/>
              </a:lnSpc>
              <a:spcBef>
                <a:spcPct val="0"/>
              </a:spcBef>
              <a:buFont typeface="Arial"/>
              <a:buChar char="•"/>
            </a:pPr>
            <a:r>
              <a:rPr lang="en-US" sz="2300" spc="-92">
                <a:solidFill>
                  <a:srgbClr val="12100E"/>
                </a:solidFill>
                <a:latin typeface="Canva Sans"/>
                <a:ea typeface="Canva Sans"/>
                <a:cs typeface="Canva Sans"/>
                <a:sym typeface="Canva Sans"/>
              </a:rPr>
              <a:t>HUMAN SEGMENTATION IS LOWER </a:t>
            </a:r>
            <a:r>
              <a:rPr lang="en-US" sz="2300" spc="-92">
                <a:solidFill>
                  <a:srgbClr val="12100E"/>
                </a:solidFill>
                <a:latin typeface="Canva Sans"/>
                <a:ea typeface="Canva Sans"/>
                <a:cs typeface="Canva Sans"/>
                <a:sym typeface="Canva Sans"/>
              </a:rPr>
              <a:t>P</a:t>
            </a:r>
            <a:r>
              <a:rPr lang="en-US" sz="2300" spc="-92">
                <a:solidFill>
                  <a:srgbClr val="12100E"/>
                </a:solidFill>
                <a:latin typeface="Canva Sans"/>
                <a:ea typeface="Canva Sans"/>
                <a:cs typeface="Canva Sans"/>
                <a:sym typeface="Canva Sans"/>
              </a:rPr>
              <a:t>RI</a:t>
            </a:r>
            <a:r>
              <a:rPr lang="en-US" sz="2300" spc="-92">
                <a:solidFill>
                  <a:srgbClr val="12100E"/>
                </a:solidFill>
                <a:latin typeface="Canva Sans"/>
                <a:ea typeface="Canva Sans"/>
                <a:cs typeface="Canva Sans"/>
                <a:sym typeface="Canva Sans"/>
              </a:rPr>
              <a:t>O</a:t>
            </a:r>
            <a:r>
              <a:rPr lang="en-US" sz="2300" spc="-92">
                <a:solidFill>
                  <a:srgbClr val="12100E"/>
                </a:solidFill>
                <a:latin typeface="Canva Sans"/>
                <a:ea typeface="Canva Sans"/>
                <a:cs typeface="Canva Sans"/>
                <a:sym typeface="Canva Sans"/>
              </a:rPr>
              <a:t>RIT</a:t>
            </a:r>
            <a:r>
              <a:rPr lang="en-US" sz="2300" spc="-92">
                <a:solidFill>
                  <a:srgbClr val="12100E"/>
                </a:solidFill>
                <a:latin typeface="Canva Sans"/>
                <a:ea typeface="Canva Sans"/>
                <a:cs typeface="Canva Sans"/>
                <a:sym typeface="Canva Sans"/>
              </a:rPr>
              <a:t>Y</a:t>
            </a:r>
            <a:r>
              <a:rPr lang="en-US" sz="2300" spc="-92">
                <a:solidFill>
                  <a:srgbClr val="12100E"/>
                </a:solidFill>
                <a:latin typeface="Canva Sans"/>
                <a:ea typeface="Canva Sans"/>
                <a:cs typeface="Canva Sans"/>
                <a:sym typeface="Canva Sans"/>
              </a:rPr>
              <a:t>. </a:t>
            </a:r>
          </a:p>
          <a:p>
            <a:pPr algn="l">
              <a:lnSpc>
                <a:spcPts val="3220"/>
              </a:lnSpc>
              <a:spcBef>
                <a:spcPct val="0"/>
              </a:spcBef>
            </a:pPr>
          </a:p>
          <a:p>
            <a:pPr algn="l" marL="496571" indent="-248285" lvl="1">
              <a:lnSpc>
                <a:spcPts val="3220"/>
              </a:lnSpc>
              <a:spcBef>
                <a:spcPct val="0"/>
              </a:spcBef>
              <a:buFont typeface="Arial"/>
              <a:buChar char="•"/>
            </a:pPr>
            <a:r>
              <a:rPr lang="en-US" sz="2300" spc="-92">
                <a:solidFill>
                  <a:srgbClr val="12100E"/>
                </a:solidFill>
                <a:latin typeface="Canva Sans"/>
                <a:ea typeface="Canva Sans"/>
                <a:cs typeface="Canva Sans"/>
                <a:sym typeface="Canva Sans"/>
              </a:rPr>
              <a:t>DIFFERENTIA</a:t>
            </a:r>
            <a:r>
              <a:rPr lang="en-US" sz="2300" spc="-92">
                <a:solidFill>
                  <a:srgbClr val="12100E"/>
                </a:solidFill>
                <a:latin typeface="Canva Sans"/>
                <a:ea typeface="Canva Sans"/>
                <a:cs typeface="Canva Sans"/>
                <a:sym typeface="Canva Sans"/>
              </a:rPr>
              <a:t>TE</a:t>
            </a:r>
            <a:r>
              <a:rPr lang="en-US" sz="2300" spc="-92">
                <a:solidFill>
                  <a:srgbClr val="12100E"/>
                </a:solidFill>
                <a:latin typeface="Canva Sans"/>
                <a:ea typeface="Canva Sans"/>
                <a:cs typeface="Canva Sans"/>
                <a:sym typeface="Canva Sans"/>
              </a:rPr>
              <a:t>D</a:t>
            </a:r>
            <a:r>
              <a:rPr lang="en-US" sz="2300" spc="-92">
                <a:solidFill>
                  <a:srgbClr val="12100E"/>
                </a:solidFill>
                <a:latin typeface="Canva Sans"/>
                <a:ea typeface="Canva Sans"/>
                <a:cs typeface="Canva Sans"/>
                <a:sym typeface="Canva Sans"/>
              </a:rPr>
              <a:t> VS. </a:t>
            </a:r>
            <a:r>
              <a:rPr lang="en-US" sz="2300" spc="-92">
                <a:solidFill>
                  <a:srgbClr val="12100E"/>
                </a:solidFill>
                <a:latin typeface="Canva Sans"/>
                <a:ea typeface="Canva Sans"/>
                <a:cs typeface="Canva Sans"/>
                <a:sym typeface="Canva Sans"/>
              </a:rPr>
              <a:t>UNDIFF</a:t>
            </a:r>
            <a:r>
              <a:rPr lang="en-US" sz="2300" spc="-92">
                <a:solidFill>
                  <a:srgbClr val="12100E"/>
                </a:solidFill>
                <a:latin typeface="Canva Sans"/>
                <a:ea typeface="Canva Sans"/>
                <a:cs typeface="Canva Sans"/>
                <a:sym typeface="Canva Sans"/>
              </a:rPr>
              <a:t>E</a:t>
            </a:r>
            <a:r>
              <a:rPr lang="en-US" sz="2300" spc="-92">
                <a:solidFill>
                  <a:srgbClr val="12100E"/>
                </a:solidFill>
                <a:latin typeface="Canva Sans"/>
                <a:ea typeface="Canva Sans"/>
                <a:cs typeface="Canva Sans"/>
                <a:sym typeface="Canva Sans"/>
              </a:rPr>
              <a:t>R</a:t>
            </a:r>
            <a:r>
              <a:rPr lang="en-US" sz="2300" spc="-92">
                <a:solidFill>
                  <a:srgbClr val="12100E"/>
                </a:solidFill>
                <a:latin typeface="Canva Sans"/>
                <a:ea typeface="Canva Sans"/>
                <a:cs typeface="Canva Sans"/>
                <a:sym typeface="Canva Sans"/>
              </a:rPr>
              <a:t>E</a:t>
            </a:r>
            <a:r>
              <a:rPr lang="en-US" sz="2300" spc="-92">
                <a:solidFill>
                  <a:srgbClr val="12100E"/>
                </a:solidFill>
                <a:latin typeface="Canva Sans"/>
                <a:ea typeface="Canva Sans"/>
                <a:cs typeface="Canva Sans"/>
                <a:sym typeface="Canva Sans"/>
              </a:rPr>
              <a:t>NTIATED DISTINCTION: STRETCH GOAL, "IF TIME PE</a:t>
            </a:r>
            <a:r>
              <a:rPr lang="en-US" sz="2300" spc="-92">
                <a:solidFill>
                  <a:srgbClr val="12100E"/>
                </a:solidFill>
                <a:latin typeface="Canva Sans"/>
                <a:ea typeface="Canva Sans"/>
                <a:cs typeface="Canva Sans"/>
                <a:sym typeface="Canva Sans"/>
              </a:rPr>
              <a:t>RM</a:t>
            </a:r>
            <a:r>
              <a:rPr lang="en-US" sz="2300" spc="-92">
                <a:solidFill>
                  <a:srgbClr val="12100E"/>
                </a:solidFill>
                <a:latin typeface="Canva Sans"/>
                <a:ea typeface="Canva Sans"/>
                <a:cs typeface="Canva Sans"/>
                <a:sym typeface="Canva Sans"/>
              </a:rPr>
              <a:t>ITS," NOT REQUIRED.</a:t>
            </a:r>
          </a:p>
          <a:p>
            <a:pPr algn="l">
              <a:lnSpc>
                <a:spcPts val="322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p:cNvSpPr/>
          <p:nvPr/>
        </p:nvSpPr>
        <p:spPr>
          <a:xfrm flipH="false" flipV="false" rot="0">
            <a:off x="752151" y="152090"/>
            <a:ext cx="16793223" cy="9982820"/>
          </a:xfrm>
          <a:custGeom>
            <a:avLst/>
            <a:gdLst/>
            <a:ahLst/>
            <a:cxnLst/>
            <a:rect r="r" b="b" t="t" l="l"/>
            <a:pathLst>
              <a:path h="9982820" w="16793223">
                <a:moveTo>
                  <a:pt x="0" y="0"/>
                </a:moveTo>
                <a:lnTo>
                  <a:pt x="16793223" y="0"/>
                </a:lnTo>
                <a:lnTo>
                  <a:pt x="16793223" y="9982820"/>
                </a:lnTo>
                <a:lnTo>
                  <a:pt x="0" y="9982820"/>
                </a:lnTo>
                <a:lnTo>
                  <a:pt x="0" y="0"/>
                </a:lnTo>
                <a:close/>
              </a:path>
            </a:pathLst>
          </a:custGeom>
          <a:blipFill>
            <a:blip r:embed="rId2"/>
            <a:stretch>
              <a:fillRect l="-196" t="-1303" r="0" b="-1303"/>
            </a:stretch>
          </a:blipFill>
        </p:spPr>
      </p:sp>
      <p:sp>
        <p:nvSpPr>
          <p:cNvPr name="TextBox 3" id="3"/>
          <p:cNvSpPr txBox="true"/>
          <p:nvPr/>
        </p:nvSpPr>
        <p:spPr>
          <a:xfrm rot="0">
            <a:off x="9139238" y="4970939"/>
            <a:ext cx="9525" cy="307022"/>
          </a:xfrm>
          <a:prstGeom prst="rect">
            <a:avLst/>
          </a:prstGeom>
        </p:spPr>
        <p:txBody>
          <a:bodyPr anchor="t" rtlCol="false" tIns="0" lIns="0" bIns="0" rIns="0">
            <a:spAutoFit/>
          </a:bodyPr>
          <a:lstStyle/>
          <a:p>
            <a:pPr algn="ctr">
              <a:lnSpc>
                <a:spcPts val="2502"/>
              </a:lnSpc>
              <a:spcBef>
                <a:spcPct val="0"/>
              </a:spcBef>
            </a:pPr>
          </a:p>
        </p:txBody>
      </p:sp>
      <p:grpSp>
        <p:nvGrpSpPr>
          <p:cNvPr name="Group 4" id="4"/>
          <p:cNvGrpSpPr/>
          <p:nvPr/>
        </p:nvGrpSpPr>
        <p:grpSpPr>
          <a:xfrm rot="0">
            <a:off x="5516880" y="2297430"/>
            <a:ext cx="8152447" cy="521018"/>
            <a:chOff x="0" y="0"/>
            <a:chExt cx="10869930" cy="694690"/>
          </a:xfrm>
        </p:grpSpPr>
        <p:sp>
          <p:nvSpPr>
            <p:cNvPr name="Freeform 5" id="5"/>
            <p:cNvSpPr/>
            <p:nvPr/>
          </p:nvSpPr>
          <p:spPr>
            <a:xfrm flipH="false" flipV="false" rot="0">
              <a:off x="564" y="50800"/>
              <a:ext cx="10866571" cy="600804"/>
            </a:xfrm>
            <a:custGeom>
              <a:avLst/>
              <a:gdLst/>
              <a:ahLst/>
              <a:cxnLst/>
              <a:rect r="r" b="b" t="t" l="l"/>
              <a:pathLst>
                <a:path h="600804" w="10866571">
                  <a:moveTo>
                    <a:pt x="50236" y="0"/>
                  </a:moveTo>
                  <a:cubicBezTo>
                    <a:pt x="4228536" y="7620"/>
                    <a:pt x="4577786" y="17780"/>
                    <a:pt x="4937196" y="35560"/>
                  </a:cubicBezTo>
                  <a:cubicBezTo>
                    <a:pt x="5219136" y="49530"/>
                    <a:pt x="5403286" y="77470"/>
                    <a:pt x="5689036" y="87630"/>
                  </a:cubicBezTo>
                  <a:cubicBezTo>
                    <a:pt x="6066226" y="99060"/>
                    <a:pt x="6625026" y="72390"/>
                    <a:pt x="7006026" y="83820"/>
                  </a:cubicBezTo>
                  <a:cubicBezTo>
                    <a:pt x="7298126" y="92710"/>
                    <a:pt x="7506406" y="125730"/>
                    <a:pt x="7779456" y="134620"/>
                  </a:cubicBezTo>
                  <a:cubicBezTo>
                    <a:pt x="8085526" y="144780"/>
                    <a:pt x="8457636" y="152400"/>
                    <a:pt x="8756086" y="134620"/>
                  </a:cubicBezTo>
                  <a:cubicBezTo>
                    <a:pt x="9011356" y="119380"/>
                    <a:pt x="9209476" y="66040"/>
                    <a:pt x="9462206" y="49530"/>
                  </a:cubicBezTo>
                  <a:cubicBezTo>
                    <a:pt x="9754306" y="31750"/>
                    <a:pt x="10187376" y="20320"/>
                    <a:pt x="10409626" y="43180"/>
                  </a:cubicBezTo>
                  <a:cubicBezTo>
                    <a:pt x="10531546" y="55880"/>
                    <a:pt x="10615366" y="101600"/>
                    <a:pt x="10690296" y="102870"/>
                  </a:cubicBezTo>
                  <a:cubicBezTo>
                    <a:pt x="10741096" y="105410"/>
                    <a:pt x="10790626" y="59690"/>
                    <a:pt x="10818566" y="83820"/>
                  </a:cubicBezTo>
                  <a:cubicBezTo>
                    <a:pt x="10870636" y="128270"/>
                    <a:pt x="10893496" y="472440"/>
                    <a:pt x="10818566" y="541020"/>
                  </a:cubicBezTo>
                  <a:cubicBezTo>
                    <a:pt x="10744906" y="608330"/>
                    <a:pt x="10541706" y="508000"/>
                    <a:pt x="10377876" y="500380"/>
                  </a:cubicBezTo>
                  <a:cubicBezTo>
                    <a:pt x="10169596" y="490220"/>
                    <a:pt x="9927026" y="488950"/>
                    <a:pt x="9667946" y="500380"/>
                  </a:cubicBezTo>
                  <a:cubicBezTo>
                    <a:pt x="9354256" y="514350"/>
                    <a:pt x="8970716" y="576580"/>
                    <a:pt x="8629086" y="591820"/>
                  </a:cubicBezTo>
                  <a:cubicBezTo>
                    <a:pt x="8296346" y="605790"/>
                    <a:pt x="7919156" y="601980"/>
                    <a:pt x="7643566" y="590550"/>
                  </a:cubicBezTo>
                  <a:cubicBezTo>
                    <a:pt x="7441636" y="582930"/>
                    <a:pt x="7341306" y="557530"/>
                    <a:pt x="7122866" y="548640"/>
                  </a:cubicBezTo>
                  <a:cubicBezTo>
                    <a:pt x="6754566" y="532130"/>
                    <a:pt x="6044636" y="554990"/>
                    <a:pt x="5638236" y="539750"/>
                  </a:cubicBezTo>
                  <a:cubicBezTo>
                    <a:pt x="5353756" y="529590"/>
                    <a:pt x="5186116" y="505460"/>
                    <a:pt x="4914336" y="492760"/>
                  </a:cubicBezTo>
                  <a:cubicBezTo>
                    <a:pt x="4563816" y="476250"/>
                    <a:pt x="4219646" y="464820"/>
                    <a:pt x="3710376" y="457200"/>
                  </a:cubicBezTo>
                  <a:cubicBezTo>
                    <a:pt x="2820106" y="444500"/>
                    <a:pt x="370276" y="781050"/>
                    <a:pt x="50236" y="461010"/>
                  </a:cubicBezTo>
                  <a:cubicBezTo>
                    <a:pt x="-62794" y="347980"/>
                    <a:pt x="50236" y="0"/>
                    <a:pt x="50236" y="0"/>
                  </a:cubicBezTo>
                </a:path>
              </a:pathLst>
            </a:custGeom>
            <a:solidFill>
              <a:srgbClr val="FFF234">
                <a:alpha val="24706"/>
              </a:srgbClr>
            </a:solidFill>
            <a:ln cap="sq">
              <a:noFill/>
              <a:prstDash val="solid"/>
              <a:miter/>
            </a:ln>
          </p:spPr>
        </p:sp>
      </p:grpSp>
      <p:grpSp>
        <p:nvGrpSpPr>
          <p:cNvPr name="Group 6" id="6"/>
          <p:cNvGrpSpPr/>
          <p:nvPr/>
        </p:nvGrpSpPr>
        <p:grpSpPr>
          <a:xfrm rot="0">
            <a:off x="2001203" y="3705225"/>
            <a:ext cx="2213610" cy="443865"/>
            <a:chOff x="0" y="0"/>
            <a:chExt cx="2951480" cy="591820"/>
          </a:xfrm>
        </p:grpSpPr>
        <p:sp>
          <p:nvSpPr>
            <p:cNvPr name="Freeform 7" id="7"/>
            <p:cNvSpPr/>
            <p:nvPr/>
          </p:nvSpPr>
          <p:spPr>
            <a:xfrm flipH="false" flipV="false" rot="0">
              <a:off x="3951" y="50800"/>
              <a:ext cx="2900462" cy="559810"/>
            </a:xfrm>
            <a:custGeom>
              <a:avLst/>
              <a:gdLst/>
              <a:ahLst/>
              <a:cxnLst/>
              <a:rect r="r" b="b" t="t" l="l"/>
              <a:pathLst>
                <a:path h="559810" w="2900462">
                  <a:moveTo>
                    <a:pt x="46849" y="0"/>
                  </a:moveTo>
                  <a:cubicBezTo>
                    <a:pt x="2626219" y="16510"/>
                    <a:pt x="2745599" y="45720"/>
                    <a:pt x="2746869" y="44450"/>
                  </a:cubicBezTo>
                  <a:cubicBezTo>
                    <a:pt x="2746869" y="44450"/>
                    <a:pt x="2693529" y="34290"/>
                    <a:pt x="2693529" y="34290"/>
                  </a:cubicBezTo>
                  <a:cubicBezTo>
                    <a:pt x="2693529" y="34290"/>
                    <a:pt x="2727819" y="38100"/>
                    <a:pt x="2746869" y="45720"/>
                  </a:cubicBezTo>
                  <a:cubicBezTo>
                    <a:pt x="2774809" y="57150"/>
                    <a:pt x="2814179" y="80010"/>
                    <a:pt x="2838309" y="105410"/>
                  </a:cubicBezTo>
                  <a:cubicBezTo>
                    <a:pt x="2863709" y="130810"/>
                    <a:pt x="2882759" y="166370"/>
                    <a:pt x="2892919" y="200660"/>
                  </a:cubicBezTo>
                  <a:cubicBezTo>
                    <a:pt x="2901809" y="234950"/>
                    <a:pt x="2903079" y="275590"/>
                    <a:pt x="2895459" y="309880"/>
                  </a:cubicBezTo>
                  <a:cubicBezTo>
                    <a:pt x="2887839" y="345440"/>
                    <a:pt x="2870059" y="381000"/>
                    <a:pt x="2847199" y="408940"/>
                  </a:cubicBezTo>
                  <a:cubicBezTo>
                    <a:pt x="2824339" y="435610"/>
                    <a:pt x="2792589" y="459740"/>
                    <a:pt x="2759569" y="473710"/>
                  </a:cubicBezTo>
                  <a:cubicBezTo>
                    <a:pt x="2726549" y="486410"/>
                    <a:pt x="2651619" y="488950"/>
                    <a:pt x="2651619" y="488950"/>
                  </a:cubicBezTo>
                  <a:cubicBezTo>
                    <a:pt x="2651619" y="488950"/>
                    <a:pt x="2743059" y="500380"/>
                    <a:pt x="2758299" y="473710"/>
                  </a:cubicBezTo>
                  <a:cubicBezTo>
                    <a:pt x="2788779" y="420370"/>
                    <a:pt x="2556369" y="102870"/>
                    <a:pt x="2586849" y="49530"/>
                  </a:cubicBezTo>
                  <a:cubicBezTo>
                    <a:pt x="2602089" y="24130"/>
                    <a:pt x="2664319" y="33020"/>
                    <a:pt x="2693529" y="34290"/>
                  </a:cubicBezTo>
                  <a:cubicBezTo>
                    <a:pt x="2713849" y="35560"/>
                    <a:pt x="2727819" y="38100"/>
                    <a:pt x="2746869" y="45720"/>
                  </a:cubicBezTo>
                  <a:cubicBezTo>
                    <a:pt x="2774809" y="57150"/>
                    <a:pt x="2814179" y="80010"/>
                    <a:pt x="2838309" y="105410"/>
                  </a:cubicBezTo>
                  <a:cubicBezTo>
                    <a:pt x="2863709" y="130810"/>
                    <a:pt x="2882759" y="166370"/>
                    <a:pt x="2892919" y="200660"/>
                  </a:cubicBezTo>
                  <a:cubicBezTo>
                    <a:pt x="2901809" y="234950"/>
                    <a:pt x="2903079" y="275590"/>
                    <a:pt x="2895459" y="309880"/>
                  </a:cubicBezTo>
                  <a:cubicBezTo>
                    <a:pt x="2887839" y="345440"/>
                    <a:pt x="2864979" y="384810"/>
                    <a:pt x="2847199" y="408940"/>
                  </a:cubicBezTo>
                  <a:cubicBezTo>
                    <a:pt x="2834499" y="425450"/>
                    <a:pt x="2825609" y="434340"/>
                    <a:pt x="2807829" y="445770"/>
                  </a:cubicBezTo>
                  <a:cubicBezTo>
                    <a:pt x="2782429" y="462280"/>
                    <a:pt x="2753219" y="480060"/>
                    <a:pt x="2706229" y="487680"/>
                  </a:cubicBezTo>
                  <a:cubicBezTo>
                    <a:pt x="2612249" y="502920"/>
                    <a:pt x="2471279" y="463550"/>
                    <a:pt x="2270619" y="457200"/>
                  </a:cubicBezTo>
                  <a:cubicBezTo>
                    <a:pt x="1814689" y="440690"/>
                    <a:pt x="279259" y="693420"/>
                    <a:pt x="46849" y="461010"/>
                  </a:cubicBezTo>
                  <a:cubicBezTo>
                    <a:pt x="-58561" y="355600"/>
                    <a:pt x="46849" y="0"/>
                    <a:pt x="46849" y="0"/>
                  </a:cubicBezTo>
                </a:path>
              </a:pathLst>
            </a:custGeom>
            <a:solidFill>
              <a:srgbClr val="FFF234">
                <a:alpha val="24706"/>
              </a:srgbClr>
            </a:solidFill>
            <a:ln cap="sq">
              <a:noFill/>
              <a:prstDash val="solid"/>
              <a:miter/>
            </a:ln>
          </p:spPr>
        </p:sp>
      </p:grpSp>
      <p:grpSp>
        <p:nvGrpSpPr>
          <p:cNvPr name="Group 8" id="8"/>
          <p:cNvGrpSpPr/>
          <p:nvPr/>
        </p:nvGrpSpPr>
        <p:grpSpPr>
          <a:xfrm rot="0">
            <a:off x="4984432" y="3741420"/>
            <a:ext cx="1218248" cy="448628"/>
            <a:chOff x="0" y="0"/>
            <a:chExt cx="1624330" cy="598170"/>
          </a:xfrm>
        </p:grpSpPr>
        <p:sp>
          <p:nvSpPr>
            <p:cNvPr name="Freeform 9" id="9"/>
            <p:cNvSpPr/>
            <p:nvPr/>
          </p:nvSpPr>
          <p:spPr>
            <a:xfrm flipH="false" flipV="false" rot="0">
              <a:off x="13547" y="50800"/>
              <a:ext cx="1561118" cy="503004"/>
            </a:xfrm>
            <a:custGeom>
              <a:avLst/>
              <a:gdLst/>
              <a:ahLst/>
              <a:cxnLst/>
              <a:rect r="r" b="b" t="t" l="l"/>
              <a:pathLst>
                <a:path h="503004" w="1561118">
                  <a:moveTo>
                    <a:pt x="37253" y="0"/>
                  </a:moveTo>
                  <a:cubicBezTo>
                    <a:pt x="1129453" y="11430"/>
                    <a:pt x="1297093" y="17780"/>
                    <a:pt x="1387263" y="44450"/>
                  </a:cubicBezTo>
                  <a:cubicBezTo>
                    <a:pt x="1431713" y="58420"/>
                    <a:pt x="1459653" y="77470"/>
                    <a:pt x="1483783" y="95250"/>
                  </a:cubicBezTo>
                  <a:cubicBezTo>
                    <a:pt x="1500293" y="107950"/>
                    <a:pt x="1509183" y="118110"/>
                    <a:pt x="1520613" y="137160"/>
                  </a:cubicBezTo>
                  <a:cubicBezTo>
                    <a:pt x="1535853" y="162560"/>
                    <a:pt x="1553633" y="209550"/>
                    <a:pt x="1558713" y="238760"/>
                  </a:cubicBezTo>
                  <a:cubicBezTo>
                    <a:pt x="1562523" y="260350"/>
                    <a:pt x="1561253" y="275590"/>
                    <a:pt x="1558713" y="294640"/>
                  </a:cubicBezTo>
                  <a:cubicBezTo>
                    <a:pt x="1556173" y="312420"/>
                    <a:pt x="1554903" y="328930"/>
                    <a:pt x="1546013" y="347980"/>
                  </a:cubicBezTo>
                  <a:cubicBezTo>
                    <a:pt x="1533313" y="374650"/>
                    <a:pt x="1510453" y="414020"/>
                    <a:pt x="1483783" y="438150"/>
                  </a:cubicBezTo>
                  <a:cubicBezTo>
                    <a:pt x="1457113" y="461010"/>
                    <a:pt x="1415203" y="480060"/>
                    <a:pt x="1385993" y="488950"/>
                  </a:cubicBezTo>
                  <a:cubicBezTo>
                    <a:pt x="1366943" y="495300"/>
                    <a:pt x="1345353" y="506730"/>
                    <a:pt x="1331383" y="495300"/>
                  </a:cubicBezTo>
                  <a:cubicBezTo>
                    <a:pt x="1293283" y="461010"/>
                    <a:pt x="1283123" y="76200"/>
                    <a:pt x="1331383" y="38100"/>
                  </a:cubicBezTo>
                  <a:cubicBezTo>
                    <a:pt x="1355513" y="19050"/>
                    <a:pt x="1411393" y="52070"/>
                    <a:pt x="1438063" y="64770"/>
                  </a:cubicBezTo>
                  <a:cubicBezTo>
                    <a:pt x="1457113" y="72390"/>
                    <a:pt x="1468543" y="80010"/>
                    <a:pt x="1483783" y="95250"/>
                  </a:cubicBezTo>
                  <a:cubicBezTo>
                    <a:pt x="1504103" y="116840"/>
                    <a:pt x="1533313" y="158750"/>
                    <a:pt x="1546013" y="185420"/>
                  </a:cubicBezTo>
                  <a:cubicBezTo>
                    <a:pt x="1554903" y="204470"/>
                    <a:pt x="1556173" y="220980"/>
                    <a:pt x="1558713" y="238760"/>
                  </a:cubicBezTo>
                  <a:cubicBezTo>
                    <a:pt x="1561253" y="256540"/>
                    <a:pt x="1562523" y="273050"/>
                    <a:pt x="1558713" y="294640"/>
                  </a:cubicBezTo>
                  <a:cubicBezTo>
                    <a:pt x="1553633" y="323850"/>
                    <a:pt x="1539663" y="367030"/>
                    <a:pt x="1520613" y="396240"/>
                  </a:cubicBezTo>
                  <a:cubicBezTo>
                    <a:pt x="1500293" y="425450"/>
                    <a:pt x="1463463" y="453390"/>
                    <a:pt x="1438063" y="468630"/>
                  </a:cubicBezTo>
                  <a:cubicBezTo>
                    <a:pt x="1420283" y="480060"/>
                    <a:pt x="1413933" y="483870"/>
                    <a:pt x="1385993" y="488950"/>
                  </a:cubicBezTo>
                  <a:cubicBezTo>
                    <a:pt x="1288203" y="504190"/>
                    <a:pt x="921173" y="461010"/>
                    <a:pt x="693843" y="457200"/>
                  </a:cubicBezTo>
                  <a:cubicBezTo>
                    <a:pt x="471593" y="452120"/>
                    <a:pt x="137583" y="560070"/>
                    <a:pt x="37253" y="461010"/>
                  </a:cubicBezTo>
                  <a:cubicBezTo>
                    <a:pt x="-46567" y="378460"/>
                    <a:pt x="37253" y="0"/>
                    <a:pt x="37253" y="0"/>
                  </a:cubicBezTo>
                </a:path>
              </a:pathLst>
            </a:custGeom>
            <a:solidFill>
              <a:srgbClr val="FFF234">
                <a:alpha val="24706"/>
              </a:srgbClr>
            </a:solidFill>
            <a:ln cap="sq">
              <a:noFill/>
              <a:prstDash val="solid"/>
              <a:miter/>
            </a:ln>
          </p:spPr>
        </p:sp>
      </p:grpSp>
      <p:grpSp>
        <p:nvGrpSpPr>
          <p:cNvPr name="Group 10" id="10"/>
          <p:cNvGrpSpPr/>
          <p:nvPr/>
        </p:nvGrpSpPr>
        <p:grpSpPr>
          <a:xfrm rot="0">
            <a:off x="11017568" y="5450205"/>
            <a:ext cx="5388292" cy="501015"/>
            <a:chOff x="0" y="0"/>
            <a:chExt cx="7184390" cy="668020"/>
          </a:xfrm>
        </p:grpSpPr>
        <p:sp>
          <p:nvSpPr>
            <p:cNvPr name="Freeform 11" id="11"/>
            <p:cNvSpPr/>
            <p:nvPr/>
          </p:nvSpPr>
          <p:spPr>
            <a:xfrm flipH="false" flipV="false" rot="0">
              <a:off x="16369" y="33927"/>
              <a:ext cx="7181198" cy="593520"/>
            </a:xfrm>
            <a:custGeom>
              <a:avLst/>
              <a:gdLst/>
              <a:ahLst/>
              <a:cxnLst/>
              <a:rect r="r" b="b" t="t" l="l"/>
              <a:pathLst>
                <a:path h="593520" w="7181198">
                  <a:moveTo>
                    <a:pt x="34431" y="16873"/>
                  </a:moveTo>
                  <a:cubicBezTo>
                    <a:pt x="661811" y="41003"/>
                    <a:pt x="749441" y="58783"/>
                    <a:pt x="875171" y="68943"/>
                  </a:cubicBezTo>
                  <a:cubicBezTo>
                    <a:pt x="1030111" y="82913"/>
                    <a:pt x="1188861" y="91803"/>
                    <a:pt x="1402221" y="98153"/>
                  </a:cubicBezTo>
                  <a:cubicBezTo>
                    <a:pt x="1729881" y="107043"/>
                    <a:pt x="2324241" y="90533"/>
                    <a:pt x="2650631" y="98153"/>
                  </a:cubicBezTo>
                  <a:cubicBezTo>
                    <a:pt x="2861451" y="103233"/>
                    <a:pt x="2938921" y="118473"/>
                    <a:pt x="3170061" y="123553"/>
                  </a:cubicBezTo>
                  <a:cubicBezTo>
                    <a:pt x="3631071" y="136253"/>
                    <a:pt x="4668661" y="143873"/>
                    <a:pt x="5247781" y="124823"/>
                  </a:cubicBezTo>
                  <a:cubicBezTo>
                    <a:pt x="5663071" y="110853"/>
                    <a:pt x="5988191" y="65133"/>
                    <a:pt x="6318391" y="54973"/>
                  </a:cubicBezTo>
                  <a:cubicBezTo>
                    <a:pt x="6604141" y="44813"/>
                    <a:pt x="7001651" y="-61867"/>
                    <a:pt x="7115951" y="52433"/>
                  </a:cubicBezTo>
                  <a:cubicBezTo>
                    <a:pt x="7203581" y="138793"/>
                    <a:pt x="7202311" y="423273"/>
                    <a:pt x="7115951" y="509633"/>
                  </a:cubicBezTo>
                  <a:cubicBezTo>
                    <a:pt x="7002921" y="622663"/>
                    <a:pt x="6616841" y="502013"/>
                    <a:pt x="6334901" y="510903"/>
                  </a:cubicBezTo>
                  <a:cubicBezTo>
                    <a:pt x="6002161" y="522333"/>
                    <a:pt x="5669421" y="568053"/>
                    <a:pt x="5247781" y="582023"/>
                  </a:cubicBezTo>
                  <a:cubicBezTo>
                    <a:pt x="4664851" y="601073"/>
                    <a:pt x="3623451" y="593453"/>
                    <a:pt x="3162441" y="580753"/>
                  </a:cubicBezTo>
                  <a:cubicBezTo>
                    <a:pt x="2933841" y="575673"/>
                    <a:pt x="2858911" y="560433"/>
                    <a:pt x="2650631" y="555353"/>
                  </a:cubicBezTo>
                  <a:cubicBezTo>
                    <a:pt x="2324241" y="547733"/>
                    <a:pt x="1731151" y="564243"/>
                    <a:pt x="1395871" y="555353"/>
                  </a:cubicBezTo>
                  <a:cubicBezTo>
                    <a:pt x="1172351" y="549003"/>
                    <a:pt x="997091" y="538843"/>
                    <a:pt x="834531" y="524873"/>
                  </a:cubicBezTo>
                  <a:cubicBezTo>
                    <a:pt x="710071" y="514713"/>
                    <a:pt x="623711" y="495663"/>
                    <a:pt x="503061" y="488043"/>
                  </a:cubicBezTo>
                  <a:cubicBezTo>
                    <a:pt x="360821" y="477883"/>
                    <a:pt x="111901" y="557893"/>
                    <a:pt x="34431" y="477883"/>
                  </a:cubicBezTo>
                  <a:cubicBezTo>
                    <a:pt x="-43039" y="400413"/>
                    <a:pt x="34431" y="16873"/>
                    <a:pt x="34431" y="16873"/>
                  </a:cubicBezTo>
                </a:path>
              </a:pathLst>
            </a:custGeom>
            <a:solidFill>
              <a:srgbClr val="FFF234">
                <a:alpha val="24706"/>
              </a:srgbClr>
            </a:solidFill>
            <a:ln cap="sq">
              <a:noFill/>
              <a:prstDash val="solid"/>
              <a:miter/>
            </a:ln>
          </p:spPr>
        </p:sp>
      </p:grpSp>
      <p:sp>
        <p:nvSpPr>
          <p:cNvPr name="TextBox 12" id="12"/>
          <p:cNvSpPr txBox="true"/>
          <p:nvPr/>
        </p:nvSpPr>
        <p:spPr>
          <a:xfrm rot="0">
            <a:off x="9043163" y="5913120"/>
            <a:ext cx="6242893" cy="307022"/>
          </a:xfrm>
          <a:prstGeom prst="rect">
            <a:avLst/>
          </a:prstGeom>
        </p:spPr>
        <p:txBody>
          <a:bodyPr anchor="t" rtlCol="false" tIns="0" lIns="0" bIns="0" rIns="0">
            <a:spAutoFit/>
          </a:bodyPr>
          <a:lstStyle/>
          <a:p>
            <a:pPr algn="ctr">
              <a:lnSpc>
                <a:spcPts val="2502"/>
              </a:lnSpc>
              <a:spcBef>
                <a:spcPct val="0"/>
              </a:spcBef>
            </a:pPr>
            <a:r>
              <a:rPr lang="en-US" b="true" sz="1787" spc="-71">
                <a:solidFill>
                  <a:srgbClr val="12100E"/>
                </a:solidFill>
                <a:latin typeface="Open Sauce Heavy"/>
                <a:ea typeface="Open Sauce Heavy"/>
                <a:cs typeface="Open Sauce Heavy"/>
                <a:sym typeface="Open Sauce Heavy"/>
              </a:rPr>
              <a:t>WE DONT HAVE TO REPRODUCE THE CELLPOSE RESULTS </a:t>
            </a:r>
          </a:p>
        </p:txBody>
      </p:sp>
      <p:grpSp>
        <p:nvGrpSpPr>
          <p:cNvPr name="Group 13" id="13"/>
          <p:cNvGrpSpPr/>
          <p:nvPr/>
        </p:nvGrpSpPr>
        <p:grpSpPr>
          <a:xfrm rot="0">
            <a:off x="15993427" y="6978968"/>
            <a:ext cx="1499235" cy="422910"/>
            <a:chOff x="0" y="0"/>
            <a:chExt cx="1998980" cy="563880"/>
          </a:xfrm>
        </p:grpSpPr>
        <p:sp>
          <p:nvSpPr>
            <p:cNvPr name="Freeform 14" id="14"/>
            <p:cNvSpPr/>
            <p:nvPr/>
          </p:nvSpPr>
          <p:spPr>
            <a:xfrm flipH="false" flipV="false" rot="0">
              <a:off x="6209" y="50800"/>
              <a:ext cx="1947460" cy="544989"/>
            </a:xfrm>
            <a:custGeom>
              <a:avLst/>
              <a:gdLst/>
              <a:ahLst/>
              <a:cxnLst/>
              <a:rect r="r" b="b" t="t" l="l"/>
              <a:pathLst>
                <a:path h="544989" w="1947460">
                  <a:moveTo>
                    <a:pt x="44591" y="0"/>
                  </a:moveTo>
                  <a:cubicBezTo>
                    <a:pt x="1685431" y="6350"/>
                    <a:pt x="1701941" y="-2540"/>
                    <a:pt x="1737501" y="26670"/>
                  </a:cubicBezTo>
                  <a:cubicBezTo>
                    <a:pt x="1809891" y="83820"/>
                    <a:pt x="1980071" y="368300"/>
                    <a:pt x="1941971" y="435610"/>
                  </a:cubicBezTo>
                  <a:cubicBezTo>
                    <a:pt x="1910221" y="490220"/>
                    <a:pt x="1771791" y="452120"/>
                    <a:pt x="1625741" y="457200"/>
                  </a:cubicBezTo>
                  <a:cubicBezTo>
                    <a:pt x="1300621" y="468630"/>
                    <a:pt x="230011" y="646430"/>
                    <a:pt x="44591" y="461010"/>
                  </a:cubicBezTo>
                  <a:cubicBezTo>
                    <a:pt x="-55739" y="361950"/>
                    <a:pt x="44591" y="0"/>
                    <a:pt x="44591" y="0"/>
                  </a:cubicBezTo>
                </a:path>
              </a:pathLst>
            </a:custGeom>
            <a:solidFill>
              <a:srgbClr val="FFF234">
                <a:alpha val="24706"/>
              </a:srgbClr>
            </a:solidFill>
            <a:ln cap="sq">
              <a:noFill/>
              <a:prstDash val="solid"/>
              <a:miter/>
            </a:ln>
          </p:spPr>
        </p:sp>
      </p:grpSp>
      <p:grpSp>
        <p:nvGrpSpPr>
          <p:cNvPr name="Group 15" id="15"/>
          <p:cNvGrpSpPr/>
          <p:nvPr/>
        </p:nvGrpSpPr>
        <p:grpSpPr>
          <a:xfrm rot="0">
            <a:off x="2544128" y="7312343"/>
            <a:ext cx="2501265" cy="466725"/>
            <a:chOff x="0" y="0"/>
            <a:chExt cx="3335020" cy="622300"/>
          </a:xfrm>
        </p:grpSpPr>
        <p:sp>
          <p:nvSpPr>
            <p:cNvPr name="Freeform 16" id="16"/>
            <p:cNvSpPr/>
            <p:nvPr/>
          </p:nvSpPr>
          <p:spPr>
            <a:xfrm flipH="false" flipV="false" rot="0">
              <a:off x="9596" y="50800"/>
              <a:ext cx="3292386" cy="581716"/>
            </a:xfrm>
            <a:custGeom>
              <a:avLst/>
              <a:gdLst/>
              <a:ahLst/>
              <a:cxnLst/>
              <a:rect r="r" b="b" t="t" l="l"/>
              <a:pathLst>
                <a:path h="581716" w="3292386">
                  <a:moveTo>
                    <a:pt x="41204" y="0"/>
                  </a:moveTo>
                  <a:cubicBezTo>
                    <a:pt x="1388674" y="21590"/>
                    <a:pt x="1571554" y="52070"/>
                    <a:pt x="1845874" y="62230"/>
                  </a:cubicBezTo>
                  <a:cubicBezTo>
                    <a:pt x="2211634" y="74930"/>
                    <a:pt x="3018084" y="50800"/>
                    <a:pt x="3124764" y="63500"/>
                  </a:cubicBezTo>
                  <a:cubicBezTo>
                    <a:pt x="3140004" y="64770"/>
                    <a:pt x="3142544" y="60960"/>
                    <a:pt x="3151434" y="68580"/>
                  </a:cubicBezTo>
                  <a:cubicBezTo>
                    <a:pt x="3188264" y="104140"/>
                    <a:pt x="3344474" y="416560"/>
                    <a:pt x="3274624" y="509270"/>
                  </a:cubicBezTo>
                  <a:cubicBezTo>
                    <a:pt x="3161594" y="660400"/>
                    <a:pt x="2422454" y="529590"/>
                    <a:pt x="2038914" y="520700"/>
                  </a:cubicBezTo>
                  <a:cubicBezTo>
                    <a:pt x="1701094" y="511810"/>
                    <a:pt x="1415344" y="476250"/>
                    <a:pt x="1091494" y="467360"/>
                  </a:cubicBezTo>
                  <a:cubicBezTo>
                    <a:pt x="751134" y="457200"/>
                    <a:pt x="180904" y="601980"/>
                    <a:pt x="41204" y="462280"/>
                  </a:cubicBezTo>
                  <a:cubicBezTo>
                    <a:pt x="-51506" y="369570"/>
                    <a:pt x="41204" y="0"/>
                    <a:pt x="41204" y="0"/>
                  </a:cubicBezTo>
                </a:path>
              </a:pathLst>
            </a:custGeom>
            <a:solidFill>
              <a:srgbClr val="FFF234">
                <a:alpha val="24706"/>
              </a:srgbClr>
            </a:solidFill>
            <a:ln cap="sq">
              <a:noFill/>
              <a:prstDash val="solid"/>
              <a:miter/>
            </a:ln>
          </p:spPr>
        </p:sp>
      </p:grpSp>
      <p:grpSp>
        <p:nvGrpSpPr>
          <p:cNvPr name="Group 17" id="17"/>
          <p:cNvGrpSpPr/>
          <p:nvPr/>
        </p:nvGrpSpPr>
        <p:grpSpPr>
          <a:xfrm rot="0">
            <a:off x="5113020" y="7287578"/>
            <a:ext cx="2256472" cy="451485"/>
            <a:chOff x="0" y="0"/>
            <a:chExt cx="3008630" cy="601980"/>
          </a:xfrm>
        </p:grpSpPr>
        <p:sp>
          <p:nvSpPr>
            <p:cNvPr name="Freeform 18" id="18"/>
            <p:cNvSpPr/>
            <p:nvPr/>
          </p:nvSpPr>
          <p:spPr>
            <a:xfrm flipH="false" flipV="false" rot="0">
              <a:off x="2822" y="50132"/>
              <a:ext cx="2992688" cy="574766"/>
            </a:xfrm>
            <a:custGeom>
              <a:avLst/>
              <a:gdLst/>
              <a:ahLst/>
              <a:cxnLst/>
              <a:rect r="r" b="b" t="t" l="l"/>
              <a:pathLst>
                <a:path h="574766" w="2992688">
                  <a:moveTo>
                    <a:pt x="47978" y="9558"/>
                  </a:moveTo>
                  <a:cubicBezTo>
                    <a:pt x="2763238" y="10828"/>
                    <a:pt x="2894048" y="-28542"/>
                    <a:pt x="2955008" y="43848"/>
                  </a:cubicBezTo>
                  <a:cubicBezTo>
                    <a:pt x="3021048" y="125128"/>
                    <a:pt x="2994378" y="440088"/>
                    <a:pt x="2920718" y="499778"/>
                  </a:cubicBezTo>
                  <a:cubicBezTo>
                    <a:pt x="2858488" y="550578"/>
                    <a:pt x="2760698" y="468028"/>
                    <a:pt x="2603218" y="457868"/>
                  </a:cubicBezTo>
                  <a:cubicBezTo>
                    <a:pt x="2159988" y="428658"/>
                    <a:pt x="301978" y="724568"/>
                    <a:pt x="47978" y="471838"/>
                  </a:cubicBezTo>
                  <a:cubicBezTo>
                    <a:pt x="-59972" y="363888"/>
                    <a:pt x="47978" y="9558"/>
                    <a:pt x="47978" y="9558"/>
                  </a:cubicBezTo>
                </a:path>
              </a:pathLst>
            </a:custGeom>
            <a:solidFill>
              <a:srgbClr val="FFF234">
                <a:alpha val="24706"/>
              </a:srgbClr>
            </a:solidFill>
            <a:ln cap="sq">
              <a:noFill/>
              <a:prstDash val="solid"/>
              <a:miter/>
            </a:ln>
          </p:spPr>
        </p:sp>
      </p:grpSp>
      <p:grpSp>
        <p:nvGrpSpPr>
          <p:cNvPr name="Group 19" id="19"/>
          <p:cNvGrpSpPr/>
          <p:nvPr/>
        </p:nvGrpSpPr>
        <p:grpSpPr>
          <a:xfrm rot="0">
            <a:off x="7917180" y="7263765"/>
            <a:ext cx="2204085" cy="446722"/>
            <a:chOff x="0" y="0"/>
            <a:chExt cx="2938780" cy="595630"/>
          </a:xfrm>
        </p:grpSpPr>
        <p:sp>
          <p:nvSpPr>
            <p:cNvPr name="Freeform 20" id="20"/>
            <p:cNvSpPr/>
            <p:nvPr/>
          </p:nvSpPr>
          <p:spPr>
            <a:xfrm flipH="false" flipV="false" rot="0">
              <a:off x="6209" y="-11312"/>
              <a:ext cx="2953209" cy="637140"/>
            </a:xfrm>
            <a:custGeom>
              <a:avLst/>
              <a:gdLst/>
              <a:ahLst/>
              <a:cxnLst/>
              <a:rect r="r" b="b" t="t" l="l"/>
              <a:pathLst>
                <a:path h="637140" w="2953209">
                  <a:moveTo>
                    <a:pt x="44591" y="93862"/>
                  </a:moveTo>
                  <a:cubicBezTo>
                    <a:pt x="2061351" y="87512"/>
                    <a:pt x="2723021" y="-91558"/>
                    <a:pt x="2881771" y="62112"/>
                  </a:cubicBezTo>
                  <a:cubicBezTo>
                    <a:pt x="2977021" y="154822"/>
                    <a:pt x="2977021" y="421522"/>
                    <a:pt x="2881771" y="519312"/>
                  </a:cubicBezTo>
                  <a:cubicBezTo>
                    <a:pt x="2723021" y="681872"/>
                    <a:pt x="2061351" y="544712"/>
                    <a:pt x="1618121" y="551062"/>
                  </a:cubicBezTo>
                  <a:cubicBezTo>
                    <a:pt x="1121551" y="557412"/>
                    <a:pt x="228741" y="739022"/>
                    <a:pt x="44591" y="554872"/>
                  </a:cubicBezTo>
                  <a:cubicBezTo>
                    <a:pt x="-55739" y="455812"/>
                    <a:pt x="44591" y="93862"/>
                    <a:pt x="44591" y="93862"/>
                  </a:cubicBezTo>
                </a:path>
              </a:pathLst>
            </a:custGeom>
            <a:solidFill>
              <a:srgbClr val="FFF234">
                <a:alpha val="24706"/>
              </a:srgbClr>
            </a:solidFill>
            <a:ln cap="sq">
              <a:noFill/>
              <a:prstDash val="solid"/>
              <a:miter/>
            </a:ln>
          </p:spPr>
        </p:sp>
      </p:grpSp>
      <p:grpSp>
        <p:nvGrpSpPr>
          <p:cNvPr name="Group 21" id="21"/>
          <p:cNvGrpSpPr/>
          <p:nvPr/>
        </p:nvGrpSpPr>
        <p:grpSpPr>
          <a:xfrm rot="0">
            <a:off x="8893493" y="7994332"/>
            <a:ext cx="2510790" cy="460057"/>
            <a:chOff x="0" y="0"/>
            <a:chExt cx="3347720" cy="613410"/>
          </a:xfrm>
        </p:grpSpPr>
        <p:sp>
          <p:nvSpPr>
            <p:cNvPr name="Freeform 22" id="22"/>
            <p:cNvSpPr/>
            <p:nvPr/>
          </p:nvSpPr>
          <p:spPr>
            <a:xfrm flipH="false" flipV="false" rot="0">
              <a:off x="10160" y="40628"/>
              <a:ext cx="3287218" cy="579085"/>
            </a:xfrm>
            <a:custGeom>
              <a:avLst/>
              <a:gdLst/>
              <a:ahLst/>
              <a:cxnLst/>
              <a:rect r="r" b="b" t="t" l="l"/>
              <a:pathLst>
                <a:path h="579085" w="3287218">
                  <a:moveTo>
                    <a:pt x="40640" y="55892"/>
                  </a:moveTo>
                  <a:cubicBezTo>
                    <a:pt x="1071880" y="49542"/>
                    <a:pt x="1322070" y="19062"/>
                    <a:pt x="1601470" y="11442"/>
                  </a:cubicBezTo>
                  <a:cubicBezTo>
                    <a:pt x="1916430" y="1282"/>
                    <a:pt x="2322830" y="-7608"/>
                    <a:pt x="2604770" y="10172"/>
                  </a:cubicBezTo>
                  <a:cubicBezTo>
                    <a:pt x="2813050" y="24142"/>
                    <a:pt x="3044190" y="43192"/>
                    <a:pt x="3144520" y="82562"/>
                  </a:cubicBezTo>
                  <a:cubicBezTo>
                    <a:pt x="3190240" y="101612"/>
                    <a:pt x="3213100" y="125742"/>
                    <a:pt x="3233420" y="147332"/>
                  </a:cubicBezTo>
                  <a:cubicBezTo>
                    <a:pt x="3247390" y="162572"/>
                    <a:pt x="3255010" y="174002"/>
                    <a:pt x="3263900" y="194322"/>
                  </a:cubicBezTo>
                  <a:cubicBezTo>
                    <a:pt x="3275330" y="220992"/>
                    <a:pt x="3285490" y="270522"/>
                    <a:pt x="3286760" y="301002"/>
                  </a:cubicBezTo>
                  <a:cubicBezTo>
                    <a:pt x="3288030" y="321322"/>
                    <a:pt x="3285490" y="335292"/>
                    <a:pt x="3279140" y="355612"/>
                  </a:cubicBezTo>
                  <a:cubicBezTo>
                    <a:pt x="3268980" y="383552"/>
                    <a:pt x="3249930" y="424192"/>
                    <a:pt x="3225800" y="450862"/>
                  </a:cubicBezTo>
                  <a:cubicBezTo>
                    <a:pt x="3201670" y="476262"/>
                    <a:pt x="3167380" y="499122"/>
                    <a:pt x="3134360" y="510552"/>
                  </a:cubicBezTo>
                  <a:cubicBezTo>
                    <a:pt x="3100070" y="521982"/>
                    <a:pt x="3025140" y="520712"/>
                    <a:pt x="3025140" y="520712"/>
                  </a:cubicBezTo>
                  <a:cubicBezTo>
                    <a:pt x="3025140" y="521982"/>
                    <a:pt x="3098800" y="537222"/>
                    <a:pt x="3114040" y="516902"/>
                  </a:cubicBezTo>
                  <a:cubicBezTo>
                    <a:pt x="3149600" y="468642"/>
                    <a:pt x="2966720" y="120662"/>
                    <a:pt x="3002280" y="73672"/>
                  </a:cubicBezTo>
                  <a:cubicBezTo>
                    <a:pt x="3017520" y="52082"/>
                    <a:pt x="3061970" y="63512"/>
                    <a:pt x="3091180" y="68592"/>
                  </a:cubicBezTo>
                  <a:cubicBezTo>
                    <a:pt x="3125470" y="73672"/>
                    <a:pt x="3167380" y="93992"/>
                    <a:pt x="3192780" y="110502"/>
                  </a:cubicBezTo>
                  <a:cubicBezTo>
                    <a:pt x="3210560" y="121932"/>
                    <a:pt x="3220720" y="130822"/>
                    <a:pt x="3233420" y="147332"/>
                  </a:cubicBezTo>
                  <a:cubicBezTo>
                    <a:pt x="3251200" y="171462"/>
                    <a:pt x="3272790" y="217182"/>
                    <a:pt x="3281680" y="245122"/>
                  </a:cubicBezTo>
                  <a:cubicBezTo>
                    <a:pt x="3286760" y="265442"/>
                    <a:pt x="3288030" y="279412"/>
                    <a:pt x="3286760" y="301002"/>
                  </a:cubicBezTo>
                  <a:cubicBezTo>
                    <a:pt x="3284220" y="330212"/>
                    <a:pt x="3275330" y="374662"/>
                    <a:pt x="3257550" y="406412"/>
                  </a:cubicBezTo>
                  <a:cubicBezTo>
                    <a:pt x="3241040" y="436892"/>
                    <a:pt x="3213100" y="466102"/>
                    <a:pt x="3182620" y="486422"/>
                  </a:cubicBezTo>
                  <a:cubicBezTo>
                    <a:pt x="3153410" y="505472"/>
                    <a:pt x="3128010" y="516902"/>
                    <a:pt x="3079750" y="521982"/>
                  </a:cubicBezTo>
                  <a:cubicBezTo>
                    <a:pt x="2979420" y="533412"/>
                    <a:pt x="2794000" y="478802"/>
                    <a:pt x="2604770" y="467372"/>
                  </a:cubicBezTo>
                  <a:cubicBezTo>
                    <a:pt x="2322830" y="452132"/>
                    <a:pt x="1837690" y="455942"/>
                    <a:pt x="1553210" y="468642"/>
                  </a:cubicBezTo>
                  <a:cubicBezTo>
                    <a:pt x="1357630" y="476262"/>
                    <a:pt x="1253490" y="500392"/>
                    <a:pt x="1059180" y="509282"/>
                  </a:cubicBezTo>
                  <a:cubicBezTo>
                    <a:pt x="781050" y="521982"/>
                    <a:pt x="177800" y="654062"/>
                    <a:pt x="40640" y="518172"/>
                  </a:cubicBezTo>
                  <a:cubicBezTo>
                    <a:pt x="-50800" y="426732"/>
                    <a:pt x="40640" y="55892"/>
                    <a:pt x="40640" y="55892"/>
                  </a:cubicBezTo>
                </a:path>
              </a:pathLst>
            </a:custGeom>
            <a:solidFill>
              <a:srgbClr val="FFF234">
                <a:alpha val="24706"/>
              </a:srgbClr>
            </a:solidFill>
            <a:ln cap="sq">
              <a:noFill/>
              <a:prstDash val="solid"/>
              <a:miter/>
            </a:ln>
          </p:spPr>
        </p:sp>
      </p:grpSp>
      <p:sp>
        <p:nvSpPr>
          <p:cNvPr name="TextBox 23" id="23"/>
          <p:cNvSpPr txBox="true"/>
          <p:nvPr/>
        </p:nvSpPr>
        <p:spPr>
          <a:xfrm rot="0">
            <a:off x="7732455" y="8348662"/>
            <a:ext cx="5060975" cy="307022"/>
          </a:xfrm>
          <a:prstGeom prst="rect">
            <a:avLst/>
          </a:prstGeom>
        </p:spPr>
        <p:txBody>
          <a:bodyPr anchor="t" rtlCol="false" tIns="0" lIns="0" bIns="0" rIns="0">
            <a:spAutoFit/>
          </a:bodyPr>
          <a:lstStyle/>
          <a:p>
            <a:pPr algn="ctr">
              <a:lnSpc>
                <a:spcPts val="2502"/>
              </a:lnSpc>
              <a:spcBef>
                <a:spcPct val="0"/>
              </a:spcBef>
            </a:pPr>
            <a:r>
              <a:rPr lang="en-US" b="true" sz="1787" spc="-71">
                <a:solidFill>
                  <a:srgbClr val="12100E"/>
                </a:solidFill>
                <a:latin typeface="Open Sauce Heavy"/>
                <a:ea typeface="Open Sauce Heavy"/>
                <a:cs typeface="Open Sauce Heavy"/>
                <a:sym typeface="Open Sauce Heavy"/>
              </a:rPr>
              <a:t>ONE ISSUE: ADDRESSED IN THE COMING SLIDE</a:t>
            </a:r>
          </a:p>
        </p:txBody>
      </p:sp>
      <p:grpSp>
        <p:nvGrpSpPr>
          <p:cNvPr name="Group 24" id="24"/>
          <p:cNvGrpSpPr/>
          <p:nvPr/>
        </p:nvGrpSpPr>
        <p:grpSpPr>
          <a:xfrm rot="0">
            <a:off x="3078480" y="5870258"/>
            <a:ext cx="5862638" cy="515303"/>
            <a:chOff x="0" y="0"/>
            <a:chExt cx="7816850" cy="687070"/>
          </a:xfrm>
        </p:grpSpPr>
        <p:sp>
          <p:nvSpPr>
            <p:cNvPr name="Freeform 25" id="25"/>
            <p:cNvSpPr/>
            <p:nvPr/>
          </p:nvSpPr>
          <p:spPr>
            <a:xfrm flipH="false" flipV="false" rot="0">
              <a:off x="564" y="50800"/>
              <a:ext cx="7804413" cy="594753"/>
            </a:xfrm>
            <a:custGeom>
              <a:avLst/>
              <a:gdLst/>
              <a:ahLst/>
              <a:cxnLst/>
              <a:rect r="r" b="b" t="t" l="l"/>
              <a:pathLst>
                <a:path h="594753" w="7804413">
                  <a:moveTo>
                    <a:pt x="50236" y="0"/>
                  </a:moveTo>
                  <a:cubicBezTo>
                    <a:pt x="4107886" y="31750"/>
                    <a:pt x="4486346" y="90170"/>
                    <a:pt x="4990536" y="105410"/>
                  </a:cubicBezTo>
                  <a:cubicBezTo>
                    <a:pt x="5517586" y="123190"/>
                    <a:pt x="6217356" y="97790"/>
                    <a:pt x="6605976" y="106680"/>
                  </a:cubicBezTo>
                  <a:cubicBezTo>
                    <a:pt x="6825686" y="110490"/>
                    <a:pt x="6981896" y="132080"/>
                    <a:pt x="7120326" y="128270"/>
                  </a:cubicBezTo>
                  <a:cubicBezTo>
                    <a:pt x="7214306" y="125730"/>
                    <a:pt x="7277806" y="119380"/>
                    <a:pt x="7356546" y="104140"/>
                  </a:cubicBezTo>
                  <a:cubicBezTo>
                    <a:pt x="7437826" y="88900"/>
                    <a:pt x="7524186" y="50800"/>
                    <a:pt x="7597846" y="36830"/>
                  </a:cubicBezTo>
                  <a:cubicBezTo>
                    <a:pt x="7656266" y="25400"/>
                    <a:pt x="7726116" y="-11430"/>
                    <a:pt x="7760406" y="20320"/>
                  </a:cubicBezTo>
                  <a:cubicBezTo>
                    <a:pt x="7817556" y="71120"/>
                    <a:pt x="7818826" y="414020"/>
                    <a:pt x="7765486" y="477520"/>
                  </a:cubicBezTo>
                  <a:cubicBezTo>
                    <a:pt x="7735006" y="513080"/>
                    <a:pt x="7675316" y="486410"/>
                    <a:pt x="7619436" y="497840"/>
                  </a:cubicBezTo>
                  <a:cubicBezTo>
                    <a:pt x="7540696" y="515620"/>
                    <a:pt x="7431476" y="563880"/>
                    <a:pt x="7340036" y="577850"/>
                  </a:cubicBezTo>
                  <a:cubicBezTo>
                    <a:pt x="7254946" y="591820"/>
                    <a:pt x="7186366" y="585470"/>
                    <a:pt x="7088576" y="585470"/>
                  </a:cubicBezTo>
                  <a:cubicBezTo>
                    <a:pt x="6953956" y="584200"/>
                    <a:pt x="6814256" y="567690"/>
                    <a:pt x="6605976" y="563880"/>
                  </a:cubicBezTo>
                  <a:cubicBezTo>
                    <a:pt x="6222436" y="554990"/>
                    <a:pt x="5499806" y="579120"/>
                    <a:pt x="4970216" y="562610"/>
                  </a:cubicBezTo>
                  <a:cubicBezTo>
                    <a:pt x="4469836" y="546100"/>
                    <a:pt x="4100266" y="488950"/>
                    <a:pt x="3509716" y="469900"/>
                  </a:cubicBezTo>
                  <a:cubicBezTo>
                    <a:pt x="2602936" y="439420"/>
                    <a:pt x="358846" y="770890"/>
                    <a:pt x="50236" y="462280"/>
                  </a:cubicBezTo>
                  <a:cubicBezTo>
                    <a:pt x="-62794" y="349250"/>
                    <a:pt x="50236" y="0"/>
                    <a:pt x="50236" y="0"/>
                  </a:cubicBezTo>
                </a:path>
              </a:pathLst>
            </a:custGeom>
            <a:solidFill>
              <a:srgbClr val="FFF234">
                <a:alpha val="24706"/>
              </a:srgbClr>
            </a:solidFill>
            <a:ln cap="sq">
              <a:noFill/>
              <a:prstDash val="solid"/>
              <a:miter/>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p:cNvSpPr/>
          <p:nvPr/>
        </p:nvSpPr>
        <p:spPr>
          <a:xfrm flipH="false" flipV="false" rot="0">
            <a:off x="342896" y="245719"/>
            <a:ext cx="14657415" cy="3710432"/>
          </a:xfrm>
          <a:custGeom>
            <a:avLst/>
            <a:gdLst/>
            <a:ahLst/>
            <a:cxnLst/>
            <a:rect r="r" b="b" t="t" l="l"/>
            <a:pathLst>
              <a:path h="3710432" w="14657415">
                <a:moveTo>
                  <a:pt x="0" y="0"/>
                </a:moveTo>
                <a:lnTo>
                  <a:pt x="14657416" y="0"/>
                </a:lnTo>
                <a:lnTo>
                  <a:pt x="14657416" y="3710433"/>
                </a:lnTo>
                <a:lnTo>
                  <a:pt x="0" y="3710433"/>
                </a:lnTo>
                <a:lnTo>
                  <a:pt x="0" y="0"/>
                </a:lnTo>
                <a:close/>
              </a:path>
            </a:pathLst>
          </a:custGeom>
          <a:blipFill>
            <a:blip r:embed="rId2"/>
            <a:stretch>
              <a:fillRect l="0" t="0" r="0" b="-486"/>
            </a:stretch>
          </a:blipFill>
        </p:spPr>
      </p:sp>
      <p:grpSp>
        <p:nvGrpSpPr>
          <p:cNvPr name="Group 3" id="3"/>
          <p:cNvGrpSpPr/>
          <p:nvPr/>
        </p:nvGrpSpPr>
        <p:grpSpPr>
          <a:xfrm rot="0">
            <a:off x="12512040" y="2327910"/>
            <a:ext cx="2267902" cy="493395"/>
            <a:chOff x="0" y="0"/>
            <a:chExt cx="3023870" cy="657860"/>
          </a:xfrm>
        </p:grpSpPr>
        <p:sp>
          <p:nvSpPr>
            <p:cNvPr name="Freeform 4" id="4"/>
            <p:cNvSpPr/>
            <p:nvPr/>
          </p:nvSpPr>
          <p:spPr>
            <a:xfrm flipH="false" flipV="false" rot="0">
              <a:off x="8467" y="50800"/>
              <a:ext cx="2965841" cy="567370"/>
            </a:xfrm>
            <a:custGeom>
              <a:avLst/>
              <a:gdLst/>
              <a:ahLst/>
              <a:cxnLst/>
              <a:rect r="r" b="b" t="t" l="l"/>
              <a:pathLst>
                <a:path h="567370" w="2965841">
                  <a:moveTo>
                    <a:pt x="42333" y="0"/>
                  </a:moveTo>
                  <a:cubicBezTo>
                    <a:pt x="1413933" y="2540"/>
                    <a:pt x="1450763" y="3810"/>
                    <a:pt x="1563793" y="11430"/>
                  </a:cubicBezTo>
                  <a:cubicBezTo>
                    <a:pt x="1751753" y="26670"/>
                    <a:pt x="2128943" y="82550"/>
                    <a:pt x="2308013" y="93980"/>
                  </a:cubicBezTo>
                  <a:cubicBezTo>
                    <a:pt x="2409613" y="100330"/>
                    <a:pt x="2473113" y="102870"/>
                    <a:pt x="2548043" y="97790"/>
                  </a:cubicBezTo>
                  <a:cubicBezTo>
                    <a:pt x="2615353" y="93980"/>
                    <a:pt x="2683933" y="69850"/>
                    <a:pt x="2737273" y="72390"/>
                  </a:cubicBezTo>
                  <a:cubicBezTo>
                    <a:pt x="2777913" y="74930"/>
                    <a:pt x="2812203" y="82550"/>
                    <a:pt x="2843953" y="97790"/>
                  </a:cubicBezTo>
                  <a:cubicBezTo>
                    <a:pt x="2874433" y="114300"/>
                    <a:pt x="2904913" y="142240"/>
                    <a:pt x="2925233" y="171450"/>
                  </a:cubicBezTo>
                  <a:cubicBezTo>
                    <a:pt x="2945553" y="200660"/>
                    <a:pt x="2959523" y="238760"/>
                    <a:pt x="2964603" y="273050"/>
                  </a:cubicBezTo>
                  <a:cubicBezTo>
                    <a:pt x="2968413" y="308610"/>
                    <a:pt x="2959523" y="353060"/>
                    <a:pt x="2950633" y="382270"/>
                  </a:cubicBezTo>
                  <a:cubicBezTo>
                    <a:pt x="2944283" y="402590"/>
                    <a:pt x="2937933" y="414020"/>
                    <a:pt x="2925233" y="430530"/>
                  </a:cubicBezTo>
                  <a:cubicBezTo>
                    <a:pt x="2907453" y="454660"/>
                    <a:pt x="2874433" y="486410"/>
                    <a:pt x="2843953" y="502920"/>
                  </a:cubicBezTo>
                  <a:cubicBezTo>
                    <a:pt x="2812203" y="519430"/>
                    <a:pt x="2776643" y="538480"/>
                    <a:pt x="2737273" y="529590"/>
                  </a:cubicBezTo>
                  <a:cubicBezTo>
                    <a:pt x="2673773" y="515620"/>
                    <a:pt x="2503593" y="392430"/>
                    <a:pt x="2513753" y="347980"/>
                  </a:cubicBezTo>
                  <a:cubicBezTo>
                    <a:pt x="2527723" y="292100"/>
                    <a:pt x="2948093" y="309880"/>
                    <a:pt x="2960793" y="252730"/>
                  </a:cubicBezTo>
                  <a:cubicBezTo>
                    <a:pt x="2972223" y="208280"/>
                    <a:pt x="2730923" y="87630"/>
                    <a:pt x="2737273" y="72390"/>
                  </a:cubicBezTo>
                  <a:cubicBezTo>
                    <a:pt x="2739813" y="66040"/>
                    <a:pt x="2771563" y="72390"/>
                    <a:pt x="2791883" y="78740"/>
                  </a:cubicBezTo>
                  <a:cubicBezTo>
                    <a:pt x="2821093" y="87630"/>
                    <a:pt x="2863003" y="106680"/>
                    <a:pt x="2888403" y="129540"/>
                  </a:cubicBezTo>
                  <a:cubicBezTo>
                    <a:pt x="2915073" y="153670"/>
                    <a:pt x="2939203" y="186690"/>
                    <a:pt x="2950633" y="219710"/>
                  </a:cubicBezTo>
                  <a:cubicBezTo>
                    <a:pt x="2963333" y="252730"/>
                    <a:pt x="2968413" y="293370"/>
                    <a:pt x="2964603" y="328930"/>
                  </a:cubicBezTo>
                  <a:cubicBezTo>
                    <a:pt x="2959523" y="363220"/>
                    <a:pt x="2940473" y="405130"/>
                    <a:pt x="2925233" y="430530"/>
                  </a:cubicBezTo>
                  <a:cubicBezTo>
                    <a:pt x="2915073" y="448310"/>
                    <a:pt x="2906183" y="458470"/>
                    <a:pt x="2888403" y="472440"/>
                  </a:cubicBezTo>
                  <a:cubicBezTo>
                    <a:pt x="2865543" y="490220"/>
                    <a:pt x="2821093" y="514350"/>
                    <a:pt x="2791883" y="523240"/>
                  </a:cubicBezTo>
                  <a:cubicBezTo>
                    <a:pt x="2771563" y="529590"/>
                    <a:pt x="2751243" y="521970"/>
                    <a:pt x="2737273" y="529590"/>
                  </a:cubicBezTo>
                  <a:cubicBezTo>
                    <a:pt x="2727113" y="534670"/>
                    <a:pt x="2730923" y="548640"/>
                    <a:pt x="2715683" y="556260"/>
                  </a:cubicBezTo>
                  <a:cubicBezTo>
                    <a:pt x="2655993" y="582930"/>
                    <a:pt x="2365163" y="554990"/>
                    <a:pt x="2177203" y="541020"/>
                  </a:cubicBezTo>
                  <a:cubicBezTo>
                    <a:pt x="1972733" y="527050"/>
                    <a:pt x="1698413" y="481330"/>
                    <a:pt x="1534583" y="468630"/>
                  </a:cubicBezTo>
                  <a:cubicBezTo>
                    <a:pt x="1434253" y="459740"/>
                    <a:pt x="1403773" y="459740"/>
                    <a:pt x="1290743" y="457200"/>
                  </a:cubicBezTo>
                  <a:cubicBezTo>
                    <a:pt x="1034203" y="452120"/>
                    <a:pt x="199813" y="618490"/>
                    <a:pt x="42333" y="462280"/>
                  </a:cubicBezTo>
                  <a:cubicBezTo>
                    <a:pt x="-52917" y="367030"/>
                    <a:pt x="42333" y="0"/>
                    <a:pt x="42333" y="0"/>
                  </a:cubicBezTo>
                </a:path>
              </a:pathLst>
            </a:custGeom>
            <a:solidFill>
              <a:srgbClr val="FFF234">
                <a:alpha val="24706"/>
              </a:srgbClr>
            </a:solidFill>
            <a:ln cap="sq">
              <a:noFill/>
              <a:prstDash val="solid"/>
              <a:miter/>
            </a:ln>
          </p:spPr>
        </p:sp>
      </p:grpSp>
      <p:grpSp>
        <p:nvGrpSpPr>
          <p:cNvPr name="Group 5" id="5"/>
          <p:cNvGrpSpPr/>
          <p:nvPr/>
        </p:nvGrpSpPr>
        <p:grpSpPr>
          <a:xfrm rot="0">
            <a:off x="9447848" y="2283142"/>
            <a:ext cx="3378517" cy="551498"/>
            <a:chOff x="0" y="0"/>
            <a:chExt cx="4504690" cy="735330"/>
          </a:xfrm>
        </p:grpSpPr>
        <p:sp>
          <p:nvSpPr>
            <p:cNvPr name="Freeform 6" id="6"/>
            <p:cNvSpPr/>
            <p:nvPr/>
          </p:nvSpPr>
          <p:spPr>
            <a:xfrm flipH="false" flipV="false" rot="0">
              <a:off x="1693" y="50800"/>
              <a:ext cx="4500247" cy="649124"/>
            </a:xfrm>
            <a:custGeom>
              <a:avLst/>
              <a:gdLst/>
              <a:ahLst/>
              <a:cxnLst/>
              <a:rect r="r" b="b" t="t" l="l"/>
              <a:pathLst>
                <a:path h="649124" w="4500247">
                  <a:moveTo>
                    <a:pt x="49107" y="0"/>
                  </a:moveTo>
                  <a:cubicBezTo>
                    <a:pt x="2998047" y="8890"/>
                    <a:pt x="3005667" y="21590"/>
                    <a:pt x="3112347" y="34290"/>
                  </a:cubicBezTo>
                  <a:cubicBezTo>
                    <a:pt x="3328247" y="58420"/>
                    <a:pt x="3854027" y="83820"/>
                    <a:pt x="4099137" y="115570"/>
                  </a:cubicBezTo>
                  <a:cubicBezTo>
                    <a:pt x="4246457" y="133350"/>
                    <a:pt x="4389967" y="101600"/>
                    <a:pt x="4450927" y="175260"/>
                  </a:cubicBezTo>
                  <a:cubicBezTo>
                    <a:pt x="4520777" y="259080"/>
                    <a:pt x="4514427" y="572770"/>
                    <a:pt x="4444577" y="632460"/>
                  </a:cubicBezTo>
                  <a:cubicBezTo>
                    <a:pt x="4383617" y="684530"/>
                    <a:pt x="4251537" y="599440"/>
                    <a:pt x="4110567" y="582930"/>
                  </a:cubicBezTo>
                  <a:cubicBezTo>
                    <a:pt x="3866727" y="553720"/>
                    <a:pt x="3325707" y="516890"/>
                    <a:pt x="3108537" y="491490"/>
                  </a:cubicBezTo>
                  <a:cubicBezTo>
                    <a:pt x="3003127" y="478790"/>
                    <a:pt x="2995507" y="466090"/>
                    <a:pt x="2873587" y="457200"/>
                  </a:cubicBezTo>
                  <a:cubicBezTo>
                    <a:pt x="2453217" y="426720"/>
                    <a:pt x="319617" y="731520"/>
                    <a:pt x="49107" y="461010"/>
                  </a:cubicBezTo>
                  <a:cubicBezTo>
                    <a:pt x="-61383" y="351790"/>
                    <a:pt x="49107" y="0"/>
                    <a:pt x="49107" y="0"/>
                  </a:cubicBezTo>
                </a:path>
              </a:pathLst>
            </a:custGeom>
            <a:solidFill>
              <a:srgbClr val="FFF234">
                <a:alpha val="24706"/>
              </a:srgbClr>
            </a:solidFill>
            <a:ln cap="sq">
              <a:noFill/>
              <a:prstDash val="solid"/>
              <a:miter/>
            </a:ln>
          </p:spPr>
        </p:sp>
      </p:grpSp>
      <p:grpSp>
        <p:nvGrpSpPr>
          <p:cNvPr name="Group 7" id="7"/>
          <p:cNvGrpSpPr/>
          <p:nvPr/>
        </p:nvGrpSpPr>
        <p:grpSpPr>
          <a:xfrm rot="0">
            <a:off x="544830" y="2591752"/>
            <a:ext cx="1190625" cy="422910"/>
            <a:chOff x="0" y="0"/>
            <a:chExt cx="1587500" cy="563880"/>
          </a:xfrm>
        </p:grpSpPr>
        <p:sp>
          <p:nvSpPr>
            <p:cNvPr name="Freeform 8" id="8"/>
            <p:cNvSpPr/>
            <p:nvPr/>
          </p:nvSpPr>
          <p:spPr>
            <a:xfrm flipH="false" flipV="false" rot="0">
              <a:off x="7902" y="45366"/>
              <a:ext cx="1529704" cy="541456"/>
            </a:xfrm>
            <a:custGeom>
              <a:avLst/>
              <a:gdLst/>
              <a:ahLst/>
              <a:cxnLst/>
              <a:rect r="r" b="b" t="t" l="l"/>
              <a:pathLst>
                <a:path h="541456" w="1529704">
                  <a:moveTo>
                    <a:pt x="42898" y="5434"/>
                  </a:moveTo>
                  <a:cubicBezTo>
                    <a:pt x="1385288" y="16864"/>
                    <a:pt x="1389098" y="20674"/>
                    <a:pt x="1408148" y="30834"/>
                  </a:cubicBezTo>
                  <a:cubicBezTo>
                    <a:pt x="1433548" y="46074"/>
                    <a:pt x="1471648" y="80364"/>
                    <a:pt x="1489428" y="103224"/>
                  </a:cubicBezTo>
                  <a:cubicBezTo>
                    <a:pt x="1502128" y="119734"/>
                    <a:pt x="1508478" y="132434"/>
                    <a:pt x="1514828" y="152754"/>
                  </a:cubicBezTo>
                  <a:cubicBezTo>
                    <a:pt x="1523718" y="180694"/>
                    <a:pt x="1532608" y="226414"/>
                    <a:pt x="1528798" y="260704"/>
                  </a:cubicBezTo>
                  <a:cubicBezTo>
                    <a:pt x="1523718" y="296264"/>
                    <a:pt x="1504668" y="338174"/>
                    <a:pt x="1489428" y="363574"/>
                  </a:cubicBezTo>
                  <a:cubicBezTo>
                    <a:pt x="1477998" y="381354"/>
                    <a:pt x="1469108" y="391514"/>
                    <a:pt x="1452598" y="404214"/>
                  </a:cubicBezTo>
                  <a:cubicBezTo>
                    <a:pt x="1429738" y="423264"/>
                    <a:pt x="1384018" y="446124"/>
                    <a:pt x="1356078" y="455014"/>
                  </a:cubicBezTo>
                  <a:cubicBezTo>
                    <a:pt x="1335758" y="461364"/>
                    <a:pt x="1315438" y="474064"/>
                    <a:pt x="1301468" y="462634"/>
                  </a:cubicBezTo>
                  <a:cubicBezTo>
                    <a:pt x="1262098" y="427074"/>
                    <a:pt x="1262098" y="39724"/>
                    <a:pt x="1301468" y="5434"/>
                  </a:cubicBezTo>
                  <a:cubicBezTo>
                    <a:pt x="1315438" y="-7266"/>
                    <a:pt x="1335758" y="5434"/>
                    <a:pt x="1356078" y="11784"/>
                  </a:cubicBezTo>
                  <a:cubicBezTo>
                    <a:pt x="1384018" y="20674"/>
                    <a:pt x="1429738" y="43534"/>
                    <a:pt x="1452598" y="62584"/>
                  </a:cubicBezTo>
                  <a:cubicBezTo>
                    <a:pt x="1469108" y="75284"/>
                    <a:pt x="1477998" y="85444"/>
                    <a:pt x="1489428" y="103224"/>
                  </a:cubicBezTo>
                  <a:cubicBezTo>
                    <a:pt x="1504668" y="128624"/>
                    <a:pt x="1523718" y="170534"/>
                    <a:pt x="1528798" y="206094"/>
                  </a:cubicBezTo>
                  <a:cubicBezTo>
                    <a:pt x="1532608" y="241654"/>
                    <a:pt x="1523718" y="286104"/>
                    <a:pt x="1514828" y="314044"/>
                  </a:cubicBezTo>
                  <a:cubicBezTo>
                    <a:pt x="1508478" y="334364"/>
                    <a:pt x="1502128" y="347064"/>
                    <a:pt x="1489428" y="363574"/>
                  </a:cubicBezTo>
                  <a:cubicBezTo>
                    <a:pt x="1471648" y="386434"/>
                    <a:pt x="1433548" y="420724"/>
                    <a:pt x="1408148" y="435964"/>
                  </a:cubicBezTo>
                  <a:cubicBezTo>
                    <a:pt x="1389098" y="447394"/>
                    <a:pt x="1385288" y="449934"/>
                    <a:pt x="1356078" y="455014"/>
                  </a:cubicBezTo>
                  <a:cubicBezTo>
                    <a:pt x="1212568" y="482954"/>
                    <a:pt x="205458" y="627734"/>
                    <a:pt x="42898" y="466444"/>
                  </a:cubicBezTo>
                  <a:cubicBezTo>
                    <a:pt x="-53622" y="371194"/>
                    <a:pt x="42898" y="5434"/>
                    <a:pt x="42898" y="5434"/>
                  </a:cubicBezTo>
                </a:path>
              </a:pathLst>
            </a:custGeom>
            <a:solidFill>
              <a:srgbClr val="FFF234">
                <a:alpha val="24706"/>
              </a:srgbClr>
            </a:solidFill>
            <a:ln cap="sq">
              <a:noFill/>
              <a:prstDash val="solid"/>
              <a:miter/>
            </a:ln>
          </p:spPr>
        </p:sp>
      </p:grpSp>
      <p:grpSp>
        <p:nvGrpSpPr>
          <p:cNvPr name="Group 9" id="9"/>
          <p:cNvGrpSpPr/>
          <p:nvPr/>
        </p:nvGrpSpPr>
        <p:grpSpPr>
          <a:xfrm rot="0">
            <a:off x="7594282" y="1373505"/>
            <a:ext cx="3618547" cy="475297"/>
            <a:chOff x="0" y="0"/>
            <a:chExt cx="4824730" cy="633730"/>
          </a:xfrm>
        </p:grpSpPr>
        <p:sp>
          <p:nvSpPr>
            <p:cNvPr name="Freeform 10" id="10"/>
            <p:cNvSpPr/>
            <p:nvPr/>
          </p:nvSpPr>
          <p:spPr>
            <a:xfrm flipH="false" flipV="false" rot="0">
              <a:off x="6773" y="50800"/>
              <a:ext cx="4766371" cy="553190"/>
            </a:xfrm>
            <a:custGeom>
              <a:avLst/>
              <a:gdLst/>
              <a:ahLst/>
              <a:cxnLst/>
              <a:rect r="r" b="b" t="t" l="l"/>
              <a:pathLst>
                <a:path h="553190" w="4766371">
                  <a:moveTo>
                    <a:pt x="44027" y="0"/>
                  </a:moveTo>
                  <a:cubicBezTo>
                    <a:pt x="2354157" y="69850"/>
                    <a:pt x="4313767" y="52070"/>
                    <a:pt x="4551257" y="74930"/>
                  </a:cubicBezTo>
                  <a:cubicBezTo>
                    <a:pt x="4584277" y="77470"/>
                    <a:pt x="4586817" y="77470"/>
                    <a:pt x="4605867" y="83820"/>
                  </a:cubicBezTo>
                  <a:cubicBezTo>
                    <a:pt x="4633807" y="95250"/>
                    <a:pt x="4676987" y="121920"/>
                    <a:pt x="4699847" y="140970"/>
                  </a:cubicBezTo>
                  <a:cubicBezTo>
                    <a:pt x="4715087" y="154940"/>
                    <a:pt x="4723977" y="166370"/>
                    <a:pt x="4734137" y="184150"/>
                  </a:cubicBezTo>
                  <a:cubicBezTo>
                    <a:pt x="4746837" y="210820"/>
                    <a:pt x="4763347" y="254000"/>
                    <a:pt x="4765887" y="289560"/>
                  </a:cubicBezTo>
                  <a:cubicBezTo>
                    <a:pt x="4768427" y="323850"/>
                    <a:pt x="4760807" y="364490"/>
                    <a:pt x="4746837" y="396240"/>
                  </a:cubicBezTo>
                  <a:cubicBezTo>
                    <a:pt x="4731597" y="429260"/>
                    <a:pt x="4701117" y="463550"/>
                    <a:pt x="4678257" y="482600"/>
                  </a:cubicBezTo>
                  <a:cubicBezTo>
                    <a:pt x="4663017" y="496570"/>
                    <a:pt x="4651587" y="504190"/>
                    <a:pt x="4631267" y="510540"/>
                  </a:cubicBezTo>
                  <a:cubicBezTo>
                    <a:pt x="4603327" y="521970"/>
                    <a:pt x="4571577" y="532130"/>
                    <a:pt x="4523317" y="530860"/>
                  </a:cubicBezTo>
                  <a:cubicBezTo>
                    <a:pt x="4431877" y="528320"/>
                    <a:pt x="4142317" y="508000"/>
                    <a:pt x="4119457" y="439420"/>
                  </a:cubicBezTo>
                  <a:cubicBezTo>
                    <a:pt x="4095327" y="367030"/>
                    <a:pt x="4431877" y="151130"/>
                    <a:pt x="4419177" y="93980"/>
                  </a:cubicBezTo>
                  <a:cubicBezTo>
                    <a:pt x="4412827" y="67310"/>
                    <a:pt x="4320117" y="58420"/>
                    <a:pt x="4321387" y="52070"/>
                  </a:cubicBezTo>
                  <a:cubicBezTo>
                    <a:pt x="4323927" y="43180"/>
                    <a:pt x="4490297" y="62230"/>
                    <a:pt x="4551257" y="74930"/>
                  </a:cubicBezTo>
                  <a:cubicBezTo>
                    <a:pt x="4594437" y="82550"/>
                    <a:pt x="4626187" y="88900"/>
                    <a:pt x="4656667" y="106680"/>
                  </a:cubicBezTo>
                  <a:cubicBezTo>
                    <a:pt x="4685877" y="125730"/>
                    <a:pt x="4716357" y="160020"/>
                    <a:pt x="4734137" y="184150"/>
                  </a:cubicBezTo>
                  <a:cubicBezTo>
                    <a:pt x="4745567" y="201930"/>
                    <a:pt x="4750647" y="214630"/>
                    <a:pt x="4755727" y="234950"/>
                  </a:cubicBezTo>
                  <a:cubicBezTo>
                    <a:pt x="4763347" y="264160"/>
                    <a:pt x="4769697" y="308610"/>
                    <a:pt x="4762077" y="344170"/>
                  </a:cubicBezTo>
                  <a:cubicBezTo>
                    <a:pt x="4755727" y="378460"/>
                    <a:pt x="4734137" y="419100"/>
                    <a:pt x="4717627" y="443230"/>
                  </a:cubicBezTo>
                  <a:cubicBezTo>
                    <a:pt x="4706197" y="461010"/>
                    <a:pt x="4693497" y="471170"/>
                    <a:pt x="4678257" y="482600"/>
                  </a:cubicBezTo>
                  <a:cubicBezTo>
                    <a:pt x="4664287" y="494030"/>
                    <a:pt x="4651587" y="504190"/>
                    <a:pt x="4631267" y="510540"/>
                  </a:cubicBezTo>
                  <a:cubicBezTo>
                    <a:pt x="4603327" y="521970"/>
                    <a:pt x="4584277" y="525780"/>
                    <a:pt x="4523317" y="530860"/>
                  </a:cubicBezTo>
                  <a:cubicBezTo>
                    <a:pt x="4204547" y="558800"/>
                    <a:pt x="2327487" y="525780"/>
                    <a:pt x="1501987" y="509270"/>
                  </a:cubicBezTo>
                  <a:cubicBezTo>
                    <a:pt x="927947" y="497840"/>
                    <a:pt x="219287" y="642620"/>
                    <a:pt x="44027" y="461010"/>
                  </a:cubicBezTo>
                  <a:cubicBezTo>
                    <a:pt x="-55033" y="359410"/>
                    <a:pt x="44027" y="0"/>
                    <a:pt x="44027" y="0"/>
                  </a:cubicBezTo>
                </a:path>
              </a:pathLst>
            </a:custGeom>
            <a:solidFill>
              <a:srgbClr val="FFF234">
                <a:alpha val="24706"/>
              </a:srgbClr>
            </a:solidFill>
            <a:ln cap="sq">
              <a:noFill/>
              <a:prstDash val="solid"/>
              <a:miter/>
            </a:ln>
          </p:spPr>
        </p:sp>
      </p:grpSp>
      <p:grpSp>
        <p:nvGrpSpPr>
          <p:cNvPr name="Group 11" id="11"/>
          <p:cNvGrpSpPr/>
          <p:nvPr/>
        </p:nvGrpSpPr>
        <p:grpSpPr>
          <a:xfrm rot="0">
            <a:off x="3414712" y="1412558"/>
            <a:ext cx="3478530" cy="422910"/>
            <a:chOff x="0" y="0"/>
            <a:chExt cx="4638040" cy="563880"/>
          </a:xfrm>
        </p:grpSpPr>
        <p:sp>
          <p:nvSpPr>
            <p:cNvPr name="Freeform 12" id="12"/>
            <p:cNvSpPr/>
            <p:nvPr/>
          </p:nvSpPr>
          <p:spPr>
            <a:xfrm flipH="false" flipV="false" rot="0">
              <a:off x="-1129" y="50800"/>
              <a:ext cx="4616431" cy="734073"/>
            </a:xfrm>
            <a:custGeom>
              <a:avLst/>
              <a:gdLst/>
              <a:ahLst/>
              <a:cxnLst/>
              <a:rect r="r" b="b" t="t" l="l"/>
              <a:pathLst>
                <a:path h="734073" w="4616431">
                  <a:moveTo>
                    <a:pt x="51929" y="0"/>
                  </a:moveTo>
                  <a:cubicBezTo>
                    <a:pt x="4702669" y="115570"/>
                    <a:pt x="4702669" y="341630"/>
                    <a:pt x="4587099" y="457200"/>
                  </a:cubicBezTo>
                  <a:cubicBezTo>
                    <a:pt x="4222609" y="822960"/>
                    <a:pt x="417689" y="828040"/>
                    <a:pt x="51929" y="462280"/>
                  </a:cubicBezTo>
                  <a:cubicBezTo>
                    <a:pt x="-64911" y="345440"/>
                    <a:pt x="51929" y="0"/>
                    <a:pt x="51929" y="0"/>
                  </a:cubicBezTo>
                </a:path>
              </a:pathLst>
            </a:custGeom>
            <a:solidFill>
              <a:srgbClr val="FFF234">
                <a:alpha val="24706"/>
              </a:srgbClr>
            </a:solidFill>
            <a:ln cap="sq">
              <a:noFill/>
              <a:prstDash val="solid"/>
              <a:miter/>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5" id="5"/>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6" id="6"/>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TextBox 7" id="7"/>
          <p:cNvSpPr txBox="true"/>
          <p:nvPr/>
        </p:nvSpPr>
        <p:spPr>
          <a:xfrm rot="0">
            <a:off x="708907" y="1892418"/>
            <a:ext cx="5213507" cy="1028700"/>
          </a:xfrm>
          <a:prstGeom prst="rect">
            <a:avLst/>
          </a:prstGeom>
        </p:spPr>
        <p:txBody>
          <a:bodyPr anchor="t" rtlCol="false" tIns="0" lIns="0" bIns="0" rIns="0">
            <a:spAutoFit/>
          </a:bodyPr>
          <a:lstStyle/>
          <a:p>
            <a:pPr algn="ctr">
              <a:lnSpc>
                <a:spcPts val="8400"/>
              </a:lnSpc>
            </a:pPr>
            <a:r>
              <a:rPr lang="en-US" b="true" sz="6000">
                <a:solidFill>
                  <a:srgbClr val="12100E"/>
                </a:solidFill>
                <a:latin typeface="Canva Sans Bold"/>
                <a:ea typeface="Canva Sans Bold"/>
                <a:cs typeface="Canva Sans Bold"/>
                <a:sym typeface="Canva Sans Bold"/>
              </a:rPr>
              <a:t>Data (so far)</a:t>
            </a:r>
          </a:p>
        </p:txBody>
      </p:sp>
      <p:sp>
        <p:nvSpPr>
          <p:cNvPr name="TextBox 8" id="8"/>
          <p:cNvSpPr txBox="true"/>
          <p:nvPr/>
        </p:nvSpPr>
        <p:spPr>
          <a:xfrm rot="0">
            <a:off x="1028700" y="3027398"/>
            <a:ext cx="15433865" cy="815340"/>
          </a:xfrm>
          <a:prstGeom prst="rect">
            <a:avLst/>
          </a:prstGeom>
        </p:spPr>
        <p:txBody>
          <a:bodyPr anchor="t" rtlCol="false" tIns="0" lIns="0" bIns="0" rIns="0">
            <a:spAutoFit/>
          </a:bodyPr>
          <a:lstStyle/>
          <a:p>
            <a:pPr algn="l">
              <a:lnSpc>
                <a:spcPts val="3359"/>
              </a:lnSpc>
              <a:spcBef>
                <a:spcPct val="0"/>
              </a:spcBef>
            </a:pPr>
            <a:r>
              <a:rPr lang="en-US" sz="2400">
                <a:solidFill>
                  <a:srgbClr val="12100E"/>
                </a:solidFill>
                <a:latin typeface="Canva Sans"/>
                <a:ea typeface="Canva Sans"/>
                <a:cs typeface="Canva Sans"/>
                <a:sym typeface="Canva Sans"/>
              </a:rPr>
              <a:t>Micr</a:t>
            </a:r>
            <a:r>
              <a:rPr lang="en-US" sz="2400">
                <a:solidFill>
                  <a:srgbClr val="12100E"/>
                </a:solidFill>
                <a:latin typeface="Canva Sans"/>
                <a:ea typeface="Canva Sans"/>
                <a:cs typeface="Canva Sans"/>
                <a:sym typeface="Canva Sans"/>
              </a:rPr>
              <a:t>oscopy images with instance-segmentation masks, shared via THWS Cloud, in four groups by species and modality.</a:t>
            </a:r>
          </a:p>
        </p:txBody>
      </p:sp>
      <p:graphicFrame>
        <p:nvGraphicFramePr>
          <p:cNvPr name="Table 9" id="9"/>
          <p:cNvGraphicFramePr>
            <a:graphicFrameLocks noGrp="true"/>
          </p:cNvGraphicFramePr>
          <p:nvPr/>
        </p:nvGraphicFramePr>
        <p:xfrm>
          <a:off x="1028700" y="4146764"/>
          <a:ext cx="15433865" cy="4731133"/>
        </p:xfrm>
        <a:graphic>
          <a:graphicData uri="http://schemas.openxmlformats.org/drawingml/2006/table">
            <a:tbl>
              <a:tblPr/>
              <a:tblGrid>
                <a:gridCol w="3086773"/>
                <a:gridCol w="3086773"/>
                <a:gridCol w="3086773"/>
                <a:gridCol w="3086773"/>
                <a:gridCol w="3086773"/>
              </a:tblGrid>
              <a:tr h="946227">
                <a:tc>
                  <a:txBody>
                    <a:bodyPr anchor="t" rtlCol="false"/>
                    <a:lstStyle/>
                    <a:p>
                      <a:pPr algn="l">
                        <a:lnSpc>
                          <a:spcPts val="3080"/>
                        </a:lnSpc>
                        <a:defRPr/>
                      </a:pPr>
                      <a:r>
                        <a:rPr lang="en-US" sz="2200" b="true">
                          <a:solidFill>
                            <a:srgbClr val="FFFFFF"/>
                          </a:solidFill>
                          <a:latin typeface="Canva Sans Medium"/>
                          <a:ea typeface="Canva Sans Medium"/>
                          <a:cs typeface="Canva Sans Medium"/>
                          <a:sym typeface="Canva Sans Medium"/>
                        </a:rPr>
                        <a:t>Group</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0A2240"/>
                    </a:solidFill>
                  </a:tcPr>
                </a:tc>
                <a:tc>
                  <a:txBody>
                    <a:bodyPr anchor="t" rtlCol="false"/>
                    <a:lstStyle/>
                    <a:p>
                      <a:pPr algn="l">
                        <a:lnSpc>
                          <a:spcPts val="3080"/>
                        </a:lnSpc>
                        <a:defRPr/>
                      </a:pPr>
                      <a:r>
                        <a:rPr lang="en-US" sz="2200" b="true">
                          <a:solidFill>
                            <a:srgbClr val="FFFFFF"/>
                          </a:solidFill>
                          <a:latin typeface="Canva Sans Medium"/>
                          <a:ea typeface="Canva Sans Medium"/>
                          <a:cs typeface="Canva Sans Medium"/>
                          <a:sym typeface="Canva Sans Medium"/>
                        </a:rPr>
                        <a:t>Pairs</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0A2240"/>
                    </a:solidFill>
                  </a:tcPr>
                </a:tc>
                <a:tc>
                  <a:txBody>
                    <a:bodyPr anchor="t" rtlCol="false"/>
                    <a:lstStyle/>
                    <a:p>
                      <a:pPr algn="l">
                        <a:lnSpc>
                          <a:spcPts val="3080"/>
                        </a:lnSpc>
                        <a:defRPr/>
                      </a:pPr>
                      <a:r>
                        <a:rPr lang="en-US" sz="2200" b="true">
                          <a:solidFill>
                            <a:srgbClr val="FFFFFF"/>
                          </a:solidFill>
                          <a:latin typeface="Canva Sans Medium"/>
                          <a:ea typeface="Canva Sans Medium"/>
                          <a:cs typeface="Canva Sans Medium"/>
                          <a:sym typeface="Canva Sans Medium"/>
                        </a:rPr>
                        <a:t>Image format</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0A2240"/>
                    </a:solidFill>
                  </a:tcPr>
                </a:tc>
                <a:tc>
                  <a:txBody>
                    <a:bodyPr anchor="t" rtlCol="false"/>
                    <a:lstStyle/>
                    <a:p>
                      <a:pPr algn="l">
                        <a:lnSpc>
                          <a:spcPts val="3080"/>
                        </a:lnSpc>
                        <a:defRPr/>
                      </a:pPr>
                      <a:r>
                        <a:rPr lang="en-US" sz="2200" b="true">
                          <a:solidFill>
                            <a:srgbClr val="FFFFFF"/>
                          </a:solidFill>
                          <a:latin typeface="Canva Sans Medium"/>
                          <a:ea typeface="Canva Sans Medium"/>
                          <a:cs typeface="Canva Sans Medium"/>
                          <a:sym typeface="Canva Sans Medium"/>
                        </a:rPr>
                        <a:t>Mask format</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0A2240"/>
                    </a:solidFill>
                  </a:tcPr>
                </a:tc>
                <a:tc>
                  <a:txBody>
                    <a:bodyPr anchor="t" rtlCol="false"/>
                    <a:lstStyle/>
                    <a:p>
                      <a:pPr algn="l">
                        <a:lnSpc>
                          <a:spcPts val="3080"/>
                        </a:lnSpc>
                        <a:defRPr/>
                      </a:pPr>
                      <a:r>
                        <a:rPr lang="en-US" sz="2200" b="true">
                          <a:solidFill>
                            <a:srgbClr val="FFFFFF"/>
                          </a:solidFill>
                          <a:latin typeface="Canva Sans Medium"/>
                          <a:ea typeface="Canva Sans Medium"/>
                          <a:cs typeface="Canva Sans Medium"/>
                          <a:sym typeface="Canva Sans Medium"/>
                        </a:rPr>
                        <a:t>Resolution</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0A2240"/>
                    </a:solidFill>
                  </a:tcPr>
                </a:tc>
              </a:tr>
              <a:tr h="946227">
                <a:tc>
                  <a:txBody>
                    <a:bodyPr anchor="t" rtlCol="false"/>
                    <a:lstStyle/>
                    <a:p>
                      <a:pPr algn="l">
                        <a:lnSpc>
                          <a:spcPts val="3080"/>
                        </a:lnSpc>
                        <a:defRPr/>
                      </a:pPr>
                      <a:r>
                        <a:rPr lang="en-US" sz="2200">
                          <a:solidFill>
                            <a:srgbClr val="000000"/>
                          </a:solidFill>
                          <a:latin typeface="Canva Sans"/>
                          <a:ea typeface="Canva Sans"/>
                          <a:cs typeface="Canva Sans"/>
                          <a:sym typeface="Canva Sans"/>
                        </a:rPr>
                        <a:t>Training_human_bf</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15</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PNG</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TIF</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1920 × 1080</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r>
              <a:tr h="946227">
                <a:tc>
                  <a:txBody>
                    <a:bodyPr anchor="t" rtlCol="false"/>
                    <a:lstStyle/>
                    <a:p>
                      <a:pPr algn="l">
                        <a:lnSpc>
                          <a:spcPts val="3080"/>
                        </a:lnSpc>
                        <a:defRPr/>
                      </a:pPr>
                      <a:r>
                        <a:rPr lang="en-US" sz="2200">
                          <a:solidFill>
                            <a:srgbClr val="000000"/>
                          </a:solidFill>
                          <a:latin typeface="Canva Sans"/>
                          <a:ea typeface="Canva Sans"/>
                          <a:cs typeface="Canva Sans"/>
                          <a:sym typeface="Canva Sans"/>
                        </a:rPr>
                        <a:t>Training_human_ph</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11</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TIF</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TIF</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1408 × 1040</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r>
              <a:tr h="946227">
                <a:tc>
                  <a:txBody>
                    <a:bodyPr anchor="t" rtlCol="false"/>
                    <a:lstStyle/>
                    <a:p>
                      <a:pPr algn="l">
                        <a:lnSpc>
                          <a:spcPts val="3080"/>
                        </a:lnSpc>
                        <a:defRPr/>
                      </a:pPr>
                      <a:r>
                        <a:rPr lang="en-US" sz="2200">
                          <a:solidFill>
                            <a:srgbClr val="000000"/>
                          </a:solidFill>
                          <a:latin typeface="Canva Sans"/>
                          <a:ea typeface="Canva Sans"/>
                          <a:cs typeface="Canva Sans"/>
                          <a:sym typeface="Canva Sans"/>
                        </a:rPr>
                        <a:t>Training_porcine_bf</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28</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PNG</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TIF/TIFF/PNG</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1920 × 1080</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r>
              <a:tr h="946227">
                <a:tc>
                  <a:txBody>
                    <a:bodyPr anchor="t" rtlCol="false"/>
                    <a:lstStyle/>
                    <a:p>
                      <a:pPr algn="l">
                        <a:lnSpc>
                          <a:spcPts val="3080"/>
                        </a:lnSpc>
                        <a:defRPr/>
                      </a:pPr>
                      <a:r>
                        <a:rPr lang="en-US" sz="2200">
                          <a:solidFill>
                            <a:srgbClr val="000000"/>
                          </a:solidFill>
                          <a:latin typeface="Canva Sans"/>
                          <a:ea typeface="Canva Sans"/>
                          <a:cs typeface="Canva Sans"/>
                          <a:sym typeface="Canva Sans"/>
                        </a:rPr>
                        <a:t>Training_porcine_ph</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ctr">
                        <a:lnSpc>
                          <a:spcPts val="3080"/>
                        </a:lnSpc>
                        <a:defRPr/>
                      </a:pPr>
                      <a:r>
                        <a:rPr lang="en-US" sz="2200">
                          <a:solidFill>
                            <a:srgbClr val="000000"/>
                          </a:solidFill>
                          <a:latin typeface="Canva Sans"/>
                          <a:ea typeface="Canva Sans"/>
                          <a:cs typeface="Canva Sans"/>
                          <a:sym typeface="Canva Sans"/>
                        </a:rPr>
                        <a:t>25</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PNG</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TIF/TIFF</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l">
                        <a:lnSpc>
                          <a:spcPts val="3080"/>
                        </a:lnSpc>
                        <a:defRPr/>
                      </a:pPr>
                      <a:r>
                        <a:rPr lang="en-US" sz="2200">
                          <a:solidFill>
                            <a:srgbClr val="000000"/>
                          </a:solidFill>
                          <a:latin typeface="Canva Sans"/>
                          <a:ea typeface="Canva Sans"/>
                          <a:cs typeface="Canva Sans"/>
                          <a:sym typeface="Canva Sans"/>
                        </a:rPr>
                        <a:t>1408 × 1040</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r>
            </a:tbl>
          </a:graphicData>
        </a:graphic>
      </p:graphicFrame>
      <p:sp>
        <p:nvSpPr>
          <p:cNvPr name="TextBox 10" id="10"/>
          <p:cNvSpPr txBox="true"/>
          <p:nvPr/>
        </p:nvSpPr>
        <p:spPr>
          <a:xfrm rot="0">
            <a:off x="4309288" y="9201461"/>
            <a:ext cx="7828583"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2100E"/>
                </a:solidFill>
                <a:latin typeface="Canva Sans Bold"/>
                <a:ea typeface="Canva Sans Bold"/>
                <a:cs typeface="Canva Sans Bold"/>
                <a:sym typeface="Canva Sans Bold"/>
              </a:rPr>
              <a:t>Total Images so far: 79 (NEED </a:t>
            </a:r>
            <a:r>
              <a:rPr lang="en-US" b="true" sz="3000">
                <a:solidFill>
                  <a:srgbClr val="FF3131"/>
                </a:solidFill>
                <a:latin typeface="Canva Sans Bold"/>
                <a:ea typeface="Canva Sans Bold"/>
                <a:cs typeface="Canva Sans Bold"/>
                <a:sym typeface="Canva Sans Bold"/>
              </a:rPr>
              <a:t>MORE</a:t>
            </a:r>
            <a:r>
              <a:rPr lang="en-US" b="true" sz="3000">
                <a:solidFill>
                  <a:srgbClr val="12100E"/>
                </a:solidFill>
                <a:latin typeface="Canva Sans Bold"/>
                <a:ea typeface="Canva Sans Bold"/>
                <a:cs typeface="Canva Sans Bold"/>
                <a:sym typeface="Canva Sans Bold"/>
              </a:rPr>
              <a:t> DATA)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Freeform 5" id="5"/>
          <p:cNvSpPr/>
          <p:nvPr/>
        </p:nvSpPr>
        <p:spPr>
          <a:xfrm flipH="false" flipV="false" rot="0">
            <a:off x="708907" y="2129111"/>
            <a:ext cx="10155348" cy="2891997"/>
          </a:xfrm>
          <a:custGeom>
            <a:avLst/>
            <a:gdLst/>
            <a:ahLst/>
            <a:cxnLst/>
            <a:rect r="r" b="b" t="t" l="l"/>
            <a:pathLst>
              <a:path h="2891997" w="10155348">
                <a:moveTo>
                  <a:pt x="0" y="0"/>
                </a:moveTo>
                <a:lnTo>
                  <a:pt x="10155348" y="0"/>
                </a:lnTo>
                <a:lnTo>
                  <a:pt x="10155348" y="2891996"/>
                </a:lnTo>
                <a:lnTo>
                  <a:pt x="0" y="2891996"/>
                </a:lnTo>
                <a:lnTo>
                  <a:pt x="0" y="0"/>
                </a:lnTo>
                <a:close/>
              </a:path>
            </a:pathLst>
          </a:custGeom>
          <a:blipFill>
            <a:blip r:embed="rId4"/>
            <a:stretch>
              <a:fillRect l="-751" t="0" r="0" b="-17856"/>
            </a:stretch>
          </a:blipFill>
        </p:spPr>
      </p:sp>
      <p:sp>
        <p:nvSpPr>
          <p:cNvPr name="Freeform 6" id="6"/>
          <p:cNvSpPr/>
          <p:nvPr/>
        </p:nvSpPr>
        <p:spPr>
          <a:xfrm flipH="false" flipV="false" rot="0">
            <a:off x="7822765" y="5413536"/>
            <a:ext cx="9771537" cy="2998446"/>
          </a:xfrm>
          <a:custGeom>
            <a:avLst/>
            <a:gdLst/>
            <a:ahLst/>
            <a:cxnLst/>
            <a:rect r="r" b="b" t="t" l="l"/>
            <a:pathLst>
              <a:path h="2998446" w="9771537">
                <a:moveTo>
                  <a:pt x="0" y="0"/>
                </a:moveTo>
                <a:lnTo>
                  <a:pt x="9771537" y="0"/>
                </a:lnTo>
                <a:lnTo>
                  <a:pt x="9771537" y="2998447"/>
                </a:lnTo>
                <a:lnTo>
                  <a:pt x="0" y="2998447"/>
                </a:lnTo>
                <a:lnTo>
                  <a:pt x="0" y="0"/>
                </a:lnTo>
                <a:close/>
              </a:path>
            </a:pathLst>
          </a:custGeom>
          <a:blipFill>
            <a:blip r:embed="rId5"/>
            <a:stretch>
              <a:fillRect l="-247" t="0" r="0" b="-8830"/>
            </a:stretch>
          </a:blipFill>
        </p:spPr>
      </p:sp>
      <p:sp>
        <p:nvSpPr>
          <p:cNvPr name="TextBox 7" id="7"/>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8" id="8"/>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TextBox 9" id="9"/>
          <p:cNvSpPr txBox="true"/>
          <p:nvPr/>
        </p:nvSpPr>
        <p:spPr>
          <a:xfrm rot="0">
            <a:off x="4281270" y="5116357"/>
            <a:ext cx="2103760" cy="297179"/>
          </a:xfrm>
          <a:prstGeom prst="rect">
            <a:avLst/>
          </a:prstGeom>
        </p:spPr>
        <p:txBody>
          <a:bodyPr anchor="t" rtlCol="false" tIns="0" lIns="0" bIns="0" rIns="0">
            <a:spAutoFit/>
          </a:bodyPr>
          <a:lstStyle/>
          <a:p>
            <a:pPr algn="ctr">
              <a:lnSpc>
                <a:spcPts val="2520"/>
              </a:lnSpc>
            </a:pPr>
            <a:r>
              <a:rPr lang="en-US" sz="1800">
                <a:solidFill>
                  <a:srgbClr val="12100E"/>
                </a:solidFill>
                <a:latin typeface="Canva Sans"/>
                <a:ea typeface="Canva Sans"/>
                <a:cs typeface="Canva Sans"/>
                <a:sym typeface="Canva Sans"/>
              </a:rPr>
              <a:t>Training_Human_bf</a:t>
            </a:r>
          </a:p>
        </p:txBody>
      </p:sp>
      <p:sp>
        <p:nvSpPr>
          <p:cNvPr name="TextBox 10" id="10"/>
          <p:cNvSpPr txBox="true"/>
          <p:nvPr/>
        </p:nvSpPr>
        <p:spPr>
          <a:xfrm rot="0">
            <a:off x="12203797" y="8762025"/>
            <a:ext cx="2157785" cy="297179"/>
          </a:xfrm>
          <a:prstGeom prst="rect">
            <a:avLst/>
          </a:prstGeom>
        </p:spPr>
        <p:txBody>
          <a:bodyPr anchor="t" rtlCol="false" tIns="0" lIns="0" bIns="0" rIns="0">
            <a:spAutoFit/>
          </a:bodyPr>
          <a:lstStyle/>
          <a:p>
            <a:pPr algn="ctr">
              <a:lnSpc>
                <a:spcPts val="2520"/>
              </a:lnSpc>
            </a:pPr>
            <a:r>
              <a:rPr lang="en-US" sz="1800">
                <a:solidFill>
                  <a:srgbClr val="12100E"/>
                </a:solidFill>
                <a:latin typeface="Canva Sans"/>
                <a:ea typeface="Canva Sans"/>
                <a:cs typeface="Canva Sans"/>
                <a:sym typeface="Canva Sans"/>
              </a:rPr>
              <a:t>Training_Human_ph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Freeform 5" id="5"/>
          <p:cNvSpPr/>
          <p:nvPr/>
        </p:nvSpPr>
        <p:spPr>
          <a:xfrm flipH="false" flipV="false" rot="0">
            <a:off x="708907" y="2223139"/>
            <a:ext cx="10028336" cy="2757300"/>
          </a:xfrm>
          <a:custGeom>
            <a:avLst/>
            <a:gdLst/>
            <a:ahLst/>
            <a:cxnLst/>
            <a:rect r="r" b="b" t="t" l="l"/>
            <a:pathLst>
              <a:path h="2757300" w="10028336">
                <a:moveTo>
                  <a:pt x="0" y="0"/>
                </a:moveTo>
                <a:lnTo>
                  <a:pt x="10028336" y="0"/>
                </a:lnTo>
                <a:lnTo>
                  <a:pt x="10028336" y="2757300"/>
                </a:lnTo>
                <a:lnTo>
                  <a:pt x="0" y="2757300"/>
                </a:lnTo>
                <a:lnTo>
                  <a:pt x="0" y="0"/>
                </a:lnTo>
                <a:close/>
              </a:path>
            </a:pathLst>
          </a:custGeom>
          <a:blipFill>
            <a:blip r:embed="rId4"/>
            <a:stretch>
              <a:fillRect l="-138" t="0" r="0" b="-21326"/>
            </a:stretch>
          </a:blipFill>
        </p:spPr>
      </p:sp>
      <p:sp>
        <p:nvSpPr>
          <p:cNvPr name="Freeform 6" id="6"/>
          <p:cNvSpPr/>
          <p:nvPr/>
        </p:nvSpPr>
        <p:spPr>
          <a:xfrm flipH="false" flipV="false" rot="0">
            <a:off x="7250349" y="5538996"/>
            <a:ext cx="10008951" cy="3028037"/>
          </a:xfrm>
          <a:custGeom>
            <a:avLst/>
            <a:gdLst/>
            <a:ahLst/>
            <a:cxnLst/>
            <a:rect r="r" b="b" t="t" l="l"/>
            <a:pathLst>
              <a:path h="3028037" w="10008951">
                <a:moveTo>
                  <a:pt x="0" y="0"/>
                </a:moveTo>
                <a:lnTo>
                  <a:pt x="10008951" y="0"/>
                </a:lnTo>
                <a:lnTo>
                  <a:pt x="10008951" y="3028037"/>
                </a:lnTo>
                <a:lnTo>
                  <a:pt x="0" y="3028037"/>
                </a:lnTo>
                <a:lnTo>
                  <a:pt x="0" y="0"/>
                </a:lnTo>
                <a:close/>
              </a:path>
            </a:pathLst>
          </a:custGeom>
          <a:blipFill>
            <a:blip r:embed="rId5"/>
            <a:stretch>
              <a:fillRect l="0" t="0" r="0" b="-10112"/>
            </a:stretch>
          </a:blipFill>
        </p:spPr>
      </p:sp>
      <p:sp>
        <p:nvSpPr>
          <p:cNvPr name="TextBox 7" id="7"/>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8" id="8"/>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TextBox 9" id="9"/>
          <p:cNvSpPr txBox="true"/>
          <p:nvPr/>
        </p:nvSpPr>
        <p:spPr>
          <a:xfrm rot="0">
            <a:off x="3233170" y="5114925"/>
            <a:ext cx="2144018" cy="297179"/>
          </a:xfrm>
          <a:prstGeom prst="rect">
            <a:avLst/>
          </a:prstGeom>
        </p:spPr>
        <p:txBody>
          <a:bodyPr anchor="t" rtlCol="false" tIns="0" lIns="0" bIns="0" rIns="0">
            <a:spAutoFit/>
          </a:bodyPr>
          <a:lstStyle/>
          <a:p>
            <a:pPr algn="ctr">
              <a:lnSpc>
                <a:spcPts val="2520"/>
              </a:lnSpc>
            </a:pPr>
            <a:r>
              <a:rPr lang="en-US" sz="1800">
                <a:solidFill>
                  <a:srgbClr val="12100E"/>
                </a:solidFill>
                <a:latin typeface="Canva Sans"/>
                <a:ea typeface="Canva Sans"/>
                <a:cs typeface="Canva Sans"/>
                <a:sym typeface="Canva Sans"/>
              </a:rPr>
              <a:t>Training_porcine_bf</a:t>
            </a:r>
          </a:p>
        </p:txBody>
      </p:sp>
      <p:sp>
        <p:nvSpPr>
          <p:cNvPr name="TextBox 10" id="10"/>
          <p:cNvSpPr txBox="true"/>
          <p:nvPr/>
        </p:nvSpPr>
        <p:spPr>
          <a:xfrm rot="0">
            <a:off x="11155803" y="8780963"/>
            <a:ext cx="2198043" cy="297179"/>
          </a:xfrm>
          <a:prstGeom prst="rect">
            <a:avLst/>
          </a:prstGeom>
        </p:spPr>
        <p:txBody>
          <a:bodyPr anchor="t" rtlCol="false" tIns="0" lIns="0" bIns="0" rIns="0">
            <a:spAutoFit/>
          </a:bodyPr>
          <a:lstStyle/>
          <a:p>
            <a:pPr algn="ctr">
              <a:lnSpc>
                <a:spcPts val="2520"/>
              </a:lnSpc>
            </a:pPr>
            <a:r>
              <a:rPr lang="en-US" sz="1800">
                <a:solidFill>
                  <a:srgbClr val="12100E"/>
                </a:solidFill>
                <a:latin typeface="Canva Sans"/>
                <a:ea typeface="Canva Sans"/>
                <a:cs typeface="Canva Sans"/>
                <a:sym typeface="Canva Sans"/>
              </a:rPr>
              <a:t>Training_porcine_ph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Freeform 5" id="5"/>
          <p:cNvSpPr/>
          <p:nvPr/>
        </p:nvSpPr>
        <p:spPr>
          <a:xfrm flipH="false" flipV="false" rot="0">
            <a:off x="826381" y="5724059"/>
            <a:ext cx="4542582" cy="2555202"/>
          </a:xfrm>
          <a:custGeom>
            <a:avLst/>
            <a:gdLst/>
            <a:ahLst/>
            <a:cxnLst/>
            <a:rect r="r" b="b" t="t" l="l"/>
            <a:pathLst>
              <a:path h="2555202" w="4542582">
                <a:moveTo>
                  <a:pt x="0" y="0"/>
                </a:moveTo>
                <a:lnTo>
                  <a:pt x="4542581" y="0"/>
                </a:lnTo>
                <a:lnTo>
                  <a:pt x="4542581" y="2555202"/>
                </a:lnTo>
                <a:lnTo>
                  <a:pt x="0" y="2555202"/>
                </a:lnTo>
                <a:lnTo>
                  <a:pt x="0" y="0"/>
                </a:lnTo>
                <a:close/>
              </a:path>
            </a:pathLst>
          </a:custGeom>
          <a:blipFill>
            <a:blip r:embed="rId4"/>
            <a:stretch>
              <a:fillRect l="0" t="0" r="0" b="0"/>
            </a:stretch>
          </a:blipFill>
        </p:spPr>
      </p:sp>
      <p:sp>
        <p:nvSpPr>
          <p:cNvPr name="Freeform 6" id="6"/>
          <p:cNvSpPr/>
          <p:nvPr/>
        </p:nvSpPr>
        <p:spPr>
          <a:xfrm flipH="false" flipV="false" rot="0">
            <a:off x="6853368" y="5702300"/>
            <a:ext cx="4581264" cy="2576961"/>
          </a:xfrm>
          <a:custGeom>
            <a:avLst/>
            <a:gdLst/>
            <a:ahLst/>
            <a:cxnLst/>
            <a:rect r="r" b="b" t="t" l="l"/>
            <a:pathLst>
              <a:path h="2576961" w="4581264">
                <a:moveTo>
                  <a:pt x="0" y="0"/>
                </a:moveTo>
                <a:lnTo>
                  <a:pt x="4581264" y="0"/>
                </a:lnTo>
                <a:lnTo>
                  <a:pt x="4581264" y="2576961"/>
                </a:lnTo>
                <a:lnTo>
                  <a:pt x="0" y="2576961"/>
                </a:lnTo>
                <a:lnTo>
                  <a:pt x="0" y="0"/>
                </a:lnTo>
                <a:close/>
              </a:path>
            </a:pathLst>
          </a:custGeom>
          <a:blipFill>
            <a:blip r:embed="rId5"/>
            <a:stretch>
              <a:fillRect l="0" t="0" r="0" b="0"/>
            </a:stretch>
          </a:blipFill>
        </p:spPr>
      </p:sp>
      <p:sp>
        <p:nvSpPr>
          <p:cNvPr name="Freeform 7" id="7"/>
          <p:cNvSpPr/>
          <p:nvPr/>
        </p:nvSpPr>
        <p:spPr>
          <a:xfrm flipH="false" flipV="false" rot="0">
            <a:off x="12894229" y="5526422"/>
            <a:ext cx="4893937" cy="2752840"/>
          </a:xfrm>
          <a:custGeom>
            <a:avLst/>
            <a:gdLst/>
            <a:ahLst/>
            <a:cxnLst/>
            <a:rect r="r" b="b" t="t" l="l"/>
            <a:pathLst>
              <a:path h="2752840" w="4893937">
                <a:moveTo>
                  <a:pt x="0" y="0"/>
                </a:moveTo>
                <a:lnTo>
                  <a:pt x="4893937" y="0"/>
                </a:lnTo>
                <a:lnTo>
                  <a:pt x="4893937" y="2752839"/>
                </a:lnTo>
                <a:lnTo>
                  <a:pt x="0" y="2752839"/>
                </a:lnTo>
                <a:lnTo>
                  <a:pt x="0" y="0"/>
                </a:lnTo>
                <a:close/>
              </a:path>
            </a:pathLst>
          </a:custGeom>
          <a:blipFill>
            <a:blip r:embed="rId6"/>
            <a:stretch>
              <a:fillRect l="0" t="0" r="0" b="0"/>
            </a:stretch>
          </a:blipFill>
        </p:spPr>
      </p:sp>
      <p:sp>
        <p:nvSpPr>
          <p:cNvPr name="TextBox 8" id="8"/>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9" id="9"/>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TextBox 10" id="10"/>
          <p:cNvSpPr txBox="true"/>
          <p:nvPr/>
        </p:nvSpPr>
        <p:spPr>
          <a:xfrm rot="0">
            <a:off x="826381" y="1892418"/>
            <a:ext cx="7033989"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Data (Continued...)</a:t>
            </a:r>
          </a:p>
        </p:txBody>
      </p:sp>
      <p:sp>
        <p:nvSpPr>
          <p:cNvPr name="TextBox 11" id="11"/>
          <p:cNvSpPr txBox="true"/>
          <p:nvPr/>
        </p:nvSpPr>
        <p:spPr>
          <a:xfrm rot="0">
            <a:off x="826381" y="3284236"/>
            <a:ext cx="14171246" cy="1736725"/>
          </a:xfrm>
          <a:prstGeom prst="rect">
            <a:avLst/>
          </a:prstGeom>
        </p:spPr>
        <p:txBody>
          <a:bodyPr anchor="t" rtlCol="false" tIns="0" lIns="0" bIns="0" rIns="0">
            <a:spAutoFit/>
          </a:bodyPr>
          <a:lstStyle/>
          <a:p>
            <a:pPr algn="l">
              <a:lnSpc>
                <a:spcPts val="3499"/>
              </a:lnSpc>
            </a:pPr>
            <a:r>
              <a:rPr lang="en-US" sz="2499" spc="-99">
                <a:solidFill>
                  <a:srgbClr val="12100E"/>
                </a:solidFill>
                <a:latin typeface="Canva Sans"/>
                <a:ea typeface="Canva Sans"/>
                <a:cs typeface="Canva Sans"/>
                <a:sym typeface="Canva Sans"/>
              </a:rPr>
              <a:t>MASKS ARE SINGLE-CHANNEL INSTANCE-LABEL IMAGES.</a:t>
            </a:r>
          </a:p>
          <a:p>
            <a:pPr algn="l">
              <a:lnSpc>
                <a:spcPts val="3499"/>
              </a:lnSpc>
            </a:pPr>
          </a:p>
          <a:p>
            <a:pPr algn="l">
              <a:lnSpc>
                <a:spcPts val="3499"/>
              </a:lnSpc>
              <a:spcBef>
                <a:spcPct val="0"/>
              </a:spcBef>
            </a:pPr>
            <a:r>
              <a:rPr lang="en-US" sz="2499" spc="-99">
                <a:solidFill>
                  <a:srgbClr val="12100E"/>
                </a:solidFill>
                <a:latin typeface="Canva Sans"/>
                <a:ea typeface="Canva Sans"/>
                <a:cs typeface="Canva Sans"/>
                <a:sym typeface="Canva Sans"/>
              </a:rPr>
              <a:t>A 36 ADDITI</a:t>
            </a:r>
            <a:r>
              <a:rPr lang="en-US" sz="2499" spc="-99">
                <a:solidFill>
                  <a:srgbClr val="12100E"/>
                </a:solidFill>
                <a:latin typeface="Canva Sans"/>
                <a:ea typeface="Canva Sans"/>
                <a:cs typeface="Canva Sans"/>
                <a:sym typeface="Canva Sans"/>
              </a:rPr>
              <a:t>ONAL UNANNOTATED HUMAN BRIGHTFIELD IMAGES - COULD BE USED FOR PSEUDOLABELING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5" id="5"/>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6" id="6"/>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TextBox 7" id="7"/>
          <p:cNvSpPr txBox="true"/>
          <p:nvPr/>
        </p:nvSpPr>
        <p:spPr>
          <a:xfrm rot="0">
            <a:off x="826381" y="1892418"/>
            <a:ext cx="7033989"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Data (Continued...)</a:t>
            </a:r>
          </a:p>
        </p:txBody>
      </p:sp>
      <p:sp>
        <p:nvSpPr>
          <p:cNvPr name="TextBox 8" id="8"/>
          <p:cNvSpPr txBox="true"/>
          <p:nvPr/>
        </p:nvSpPr>
        <p:spPr>
          <a:xfrm rot="0">
            <a:off x="826381" y="3274711"/>
            <a:ext cx="15339987" cy="2359840"/>
          </a:xfrm>
          <a:prstGeom prst="rect">
            <a:avLst/>
          </a:prstGeom>
        </p:spPr>
        <p:txBody>
          <a:bodyPr anchor="t" rtlCol="false" tIns="0" lIns="0" bIns="0" rIns="0">
            <a:spAutoFit/>
          </a:bodyPr>
          <a:lstStyle/>
          <a:p>
            <a:pPr algn="l" marL="584264" indent="-292132" lvl="1">
              <a:lnSpc>
                <a:spcPts val="3788"/>
              </a:lnSpc>
              <a:buFont typeface="Arial"/>
              <a:buChar char="•"/>
            </a:pPr>
            <a:r>
              <a:rPr lang="en-US" sz="2706" spc="-108">
                <a:solidFill>
                  <a:srgbClr val="12100E"/>
                </a:solidFill>
                <a:latin typeface="Canva Sans"/>
                <a:ea typeface="Canva Sans"/>
                <a:cs typeface="Canva Sans"/>
                <a:sym typeface="Canva Sans"/>
              </a:rPr>
              <a:t>A REAL TIME DIFFERENTIATION DIMENSION EXISTS IN THE DATA.</a:t>
            </a:r>
          </a:p>
          <a:p>
            <a:pPr algn="l" marL="584264" indent="-292132" lvl="1">
              <a:lnSpc>
                <a:spcPts val="3788"/>
              </a:lnSpc>
              <a:buFont typeface="Arial"/>
              <a:buChar char="•"/>
            </a:pPr>
            <a:r>
              <a:rPr lang="en-US" sz="2706" spc="-108">
                <a:solidFill>
                  <a:srgbClr val="12100E"/>
                </a:solidFill>
                <a:latin typeface="Canva Sans"/>
                <a:ea typeface="Canva Sans"/>
                <a:cs typeface="Canva Sans"/>
                <a:sym typeface="Canva Sans"/>
              </a:rPr>
              <a:t>PORCINE PHASE-CONTRAST HAS DIFFERENTIATION DAY (E.G. 7-D0, 19-D14).</a:t>
            </a:r>
          </a:p>
          <a:p>
            <a:pPr algn="l" marL="584264" indent="-292132" lvl="1">
              <a:lnSpc>
                <a:spcPts val="3788"/>
              </a:lnSpc>
              <a:spcBef>
                <a:spcPct val="0"/>
              </a:spcBef>
              <a:buFont typeface="Arial"/>
              <a:buChar char="•"/>
            </a:pPr>
            <a:r>
              <a:rPr lang="en-US" sz="2706" spc="-108">
                <a:solidFill>
                  <a:srgbClr val="12100E"/>
                </a:solidFill>
                <a:latin typeface="Canva Sans"/>
                <a:ea typeface="Canva Sans"/>
                <a:cs typeface="Canva Sans"/>
                <a:sym typeface="Canva Sans"/>
              </a:rPr>
              <a:t>CELL COUNT CLIMBS SHARPLY OVER TIME: AS FEW AS 2 LABELED CELLS AT DAY 0, UP TO 325+ BY</a:t>
            </a:r>
            <a:r>
              <a:rPr lang="en-US" sz="2706" spc="-108">
                <a:solidFill>
                  <a:srgbClr val="12100E"/>
                </a:solidFill>
                <a:latin typeface="Canva Sans"/>
                <a:ea typeface="Canva Sans"/>
                <a:cs typeface="Canva Sans"/>
                <a:sym typeface="Canva Sans"/>
              </a:rPr>
              <a:t> DAY 14 IN ONE SERIES.</a:t>
            </a:r>
          </a:p>
          <a:p>
            <a:pPr algn="l" marL="584264" indent="-292132" lvl="1">
              <a:lnSpc>
                <a:spcPts val="3788"/>
              </a:lnSpc>
              <a:spcBef>
                <a:spcPct val="0"/>
              </a:spcBef>
              <a:buFont typeface="Arial"/>
              <a:buChar char="•"/>
            </a:pPr>
            <a:r>
              <a:rPr lang="en-US" sz="2706" spc="-108">
                <a:solidFill>
                  <a:srgbClr val="12100E"/>
                </a:solidFill>
                <a:latin typeface="Canva Sans"/>
                <a:ea typeface="Canva Sans"/>
                <a:cs typeface="Canva Sans"/>
                <a:sym typeface="Canva Sans"/>
              </a:rPr>
              <a:t>CLUSTERS FORMS OVER TIME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5" id="5"/>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6" id="6"/>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TextBox 7" id="7"/>
          <p:cNvSpPr txBox="true"/>
          <p:nvPr/>
        </p:nvSpPr>
        <p:spPr>
          <a:xfrm rot="0">
            <a:off x="0" y="1892418"/>
            <a:ext cx="12729382"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Data (New Data Uploaded...)</a:t>
            </a:r>
          </a:p>
        </p:txBody>
      </p:sp>
      <p:sp>
        <p:nvSpPr>
          <p:cNvPr name="TextBox 8" id="8"/>
          <p:cNvSpPr txBox="true"/>
          <p:nvPr/>
        </p:nvSpPr>
        <p:spPr>
          <a:xfrm rot="0">
            <a:off x="826381" y="3274711"/>
            <a:ext cx="15339987" cy="1417163"/>
          </a:xfrm>
          <a:prstGeom prst="rect">
            <a:avLst/>
          </a:prstGeom>
        </p:spPr>
        <p:txBody>
          <a:bodyPr anchor="t" rtlCol="false" tIns="0" lIns="0" bIns="0" rIns="0">
            <a:spAutoFit/>
          </a:bodyPr>
          <a:lstStyle/>
          <a:p>
            <a:pPr algn="l">
              <a:lnSpc>
                <a:spcPts val="3788"/>
              </a:lnSpc>
            </a:pPr>
            <a:r>
              <a:rPr lang="en-US" b="true" sz="2706" spc="-108">
                <a:solidFill>
                  <a:srgbClr val="12100E"/>
                </a:solidFill>
                <a:latin typeface="Canva Sans Bold"/>
                <a:ea typeface="Canva Sans Bold"/>
                <a:cs typeface="Canva Sans Bold"/>
                <a:sym typeface="Canva Sans Bold"/>
              </a:rPr>
              <a:t>UNANNOTATED DATA (FOR PSEUDO-LABELING)</a:t>
            </a:r>
          </a:p>
          <a:p>
            <a:pPr algn="l" marL="584264" indent="-292132" lvl="1">
              <a:lnSpc>
                <a:spcPts val="3788"/>
              </a:lnSpc>
              <a:buFont typeface="Arial"/>
              <a:buChar char="•"/>
            </a:pPr>
            <a:r>
              <a:rPr lang="en-US" sz="2706" spc="-108">
                <a:solidFill>
                  <a:srgbClr val="12100E"/>
                </a:solidFill>
                <a:latin typeface="Canva Sans"/>
                <a:ea typeface="Canva Sans"/>
                <a:cs typeface="Canva Sans"/>
                <a:sym typeface="Canva Sans"/>
              </a:rPr>
              <a:t>105 ADDITIONAL UNANNOTATED PORCINE BRIGHTFIELD IMAGES (1920×1080, PNG)</a:t>
            </a:r>
          </a:p>
          <a:p>
            <a:pPr algn="l" marL="584264" indent="-292132" lvl="1">
              <a:lnSpc>
                <a:spcPts val="3788"/>
              </a:lnSpc>
              <a:spcBef>
                <a:spcPct val="0"/>
              </a:spcBef>
              <a:buFont typeface="Arial"/>
              <a:buChar char="•"/>
            </a:pPr>
            <a:r>
              <a:rPr lang="en-US" sz="2706" spc="-108">
                <a:solidFill>
                  <a:srgbClr val="12100E"/>
                </a:solidFill>
                <a:latin typeface="Canva Sans"/>
                <a:ea typeface="Canva Sans"/>
                <a:cs typeface="Canva Sans"/>
                <a:sym typeface="Canva Sans"/>
              </a:rPr>
              <a:t>36 ADDITIONAL</a:t>
            </a:r>
            <a:r>
              <a:rPr lang="en-US" sz="2706" spc="-108">
                <a:solidFill>
                  <a:srgbClr val="12100E"/>
                </a:solidFill>
                <a:latin typeface="Canva Sans"/>
                <a:ea typeface="Canva Sans"/>
                <a:cs typeface="Canva Sans"/>
                <a:sym typeface="Canva Sans"/>
              </a:rPr>
              <a:t> UNANNOTATED HUMAN BRIGHTFIELD IMAGES (1920×1080, TIFF)</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881507" y="2794311"/>
            <a:ext cx="16230600" cy="8807450"/>
          </a:xfrm>
          <a:prstGeom prst="rect">
            <a:avLst/>
          </a:prstGeom>
        </p:spPr>
        <p:txBody>
          <a:bodyPr anchor="t" rtlCol="false" tIns="0" lIns="0" bIns="0" rIns="0">
            <a:spAutoFit/>
          </a:bodyPr>
          <a:lstStyle/>
          <a:p>
            <a:pPr algn="l">
              <a:lnSpc>
                <a:spcPts val="2800"/>
              </a:lnSpc>
              <a:spcBef>
                <a:spcPct val="0"/>
              </a:spcBef>
            </a:pPr>
            <a:r>
              <a:rPr lang="en-US" b="true" sz="2000" spc="-80">
                <a:solidFill>
                  <a:srgbClr val="12100E"/>
                </a:solidFill>
                <a:latin typeface="Canva Sans Bold"/>
                <a:ea typeface="Canva Sans Bold"/>
                <a:cs typeface="Canva Sans Bold"/>
                <a:sym typeface="Canva Sans Bold"/>
              </a:rPr>
              <a:t>SPECIES                                                         </a:t>
            </a:r>
            <a:r>
              <a:rPr lang="en-US" sz="2000" spc="-80">
                <a:solidFill>
                  <a:srgbClr val="12100E"/>
                </a:solidFill>
                <a:latin typeface="Canva Sans"/>
                <a:ea typeface="Canva Sans"/>
                <a:cs typeface="Canva Sans"/>
                <a:sym typeface="Canva Sans"/>
              </a:rPr>
              <a:t>PORCINE AND HUMAN BOTH IN SCOPE; PORCINE IS THE EASIER CASE.</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MIRCOSCOPY                                            </a:t>
            </a:r>
            <a:r>
              <a:rPr lang="en-US" sz="2000" spc="-80">
                <a:solidFill>
                  <a:srgbClr val="12100E"/>
                </a:solidFill>
                <a:latin typeface="Canva Sans"/>
                <a:ea typeface="Canva Sans"/>
                <a:cs typeface="Canva Sans"/>
                <a:sym typeface="Canva Sans"/>
              </a:rPr>
              <a:t>BRIGHTFIELD AND PHASE-CONTRAST BOTH IN SCOPE; NEITHER PRIORITIZED.</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PREPROCESSING                                    </a:t>
            </a:r>
            <a:r>
              <a:rPr lang="en-US" sz="2000" spc="-80">
                <a:solidFill>
                  <a:srgbClr val="12100E"/>
                </a:solidFill>
                <a:latin typeface="Canva Sans"/>
                <a:ea typeface="Canva Sans"/>
                <a:cs typeface="Canva Sans"/>
                <a:sym typeface="Canva Sans"/>
              </a:rPr>
              <a:t>NECESSARY, NOT OPTIONAL. (ILLUMINATION CORRECTION, CONTRAST ENHANCEMENT (E.G. CLAHE) AND INTENSITY      </a:t>
            </a:r>
          </a:p>
          <a:p>
            <a:pPr algn="l">
              <a:lnSpc>
                <a:spcPts val="2800"/>
              </a:lnSpc>
              <a:spcBef>
                <a:spcPct val="0"/>
              </a:spcBef>
            </a:pPr>
            <a:r>
              <a:rPr lang="en-US" sz="2000" spc="-80">
                <a:solidFill>
                  <a:srgbClr val="12100E"/>
                </a:solidFill>
                <a:latin typeface="Canva Sans"/>
                <a:ea typeface="Canva Sans"/>
                <a:cs typeface="Canva Sans"/>
                <a:sym typeface="Canva Sans"/>
              </a:rPr>
              <a:t>                                                                         NORMALISATION, AND CAREFUL DATA AUGMENTATION (GEOMETRIC TRANSFORMATIONS, INTENSITY JITTER,  </a:t>
            </a:r>
          </a:p>
          <a:p>
            <a:pPr algn="l">
              <a:lnSpc>
                <a:spcPts val="2800"/>
              </a:lnSpc>
              <a:spcBef>
                <a:spcPct val="0"/>
              </a:spcBef>
            </a:pPr>
            <a:r>
              <a:rPr lang="en-US" sz="2000" spc="-80">
                <a:solidFill>
                  <a:srgbClr val="12100E"/>
                </a:solidFill>
                <a:latin typeface="Canva Sans"/>
                <a:ea typeface="Canva Sans"/>
                <a:cs typeface="Canva Sans"/>
                <a:sym typeface="Canva Sans"/>
              </a:rPr>
              <a:t>                                                                          ELASTIC DEFORMATIONS)</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BASELINE MODELS                               </a:t>
            </a:r>
            <a:r>
              <a:rPr lang="en-US" sz="2000" spc="-80">
                <a:solidFill>
                  <a:srgbClr val="12100E"/>
                </a:solidFill>
                <a:latin typeface="Canva Sans"/>
                <a:ea typeface="Canva Sans"/>
                <a:cs typeface="Canva Sans"/>
                <a:sym typeface="Canva Sans"/>
              </a:rPr>
              <a:t>BASELINE MODEL: DINOCELL ONLY (NICOLE, EMAIL 1). IMES TESTED BOTH CELLPOSE-SAM AND DINOCELL, DECIDED </a:t>
            </a:r>
          </a:p>
          <a:p>
            <a:pPr algn="l">
              <a:lnSpc>
                <a:spcPts val="2800"/>
              </a:lnSpc>
              <a:spcBef>
                <a:spcPct val="0"/>
              </a:spcBef>
            </a:pPr>
            <a:r>
              <a:rPr lang="en-US" sz="2000" spc="-80">
                <a:solidFill>
                  <a:srgbClr val="12100E"/>
                </a:solidFill>
                <a:latin typeface="Canva Sans"/>
                <a:ea typeface="Canva Sans"/>
                <a:cs typeface="Canva Sans"/>
                <a:sym typeface="Canva Sans"/>
              </a:rPr>
              <a:t>                                                                         TO CONTINUE WITH DINOCELL ONLY.</a:t>
            </a:r>
          </a:p>
          <a:p>
            <a:pPr algn="l">
              <a:lnSpc>
                <a:spcPts val="2800"/>
              </a:lnSpc>
              <a:spcBef>
                <a:spcPct val="0"/>
              </a:spcBef>
            </a:pPr>
            <a:r>
              <a:rPr lang="en-US" sz="2000" spc="-80">
                <a:solidFill>
                  <a:srgbClr val="12100E"/>
                </a:solidFill>
                <a:latin typeface="Canva Sans"/>
                <a:ea typeface="Canva Sans"/>
                <a:cs typeface="Canva Sans"/>
                <a:sym typeface="Canva Sans"/>
              </a:rPr>
              <a:t>                                                                          CELLPOSE-SAM IS NO LONGER A BASELINE TO BEAT OR COMPARE AGAINST.</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MODELS TO EXPLORE                          </a:t>
            </a:r>
            <a:r>
              <a:rPr lang="en-US" sz="2000" spc="-80">
                <a:solidFill>
                  <a:srgbClr val="12100E"/>
                </a:solidFill>
                <a:latin typeface="Canva Sans"/>
                <a:ea typeface="Canva Sans"/>
                <a:cs typeface="Canva Sans"/>
                <a:sym typeface="Canva Sans"/>
              </a:rPr>
              <a:t>MICROSAM,, CELLSAM,, OWLV2,, SOWLV2,, OMNIPOSE,, MEDSAM,, SAM3-ADAPTER (OPTIONAL),, MEDICAL SAM3 </a:t>
            </a:r>
          </a:p>
          <a:p>
            <a:pPr algn="l">
              <a:lnSpc>
                <a:spcPts val="2800"/>
              </a:lnSpc>
              <a:spcBef>
                <a:spcPct val="0"/>
              </a:spcBef>
            </a:pPr>
            <a:r>
              <a:rPr lang="en-US" sz="2000" spc="-80">
                <a:solidFill>
                  <a:srgbClr val="12100E"/>
                </a:solidFill>
                <a:latin typeface="Canva Sans"/>
                <a:ea typeface="Canva Sans"/>
                <a:cs typeface="Canva Sans"/>
                <a:sym typeface="Canva Sans"/>
              </a:rPr>
              <a:t>                                                                         (OPTIONAL),, DBSCAN </a:t>
            </a: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                                                                         (ANY REPLACEMENT MUST BE OPEN-SOURCE AND INTEGRABLE INTO IMES'S APP NOT JUST A BENCHMARK WINNER.</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EVALUATION METRICS                        </a:t>
            </a:r>
            <a:r>
              <a:rPr lang="en-US" sz="2000" spc="-80">
                <a:solidFill>
                  <a:srgbClr val="12100E"/>
                </a:solidFill>
                <a:latin typeface="Canva Sans"/>
                <a:ea typeface="Canva Sans"/>
                <a:cs typeface="Canva Sans"/>
                <a:sym typeface="Canva Sans"/>
              </a:rPr>
              <a:t>NOT DECIDED YET (UPCOMING SLIDE)</a:t>
            </a:r>
          </a:p>
          <a:p>
            <a:pPr algn="l">
              <a:lnSpc>
                <a:spcPts val="2800"/>
              </a:lnSpc>
              <a:spcBef>
                <a:spcPct val="0"/>
              </a:spcBef>
            </a:pP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WHAT’S OUT</a:t>
            </a:r>
          </a:p>
          <a:p>
            <a:pPr algn="l" marL="431801" indent="-215900" lvl="1">
              <a:lnSpc>
                <a:spcPts val="2800"/>
              </a:lnSpc>
              <a:spcBef>
                <a:spcPct val="0"/>
              </a:spcBef>
              <a:buFont typeface="Arial"/>
              <a:buChar char="•"/>
            </a:pPr>
            <a:r>
              <a:rPr lang="en-US" b="true" sz="2000" spc="-80">
                <a:solidFill>
                  <a:srgbClr val="12100E"/>
                </a:solidFill>
                <a:latin typeface="Canva Sans Bold"/>
                <a:ea typeface="Canva Sans Bold"/>
                <a:cs typeface="Canva Sans Bold"/>
                <a:sym typeface="Canva Sans Bold"/>
              </a:rPr>
              <a:t>SAM3 TEXT PROMPT CAPABILITIES (ONLY SEGMENTATION IS NEEDED) - COULD BE TRIED IF TIME PERMITS</a:t>
            </a:r>
          </a:p>
        </p:txBody>
      </p:sp>
      <p:sp>
        <p:nvSpPr>
          <p:cNvPr name="TextBox 8" id="8"/>
          <p:cNvSpPr txBox="true"/>
          <p:nvPr/>
        </p:nvSpPr>
        <p:spPr>
          <a:xfrm rot="0">
            <a:off x="871982" y="1892418"/>
            <a:ext cx="10624468"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Scope:</a:t>
            </a:r>
            <a:r>
              <a:rPr lang="en-US" b="true" sz="6000">
                <a:solidFill>
                  <a:srgbClr val="12100E"/>
                </a:solidFill>
                <a:latin typeface="Canva Sans Bold"/>
                <a:ea typeface="Canva Sans Bold"/>
                <a:cs typeface="Canva Sans Bold"/>
                <a:sym typeface="Canva Sans Bold"/>
              </a:rPr>
              <a:t> What’s In, What’s Out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708907" y="1901943"/>
            <a:ext cx="15243721" cy="863600"/>
          </a:xfrm>
          <a:prstGeom prst="rect">
            <a:avLst/>
          </a:prstGeom>
        </p:spPr>
        <p:txBody>
          <a:bodyPr anchor="t" rtlCol="false" tIns="0" lIns="0" bIns="0" rIns="0">
            <a:spAutoFit/>
          </a:bodyPr>
          <a:lstStyle/>
          <a:p>
            <a:pPr algn="ctr">
              <a:lnSpc>
                <a:spcPts val="7000"/>
              </a:lnSpc>
            </a:pPr>
            <a:r>
              <a:rPr lang="en-US" sz="5000" b="true">
                <a:solidFill>
                  <a:srgbClr val="12100E"/>
                </a:solidFill>
                <a:latin typeface="Canva Sans Bold"/>
                <a:ea typeface="Canva Sans Bold"/>
                <a:cs typeface="Canva Sans Bold"/>
                <a:sym typeface="Canva Sans Bold"/>
              </a:rPr>
              <a:t>Recommen</a:t>
            </a:r>
            <a:r>
              <a:rPr lang="en-US" b="true" sz="5000">
                <a:solidFill>
                  <a:srgbClr val="12100E"/>
                </a:solidFill>
                <a:latin typeface="Canva Sans Bold"/>
                <a:ea typeface="Canva Sans Bold"/>
                <a:cs typeface="Canva Sans Bold"/>
                <a:sym typeface="Canva Sans Bold"/>
              </a:rPr>
              <a:t>ded Work Sequence - advised by IMES</a:t>
            </a:r>
          </a:p>
        </p:txBody>
      </p:sp>
      <p:sp>
        <p:nvSpPr>
          <p:cNvPr name="TextBox 8" id="8"/>
          <p:cNvSpPr txBox="true"/>
          <p:nvPr/>
        </p:nvSpPr>
        <p:spPr>
          <a:xfrm rot="0">
            <a:off x="708907" y="2717918"/>
            <a:ext cx="16550393" cy="5241925"/>
          </a:xfrm>
          <a:prstGeom prst="rect">
            <a:avLst/>
          </a:prstGeom>
        </p:spPr>
        <p:txBody>
          <a:bodyPr anchor="t" rtlCol="false" tIns="0" lIns="0" bIns="0" rIns="0">
            <a:spAutoFit/>
          </a:bodyPr>
          <a:lstStyle/>
          <a:p>
            <a:pPr algn="l" marL="539749" indent="-269875" lvl="1">
              <a:lnSpc>
                <a:spcPts val="3499"/>
              </a:lnSpc>
              <a:buFont typeface="Arial"/>
              <a:buChar char="•"/>
            </a:pPr>
            <a:r>
              <a:rPr lang="en-US" sz="2499" spc="-99">
                <a:solidFill>
                  <a:srgbClr val="12100E"/>
                </a:solidFill>
                <a:latin typeface="Canva Sans"/>
                <a:ea typeface="Canva Sans"/>
                <a:cs typeface="Canva Sans"/>
                <a:sym typeface="Canva Sans"/>
              </a:rPr>
              <a:t>Set up a rough draft milestones</a:t>
            </a:r>
          </a:p>
          <a:p>
            <a:pPr algn="l" marL="539749" indent="-269875" lvl="1">
              <a:lnSpc>
                <a:spcPts val="3499"/>
              </a:lnSpc>
              <a:buFont typeface="Arial"/>
              <a:buChar char="•"/>
            </a:pPr>
            <a:r>
              <a:rPr lang="en-US" sz="2499" spc="-99">
                <a:solidFill>
                  <a:srgbClr val="12100E"/>
                </a:solidFill>
                <a:latin typeface="Canva Sans"/>
                <a:ea typeface="Canva Sans"/>
                <a:cs typeface="Canva Sans"/>
                <a:sym typeface="Canva Sans"/>
              </a:rPr>
              <a:t>Data understanding</a:t>
            </a:r>
          </a:p>
          <a:p>
            <a:pPr algn="l" marL="539749" indent="-269875" lvl="1">
              <a:lnSpc>
                <a:spcPts val="3499"/>
              </a:lnSpc>
              <a:buFont typeface="Arial"/>
              <a:buChar char="•"/>
            </a:pPr>
            <a:r>
              <a:rPr lang="en-US" sz="2499" spc="-99">
                <a:solidFill>
                  <a:srgbClr val="12100E"/>
                </a:solidFill>
                <a:latin typeface="Canva Sans"/>
                <a:ea typeface="Canva Sans"/>
                <a:cs typeface="Canva Sans"/>
                <a:sym typeface="Canva Sans"/>
              </a:rPr>
              <a:t>Preprocessing of images</a:t>
            </a:r>
          </a:p>
          <a:p>
            <a:pPr algn="l" marL="539749" indent="-269875" lvl="1">
              <a:lnSpc>
                <a:spcPts val="3499"/>
              </a:lnSpc>
              <a:spcBef>
                <a:spcPct val="0"/>
              </a:spcBef>
              <a:buFont typeface="Arial"/>
              <a:buChar char="•"/>
            </a:pPr>
            <a:r>
              <a:rPr lang="en-US" sz="2499" spc="-99">
                <a:solidFill>
                  <a:srgbClr val="12100E"/>
                </a:solidFill>
                <a:latin typeface="Canva Sans"/>
                <a:ea typeface="Canva Sans"/>
                <a:cs typeface="Canva Sans"/>
                <a:sym typeface="Canva Sans"/>
              </a:rPr>
              <a:t>Determining evaluati</a:t>
            </a:r>
            <a:r>
              <a:rPr lang="en-US" sz="2499" spc="-99">
                <a:solidFill>
                  <a:srgbClr val="12100E"/>
                </a:solidFill>
                <a:latin typeface="Canva Sans"/>
                <a:ea typeface="Canva Sans"/>
                <a:cs typeface="Canva Sans"/>
                <a:sym typeface="Canva Sans"/>
              </a:rPr>
              <a:t>on metrics IMES already uses and what they agree upon.</a:t>
            </a:r>
          </a:p>
          <a:p>
            <a:pPr algn="l" marL="539749" indent="-269875" lvl="1">
              <a:lnSpc>
                <a:spcPts val="3499"/>
              </a:lnSpc>
              <a:spcBef>
                <a:spcPct val="0"/>
              </a:spcBef>
              <a:buFont typeface="Arial"/>
              <a:buChar char="•"/>
            </a:pPr>
            <a:r>
              <a:rPr lang="en-US" sz="2499" spc="-99">
                <a:solidFill>
                  <a:srgbClr val="12100E"/>
                </a:solidFill>
                <a:latin typeface="Canva Sans"/>
                <a:ea typeface="Canva Sans"/>
                <a:cs typeface="Canva Sans"/>
                <a:sym typeface="Canva Sans"/>
              </a:rPr>
              <a:t>Reproduce IMES’s own prior /Dinocell results as baseline.</a:t>
            </a:r>
          </a:p>
          <a:p>
            <a:pPr algn="l" marL="539749" indent="-269875" lvl="1">
              <a:lnSpc>
                <a:spcPts val="3499"/>
              </a:lnSpc>
              <a:spcBef>
                <a:spcPct val="0"/>
              </a:spcBef>
              <a:buFont typeface="Arial"/>
              <a:buChar char="•"/>
            </a:pPr>
            <a:r>
              <a:rPr lang="en-US" sz="2499" spc="-99">
                <a:solidFill>
                  <a:srgbClr val="12100E"/>
                </a:solidFill>
                <a:latin typeface="Canva Sans"/>
                <a:ea typeface="Canva Sans"/>
                <a:cs typeface="Canva Sans"/>
                <a:sym typeface="Canva Sans"/>
              </a:rPr>
              <a:t>Segment porcine cells first (the easier case, to establish a working pipeline.</a:t>
            </a:r>
          </a:p>
          <a:p>
            <a:pPr algn="l" marL="539749" indent="-269875" lvl="1">
              <a:lnSpc>
                <a:spcPts val="3499"/>
              </a:lnSpc>
              <a:spcBef>
                <a:spcPct val="0"/>
              </a:spcBef>
              <a:buFont typeface="Arial"/>
              <a:buChar char="•"/>
            </a:pPr>
            <a:r>
              <a:rPr lang="en-US" sz="2499" spc="-99">
                <a:solidFill>
                  <a:srgbClr val="12100E"/>
                </a:solidFill>
                <a:latin typeface="Canva Sans"/>
                <a:ea typeface="Canva Sans"/>
                <a:cs typeface="Canva Sans"/>
                <a:sym typeface="Canva Sans"/>
              </a:rPr>
              <a:t>Segment human cells (partial, high-confidence-only segmentation is acceptable.)</a:t>
            </a:r>
          </a:p>
          <a:p>
            <a:pPr algn="l">
              <a:lnSpc>
                <a:spcPts val="3499"/>
              </a:lnSpc>
              <a:spcBef>
                <a:spcPct val="0"/>
              </a:spcBef>
            </a:pPr>
          </a:p>
          <a:p>
            <a:pPr algn="l">
              <a:lnSpc>
                <a:spcPts val="3499"/>
              </a:lnSpc>
              <a:spcBef>
                <a:spcPct val="0"/>
              </a:spcBef>
            </a:pPr>
            <a:r>
              <a:rPr lang="en-US" b="true" sz="2499" spc="-99">
                <a:solidFill>
                  <a:srgbClr val="12100E"/>
                </a:solidFill>
                <a:latin typeface="Canva Sans Bold"/>
                <a:ea typeface="Canva Sans Bold"/>
                <a:cs typeface="Canva Sans Bold"/>
                <a:sym typeface="Canva Sans Bold"/>
              </a:rPr>
              <a:t>Additional Improvements</a:t>
            </a:r>
          </a:p>
          <a:p>
            <a:pPr algn="l" marL="539749" indent="-269875" lvl="1">
              <a:lnSpc>
                <a:spcPts val="3499"/>
              </a:lnSpc>
              <a:spcBef>
                <a:spcPct val="0"/>
              </a:spcBef>
              <a:buFont typeface="Arial"/>
              <a:buChar char="•"/>
            </a:pPr>
            <a:r>
              <a:rPr lang="en-US" sz="2499" spc="-99">
                <a:solidFill>
                  <a:srgbClr val="12100E"/>
                </a:solidFill>
                <a:latin typeface="Canva Sans"/>
                <a:ea typeface="Canva Sans"/>
                <a:cs typeface="Canva Sans"/>
                <a:sym typeface="Canva Sans"/>
              </a:rPr>
              <a:t>Compute cell count.</a:t>
            </a:r>
          </a:p>
          <a:p>
            <a:pPr algn="l" marL="539749" indent="-269875" lvl="1">
              <a:lnSpc>
                <a:spcPts val="3499"/>
              </a:lnSpc>
              <a:spcBef>
                <a:spcPct val="0"/>
              </a:spcBef>
              <a:buFont typeface="Arial"/>
              <a:buChar char="•"/>
            </a:pPr>
            <a:r>
              <a:rPr lang="en-US" sz="2499" spc="-99">
                <a:solidFill>
                  <a:srgbClr val="12100E"/>
                </a:solidFill>
                <a:latin typeface="Canva Sans"/>
                <a:ea typeface="Canva Sans"/>
                <a:cs typeface="Canva Sans"/>
                <a:sym typeface="Canva Sans"/>
              </a:rPr>
              <a:t>Compute cell size and morphology, including width-to-length ratio per cell.</a:t>
            </a:r>
          </a:p>
          <a:p>
            <a:pPr algn="l" marL="539749" indent="-269875" lvl="1">
              <a:lnSpc>
                <a:spcPts val="3499"/>
              </a:lnSpc>
              <a:spcBef>
                <a:spcPct val="0"/>
              </a:spcBef>
              <a:buFont typeface="Arial"/>
              <a:buChar char="•"/>
            </a:pPr>
            <a:r>
              <a:rPr lang="en-US" sz="2499" spc="-99">
                <a:solidFill>
                  <a:srgbClr val="12100E"/>
                </a:solidFill>
                <a:latin typeface="Canva Sans"/>
                <a:ea typeface="Canva Sans"/>
                <a:cs typeface="Canva Sans"/>
                <a:sym typeface="Canva Sans"/>
              </a:rPr>
              <a:t>Apply pseudo-labelling to currently unannotated IMES images.</a:t>
            </a:r>
          </a:p>
        </p:txBody>
      </p:sp>
      <p:sp>
        <p:nvSpPr>
          <p:cNvPr name="TextBox 9" id="9"/>
          <p:cNvSpPr txBox="true"/>
          <p:nvPr/>
        </p:nvSpPr>
        <p:spPr>
          <a:xfrm rot="0">
            <a:off x="718432" y="8060428"/>
            <a:ext cx="8435093" cy="926147"/>
          </a:xfrm>
          <a:prstGeom prst="rect">
            <a:avLst/>
          </a:prstGeom>
        </p:spPr>
        <p:txBody>
          <a:bodyPr anchor="t" rtlCol="false" tIns="0" lIns="0" bIns="0" rIns="0">
            <a:spAutoFit/>
          </a:bodyPr>
          <a:lstStyle/>
          <a:p>
            <a:pPr algn="l">
              <a:lnSpc>
                <a:spcPts val="2502"/>
              </a:lnSpc>
            </a:pPr>
            <a:r>
              <a:rPr lang="en-US" b="true" sz="1787" spc="-71">
                <a:solidFill>
                  <a:srgbClr val="12100E"/>
                </a:solidFill>
                <a:latin typeface="Canva Sans Bold"/>
                <a:ea typeface="Canva Sans Bold"/>
                <a:cs typeface="Canva Sans Bold"/>
                <a:sym typeface="Canva Sans Bold"/>
              </a:rPr>
              <a:t>ALSO </a:t>
            </a:r>
          </a:p>
          <a:p>
            <a:pPr algn="l">
              <a:lnSpc>
                <a:spcPts val="2502"/>
              </a:lnSpc>
            </a:pPr>
            <a:r>
              <a:rPr lang="en-US" sz="1787" spc="-71">
                <a:solidFill>
                  <a:srgbClr val="12100E"/>
                </a:solidFill>
                <a:latin typeface="Canva Sans"/>
                <a:ea typeface="Canva Sans"/>
                <a:cs typeface="Canva Sans"/>
                <a:sym typeface="Canva Sans"/>
              </a:rPr>
              <a:t>POSTER PREPARATION</a:t>
            </a:r>
          </a:p>
          <a:p>
            <a:pPr algn="l">
              <a:lnSpc>
                <a:spcPts val="2502"/>
              </a:lnSpc>
              <a:spcBef>
                <a:spcPct val="0"/>
              </a:spcBef>
            </a:pPr>
            <a:r>
              <a:rPr lang="en-US" sz="1787" spc="-71">
                <a:solidFill>
                  <a:srgbClr val="12100E"/>
                </a:solidFill>
                <a:latin typeface="Canva Sans"/>
                <a:ea typeface="Canva Sans"/>
                <a:cs typeface="Canva Sans"/>
                <a:sym typeface="Canva Sans"/>
              </a:rPr>
              <a:t>PAPER WRITING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708907" y="1901943"/>
            <a:ext cx="15243721" cy="863600"/>
          </a:xfrm>
          <a:prstGeom prst="rect">
            <a:avLst/>
          </a:prstGeom>
        </p:spPr>
        <p:txBody>
          <a:bodyPr anchor="t" rtlCol="false" tIns="0" lIns="0" bIns="0" rIns="0">
            <a:spAutoFit/>
          </a:bodyPr>
          <a:lstStyle/>
          <a:p>
            <a:pPr algn="ctr">
              <a:lnSpc>
                <a:spcPts val="7000"/>
              </a:lnSpc>
            </a:pPr>
            <a:r>
              <a:rPr lang="en-US" sz="5000" b="true">
                <a:solidFill>
                  <a:srgbClr val="12100E"/>
                </a:solidFill>
                <a:latin typeface="Canva Sans Bold"/>
                <a:ea typeface="Canva Sans Bold"/>
                <a:cs typeface="Canva Sans Bold"/>
                <a:sym typeface="Canva Sans Bold"/>
              </a:rPr>
              <a:t>Recommen</a:t>
            </a:r>
            <a:r>
              <a:rPr lang="en-US" b="true" sz="5000">
                <a:solidFill>
                  <a:srgbClr val="12100E"/>
                </a:solidFill>
                <a:latin typeface="Canva Sans Bold"/>
                <a:ea typeface="Canva Sans Bold"/>
                <a:cs typeface="Canva Sans Bold"/>
                <a:sym typeface="Canva Sans Bold"/>
              </a:rPr>
              <a:t>ded Work Sequence - advised by IMES</a:t>
            </a:r>
          </a:p>
        </p:txBody>
      </p:sp>
      <p:sp>
        <p:nvSpPr>
          <p:cNvPr name="TextBox 8" id="8"/>
          <p:cNvSpPr txBox="true"/>
          <p:nvPr/>
        </p:nvSpPr>
        <p:spPr>
          <a:xfrm rot="0">
            <a:off x="699382" y="3375025"/>
            <a:ext cx="16550393"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spc="-99">
                <a:solidFill>
                  <a:srgbClr val="12100E"/>
                </a:solidFill>
                <a:latin typeface="Canva Sans"/>
                <a:ea typeface="Canva Sans"/>
                <a:cs typeface="Canva Sans"/>
                <a:sym typeface="Canva Sans"/>
              </a:rPr>
              <a:t>"REPRODUCE NICOLE'S RESULTS" - CONCRETE SOURCE</a:t>
            </a:r>
          </a:p>
          <a:p>
            <a:pPr algn="l" marL="539749" indent="-269875" lvl="1">
              <a:lnSpc>
                <a:spcPts val="3499"/>
              </a:lnSpc>
              <a:buFont typeface="Arial"/>
              <a:buChar char="•"/>
            </a:pPr>
            <a:r>
              <a:rPr lang="en-US" sz="2499" spc="-99">
                <a:solidFill>
                  <a:srgbClr val="12100E"/>
                </a:solidFill>
                <a:latin typeface="Canva Sans"/>
                <a:ea typeface="Canva Sans"/>
                <a:cs typeface="Canva Sans"/>
                <a:sym typeface="Canva Sans"/>
              </a:rPr>
              <a:t>her Colab notebook is the complete, training + evaluation pipeline (metrics, training curves, image overlays). </a:t>
            </a:r>
          </a:p>
          <a:p>
            <a:pPr algn="l" marL="539749" indent="-269875" lvl="1">
              <a:lnSpc>
                <a:spcPts val="3499"/>
              </a:lnSpc>
              <a:buFont typeface="Arial"/>
              <a:buChar char="•"/>
            </a:pPr>
            <a:r>
              <a:rPr lang="en-US" sz="2499" spc="-99">
                <a:solidFill>
                  <a:srgbClr val="12100E"/>
                </a:solidFill>
                <a:latin typeface="Canva Sans"/>
                <a:ea typeface="Canva Sans"/>
                <a:cs typeface="Canva Sans"/>
                <a:sym typeface="Canva Sans"/>
              </a:rPr>
              <a:t>Colab only supports FP16, IMES's real app trains in BF16, and precision affects results. </a:t>
            </a:r>
          </a:p>
          <a:p>
            <a:pPr algn="l" marL="539749" indent="-269875" lvl="1">
              <a:lnSpc>
                <a:spcPts val="3499"/>
              </a:lnSpc>
              <a:spcBef>
                <a:spcPct val="0"/>
              </a:spcBef>
              <a:buFont typeface="Arial"/>
              <a:buChar char="•"/>
            </a:pPr>
            <a:r>
              <a:rPr lang="en-US" sz="2499" spc="-99">
                <a:solidFill>
                  <a:srgbClr val="12100E"/>
                </a:solidFill>
                <a:latin typeface="Canva Sans"/>
                <a:ea typeface="Canva Sans"/>
                <a:cs typeface="Canva Sans"/>
                <a:sym typeface="Canva Sans"/>
              </a:rPr>
              <a:t>She </a:t>
            </a:r>
            <a:r>
              <a:rPr lang="en-US" sz="2499" spc="-99">
                <a:solidFill>
                  <a:srgbClr val="12100E"/>
                </a:solidFill>
                <a:latin typeface="Canva Sans"/>
                <a:ea typeface="Canva Sans"/>
                <a:cs typeface="Canva Sans"/>
                <a:sym typeface="Canva Sans"/>
              </a:rPr>
              <a:t>is re-running training in the real app, final BF16 results expected by Monday at the latest.</a:t>
            </a:r>
          </a:p>
        </p:txBody>
      </p:sp>
      <p:sp>
        <p:nvSpPr>
          <p:cNvPr name="TextBox 9" id="9"/>
          <p:cNvSpPr txBox="true"/>
          <p:nvPr/>
        </p:nvSpPr>
        <p:spPr>
          <a:xfrm rot="0">
            <a:off x="2763497" y="6296926"/>
            <a:ext cx="12422163" cy="422275"/>
          </a:xfrm>
          <a:prstGeom prst="rect">
            <a:avLst/>
          </a:prstGeom>
        </p:spPr>
        <p:txBody>
          <a:bodyPr anchor="t" rtlCol="false" tIns="0" lIns="0" bIns="0" rIns="0">
            <a:spAutoFit/>
          </a:bodyPr>
          <a:lstStyle/>
          <a:p>
            <a:pPr algn="ctr">
              <a:lnSpc>
                <a:spcPts val="3499"/>
              </a:lnSpc>
              <a:spcBef>
                <a:spcPct val="0"/>
              </a:spcBef>
            </a:pPr>
            <a:r>
              <a:rPr lang="en-US" b="true" sz="2499" spc="-99">
                <a:solidFill>
                  <a:srgbClr val="12100E"/>
                </a:solidFill>
                <a:latin typeface="Open Sauce Heavy"/>
                <a:ea typeface="Open Sauce Heavy"/>
                <a:cs typeface="Open Sauce Heavy"/>
                <a:sym typeface="Open Sauce Heavy"/>
              </a:rPr>
              <a:t>DO NOT TREAT THE COLAB RUN'S NUMBERS AS THE REPRODUCTION TARGET YET.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866806" y="1901943"/>
            <a:ext cx="3343647" cy="863600"/>
          </a:xfrm>
          <a:prstGeom prst="rect">
            <a:avLst/>
          </a:prstGeom>
        </p:spPr>
        <p:txBody>
          <a:bodyPr anchor="t" rtlCol="false" tIns="0" lIns="0" bIns="0" rIns="0">
            <a:spAutoFit/>
          </a:bodyPr>
          <a:lstStyle/>
          <a:p>
            <a:pPr algn="ctr">
              <a:lnSpc>
                <a:spcPts val="7000"/>
              </a:lnSpc>
            </a:pPr>
            <a:r>
              <a:rPr lang="en-US" sz="5000" b="true">
                <a:solidFill>
                  <a:srgbClr val="12100E"/>
                </a:solidFill>
                <a:latin typeface="Canva Sans Bold"/>
                <a:ea typeface="Canva Sans Bold"/>
                <a:cs typeface="Canva Sans Bold"/>
                <a:sym typeface="Canva Sans Bold"/>
              </a:rPr>
              <a:t>Resources </a:t>
            </a:r>
          </a:p>
        </p:txBody>
      </p:sp>
      <p:sp>
        <p:nvSpPr>
          <p:cNvPr name="TextBox 8" id="8"/>
          <p:cNvSpPr txBox="true"/>
          <p:nvPr/>
        </p:nvSpPr>
        <p:spPr>
          <a:xfrm rot="0">
            <a:off x="866806" y="2727443"/>
            <a:ext cx="14029508" cy="1470660"/>
          </a:xfrm>
          <a:prstGeom prst="rect">
            <a:avLst/>
          </a:prstGeom>
        </p:spPr>
        <p:txBody>
          <a:bodyPr anchor="t" rtlCol="false" tIns="0" lIns="0" bIns="0" rIns="0">
            <a:spAutoFit/>
          </a:bodyPr>
          <a:lstStyle/>
          <a:p>
            <a:pPr algn="l" marL="453390" indent="-226695" lvl="1">
              <a:lnSpc>
                <a:spcPts val="2940"/>
              </a:lnSpc>
              <a:buFont typeface="Arial"/>
              <a:buChar char="•"/>
            </a:pPr>
            <a:r>
              <a:rPr lang="en-US" sz="2100" spc="-84">
                <a:solidFill>
                  <a:srgbClr val="12100E"/>
                </a:solidFill>
                <a:latin typeface="Canva Sans"/>
                <a:ea typeface="Canva Sans"/>
                <a:cs typeface="Canva Sans"/>
                <a:sym typeface="Canva Sans"/>
              </a:rPr>
              <a:t>Data: IMES-provided images and masks.</a:t>
            </a:r>
          </a:p>
          <a:p>
            <a:pPr algn="l" marL="453390" indent="-226695" lvl="1">
              <a:lnSpc>
                <a:spcPts val="2940"/>
              </a:lnSpc>
              <a:spcBef>
                <a:spcPct val="0"/>
              </a:spcBef>
              <a:buFont typeface="Arial"/>
              <a:buChar char="•"/>
            </a:pPr>
            <a:r>
              <a:rPr lang="en-US" sz="2100" spc="-84">
                <a:solidFill>
                  <a:srgbClr val="12100E"/>
                </a:solidFill>
                <a:latin typeface="Canva Sans"/>
                <a:ea typeface="Canva Sans"/>
                <a:cs typeface="Canva Sans"/>
                <a:sym typeface="Canva Sans"/>
              </a:rPr>
              <a:t>C</a:t>
            </a:r>
            <a:r>
              <a:rPr lang="en-US" sz="2100" spc="-84">
                <a:solidFill>
                  <a:srgbClr val="12100E"/>
                </a:solidFill>
                <a:latin typeface="Canva Sans"/>
                <a:ea typeface="Canva Sans"/>
                <a:cs typeface="Canva Sans"/>
                <a:sym typeface="Canva Sans"/>
              </a:rPr>
              <a:t>ompute: local GPU usable for inference</a:t>
            </a:r>
          </a:p>
          <a:p>
            <a:pPr algn="l" marL="453390" indent="-226695" lvl="1">
              <a:lnSpc>
                <a:spcPts val="2940"/>
              </a:lnSpc>
              <a:spcBef>
                <a:spcPct val="0"/>
              </a:spcBef>
              <a:buFont typeface="Arial"/>
              <a:buChar char="•"/>
            </a:pPr>
            <a:r>
              <a:rPr lang="en-US" sz="2100" spc="-84">
                <a:solidFill>
                  <a:srgbClr val="12100E"/>
                </a:solidFill>
                <a:latin typeface="Canva Sans"/>
                <a:ea typeface="Canva Sans"/>
                <a:cs typeface="Canva Sans"/>
                <a:sym typeface="Canva Sans"/>
              </a:rPr>
              <a:t>T</a:t>
            </a:r>
            <a:r>
              <a:rPr lang="en-US" sz="2100" spc="-84">
                <a:solidFill>
                  <a:srgbClr val="12100E"/>
                </a:solidFill>
                <a:latin typeface="Canva Sans"/>
                <a:ea typeface="Canva Sans"/>
                <a:cs typeface="Canva Sans"/>
                <a:sym typeface="Canva Sans"/>
              </a:rPr>
              <a:t>raining compute: CAIRO, GPU Cluster??? </a:t>
            </a:r>
          </a:p>
          <a:p>
            <a:pPr algn="l">
              <a:lnSpc>
                <a:spcPts val="2940"/>
              </a:lnSpc>
              <a:spcBef>
                <a:spcPct val="0"/>
              </a:spcBef>
            </a:pPr>
          </a:p>
        </p:txBody>
      </p:sp>
      <p:sp>
        <p:nvSpPr>
          <p:cNvPr name="TextBox 9" id="9"/>
          <p:cNvSpPr txBox="true"/>
          <p:nvPr/>
        </p:nvSpPr>
        <p:spPr>
          <a:xfrm rot="0">
            <a:off x="866806" y="5095875"/>
            <a:ext cx="14466094" cy="1758950"/>
          </a:xfrm>
          <a:prstGeom prst="rect">
            <a:avLst/>
          </a:prstGeom>
        </p:spPr>
        <p:txBody>
          <a:bodyPr anchor="t" rtlCol="false" tIns="0" lIns="0" bIns="0" rIns="0">
            <a:spAutoFit/>
          </a:bodyPr>
          <a:lstStyle/>
          <a:p>
            <a:pPr algn="l" marL="431801" indent="-215900" lvl="1">
              <a:lnSpc>
                <a:spcPts val="2800"/>
              </a:lnSpc>
              <a:buFont typeface="Arial"/>
              <a:buChar char="•"/>
            </a:pPr>
            <a:r>
              <a:rPr lang="en-US" sz="2000" spc="-80">
                <a:solidFill>
                  <a:srgbClr val="12100E"/>
                </a:solidFill>
                <a:latin typeface="Canva Sans"/>
                <a:ea typeface="Canva Sans"/>
                <a:cs typeface="Canva Sans"/>
                <a:sym typeface="Canva Sans"/>
              </a:rPr>
              <a:t>Metric ambiguity </a:t>
            </a:r>
          </a:p>
          <a:p>
            <a:pPr algn="l" marL="431801" indent="-215900" lvl="1">
              <a:lnSpc>
                <a:spcPts val="2800"/>
              </a:lnSpc>
              <a:spcBef>
                <a:spcPct val="0"/>
              </a:spcBef>
              <a:buFont typeface="Arial"/>
              <a:buChar char="•"/>
            </a:pPr>
            <a:r>
              <a:rPr lang="en-US" sz="2000" spc="-80">
                <a:solidFill>
                  <a:srgbClr val="12100E"/>
                </a:solidFill>
                <a:latin typeface="Canva Sans"/>
                <a:ea typeface="Canva Sans"/>
                <a:cs typeface="Canva Sans"/>
                <a:sym typeface="Canva Sans"/>
              </a:rPr>
              <a:t>Baseline reproduction: must match BF16 app results, not the FP16 Colab test run shared.</a:t>
            </a:r>
          </a:p>
          <a:p>
            <a:pPr algn="l" marL="431801" indent="-215900" lvl="1">
              <a:lnSpc>
                <a:spcPts val="2800"/>
              </a:lnSpc>
              <a:spcBef>
                <a:spcPct val="0"/>
              </a:spcBef>
              <a:buFont typeface="Arial"/>
              <a:buChar char="•"/>
            </a:pPr>
            <a:r>
              <a:rPr lang="en-US" sz="2000" spc="-80">
                <a:solidFill>
                  <a:srgbClr val="12100E"/>
                </a:solidFill>
                <a:latin typeface="Canva Sans"/>
                <a:ea typeface="Canva Sans"/>
                <a:cs typeface="Canva Sans"/>
                <a:sym typeface="Canva Sans"/>
              </a:rPr>
              <a:t>Visualalization (empty space = stem cell, dotted/textured regions ≈ adipocyte. Checked on real images but not yet systematic)</a:t>
            </a:r>
          </a:p>
          <a:p>
            <a:pPr algn="l" marL="431801" indent="-215900" lvl="1">
              <a:lnSpc>
                <a:spcPts val="2800"/>
              </a:lnSpc>
              <a:spcBef>
                <a:spcPct val="0"/>
              </a:spcBef>
              <a:buFont typeface="Arial"/>
              <a:buChar char="•"/>
            </a:pPr>
            <a:r>
              <a:rPr lang="en-US" sz="2000" spc="-80">
                <a:solidFill>
                  <a:srgbClr val="12100E"/>
                </a:solidFill>
                <a:latin typeface="Canva Sans"/>
                <a:ea typeface="Canva Sans"/>
                <a:cs typeface="Canva Sans"/>
                <a:sym typeface="Canva Sans"/>
              </a:rPr>
              <a:t>Human tissue is harder and more data-sparse than porcine.</a:t>
            </a:r>
          </a:p>
          <a:p>
            <a:pPr algn="l">
              <a:lnSpc>
                <a:spcPts val="2800"/>
              </a:lnSpc>
              <a:spcBef>
                <a:spcPct val="0"/>
              </a:spcBef>
            </a:pPr>
          </a:p>
        </p:txBody>
      </p:sp>
      <p:sp>
        <p:nvSpPr>
          <p:cNvPr name="TextBox 10" id="10"/>
          <p:cNvSpPr txBox="true"/>
          <p:nvPr/>
        </p:nvSpPr>
        <p:spPr>
          <a:xfrm rot="0">
            <a:off x="-3713302" y="3926364"/>
            <a:ext cx="10763176" cy="863600"/>
          </a:xfrm>
          <a:prstGeom prst="rect">
            <a:avLst/>
          </a:prstGeom>
        </p:spPr>
        <p:txBody>
          <a:bodyPr anchor="t" rtlCol="false" tIns="0" lIns="0" bIns="0" rIns="0">
            <a:spAutoFit/>
          </a:bodyPr>
          <a:lstStyle/>
          <a:p>
            <a:pPr algn="ctr">
              <a:lnSpc>
                <a:spcPts val="7000"/>
              </a:lnSpc>
            </a:pPr>
            <a:r>
              <a:rPr lang="en-US" sz="5000" b="true">
                <a:solidFill>
                  <a:srgbClr val="12100E"/>
                </a:solidFill>
                <a:latin typeface="Canva Sans Bold"/>
                <a:ea typeface="Canva Sans Bold"/>
                <a:cs typeface="Canva Sans Bold"/>
                <a:sym typeface="Canva Sans Bold"/>
              </a:rPr>
              <a:t>Risks</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TextBox 3" id="3"/>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4" id="4"/>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graphicFrame>
        <p:nvGraphicFramePr>
          <p:cNvPr name="Table 5" id="5"/>
          <p:cNvGraphicFramePr>
            <a:graphicFrameLocks noGrp="true"/>
          </p:cNvGraphicFramePr>
          <p:nvPr/>
        </p:nvGraphicFramePr>
        <p:xfrm>
          <a:off x="553031" y="277711"/>
          <a:ext cx="14345768" cy="9209499"/>
        </p:xfrm>
        <a:graphic>
          <a:graphicData uri="http://schemas.openxmlformats.org/drawingml/2006/table">
            <a:tbl>
              <a:tblPr/>
              <a:tblGrid>
                <a:gridCol w="848011"/>
                <a:gridCol w="5221828"/>
                <a:gridCol w="4137964"/>
                <a:gridCol w="4137964"/>
              </a:tblGrid>
              <a:tr h="562557">
                <a:tc>
                  <a:txBody>
                    <a:bodyPr anchor="t" rtlCol="false"/>
                    <a:lstStyle/>
                    <a:p>
                      <a:pPr algn="l">
                        <a:lnSpc>
                          <a:spcPts val="2800"/>
                        </a:lnSpc>
                        <a:defRPr/>
                      </a:pPr>
                      <a:r>
                        <a:rPr lang="en-US" sz="2000" b="true">
                          <a:solidFill>
                            <a:srgbClr val="000000"/>
                          </a:solidFill>
                          <a:latin typeface="Canva Sans Bold"/>
                          <a:ea typeface="Canva Sans Bold"/>
                          <a:cs typeface="Canva Sans Bold"/>
                          <a:sym typeface="Canva Sans Bold"/>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Canva Sans Bold"/>
                          <a:ea typeface="Canva Sans Bold"/>
                          <a:cs typeface="Canva Sans Bold"/>
                          <a:sym typeface="Canva Sans Bold"/>
                        </a:rPr>
                        <a:t>Milestone</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Canva Sans Bold"/>
                          <a:ea typeface="Canva Sans Bold"/>
                          <a:cs typeface="Canva Sans Bold"/>
                          <a:sym typeface="Canva Sans Bold"/>
                        </a:rPr>
                        <a:t>Work</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Canva Sans Bold"/>
                          <a:ea typeface="Canva Sans Bold"/>
                          <a:cs typeface="Canva Sans Bold"/>
                          <a:sym typeface="Canva Sans Bold"/>
                        </a:rPr>
                        <a:t>Suggested owner</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97919">
                <a:tc>
                  <a:txBody>
                    <a:bodyPr anchor="t" rtlCol="false"/>
                    <a:lstStyle/>
                    <a:p>
                      <a:pPr algn="r">
                        <a:lnSpc>
                          <a:spcPts val="2800"/>
                        </a:lnSpc>
                        <a:defRPr/>
                      </a:pPr>
                      <a:r>
                        <a:rPr lang="en-US" sz="2000">
                          <a:solidFill>
                            <a:srgbClr val="000000"/>
                          </a:solidFill>
                          <a:latin typeface="Canva Sans"/>
                          <a:ea typeface="Canva Sans"/>
                          <a:cs typeface="Canva Sans"/>
                          <a:sym typeface="Canva Sans"/>
                        </a:rPr>
                        <a:t>1</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Metric selection + baseline benchmarking</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Determine IMES's metrics; get Nicole's prior results</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Yet to decide (flexible, depending on availability)</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97919">
                <a:tc>
                  <a:txBody>
                    <a:bodyPr anchor="t" rtlCol="false"/>
                    <a:lstStyle/>
                    <a:p>
                      <a:pPr algn="r">
                        <a:lnSpc>
                          <a:spcPts val="2800"/>
                        </a:lnSpc>
                        <a:defRPr/>
                      </a:pPr>
                      <a:r>
                        <a:rPr lang="en-US" sz="2000">
                          <a:solidFill>
                            <a:srgbClr val="000000"/>
                          </a:solidFill>
                          <a:latin typeface="Canva Sans"/>
                          <a:ea typeface="Canva Sans"/>
                          <a:cs typeface="Canva Sans"/>
                          <a:sym typeface="Canva Sans"/>
                        </a:rPr>
                        <a:t>2</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Metric selection + baseline benchmarking</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Reproduce</a:t>
                      </a:r>
                      <a:r>
                        <a:rPr lang="en-US" sz="2000">
                          <a:solidFill>
                            <a:srgbClr val="000000"/>
                          </a:solidFill>
                          <a:latin typeface="Canva Sans"/>
                          <a:ea typeface="Canva Sans"/>
                          <a:cs typeface="Canva Sans"/>
                          <a:sym typeface="Canva Sans"/>
                        </a:rPr>
                        <a:t> DINOCell baseline</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93880">
                <a:tc>
                  <a:txBody>
                    <a:bodyPr anchor="t" rtlCol="false"/>
                    <a:lstStyle/>
                    <a:p>
                      <a:pPr algn="r">
                        <a:lnSpc>
                          <a:spcPts val="2800"/>
                        </a:lnSpc>
                        <a:defRPr/>
                      </a:pPr>
                      <a:r>
                        <a:rPr lang="en-US" sz="2000">
                          <a:solidFill>
                            <a:srgbClr val="000000"/>
                          </a:solidFill>
                          <a:latin typeface="Canva Sans"/>
                          <a:ea typeface="Canva Sans"/>
                          <a:cs typeface="Canva Sans"/>
                          <a:sym typeface="Canva Sans"/>
                        </a:rPr>
                        <a:t>3</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Metric selection + baseline benchmarking</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Establish Dinocell baseline on porcine data</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97919">
                <a:tc>
                  <a:txBody>
                    <a:bodyPr anchor="t" rtlCol="false"/>
                    <a:lstStyle/>
                    <a:p>
                      <a:pPr algn="r">
                        <a:lnSpc>
                          <a:spcPts val="2800"/>
                        </a:lnSpc>
                        <a:defRPr/>
                      </a:pPr>
                      <a:r>
                        <a:rPr lang="en-US" sz="2000">
                          <a:solidFill>
                            <a:srgbClr val="000000"/>
                          </a:solidFill>
                          <a:latin typeface="Canva Sans"/>
                          <a:ea typeface="Canva Sans"/>
                          <a:cs typeface="Canva Sans"/>
                          <a:sym typeface="Canva Sans"/>
                        </a:rPr>
                        <a:t>4</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Porcine segmentation pipeline</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Preprocessing (CLAHE, normalization, illumination)</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15347">
                <a:tc>
                  <a:txBody>
                    <a:bodyPr anchor="t" rtlCol="false"/>
                    <a:lstStyle/>
                    <a:p>
                      <a:pPr algn="r">
                        <a:lnSpc>
                          <a:spcPts val="2800"/>
                        </a:lnSpc>
                        <a:defRPr/>
                      </a:pPr>
                      <a:r>
                        <a:rPr lang="en-US" sz="2000">
                          <a:solidFill>
                            <a:srgbClr val="000000"/>
                          </a:solidFill>
                          <a:latin typeface="Canva Sans"/>
                          <a:ea typeface="Canva Sans"/>
                          <a:cs typeface="Canva Sans"/>
                          <a:sym typeface="Canva Sans"/>
                        </a:rPr>
                        <a:t>5</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Porcine segmentation pipeline</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Porcine brightfield segmentation</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15347">
                <a:tc>
                  <a:txBody>
                    <a:bodyPr anchor="t" rtlCol="false"/>
                    <a:lstStyle/>
                    <a:p>
                      <a:pPr algn="r">
                        <a:lnSpc>
                          <a:spcPts val="2800"/>
                        </a:lnSpc>
                        <a:defRPr/>
                      </a:pPr>
                      <a:r>
                        <a:rPr lang="en-US" sz="2000">
                          <a:solidFill>
                            <a:srgbClr val="000000"/>
                          </a:solidFill>
                          <a:latin typeface="Canva Sans"/>
                          <a:ea typeface="Canva Sans"/>
                          <a:cs typeface="Canva Sans"/>
                          <a:sym typeface="Canva Sans"/>
                        </a:rPr>
                        <a:t>6</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Porcine segmentation pipeline</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Porcine phase-contrast segmentation</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15347">
                <a:tc>
                  <a:txBody>
                    <a:bodyPr anchor="t" rtlCol="false"/>
                    <a:lstStyle/>
                    <a:p>
                      <a:pPr algn="r">
                        <a:lnSpc>
                          <a:spcPts val="2800"/>
                        </a:lnSpc>
                        <a:defRPr/>
                      </a:pPr>
                      <a:r>
                        <a:rPr lang="en-US" sz="2000">
                          <a:solidFill>
                            <a:srgbClr val="000000"/>
                          </a:solidFill>
                          <a:latin typeface="Canva Sans"/>
                          <a:ea typeface="Canva Sans"/>
                          <a:cs typeface="Canva Sans"/>
                          <a:sym typeface="Canva Sans"/>
                        </a:rPr>
                        <a:t>7</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Cell count + size/morphology</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Width-to-length ratio across annotated cells</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97919">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Human segmentation (not yet an issue)</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Human brightfield/phase, partial/high-confidence</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r h="915347">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Pseudo-labeling (not yet an issue)</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Apply to 36 new unannotated images + rest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a:t>
                      </a:r>
                      <a:endParaRPr lang="en-US" sz="1100"/>
                    </a:p>
                  </a:txBody>
                  <a:tcPr marL="76200" marR="76200" marT="76200" marB="76200" anchor="ctr">
                    <a:lnL cmpd="sng" algn="ctr" cap="flat" w="9525">
                      <a:solidFill>
                        <a:srgbClr val="454545"/>
                      </a:solidFill>
                      <a:prstDash val="solid"/>
                      <a:round/>
                      <a:headEnd type="none" w="med" len="med"/>
                      <a:tailEnd type="none" w="med" len="med"/>
                    </a:lnL>
                    <a:lnR cmpd="sng" algn="ctr" cap="flat" w="9525">
                      <a:solidFill>
                        <a:srgbClr val="454545"/>
                      </a:solidFill>
                      <a:prstDash val="solid"/>
                      <a:round/>
                      <a:headEnd type="none" w="med" len="med"/>
                      <a:tailEnd type="none" w="med" len="med"/>
                    </a:lnR>
                    <a:lnT cmpd="sng" algn="ctr" cap="flat" w="9525">
                      <a:solidFill>
                        <a:srgbClr val="454545"/>
                      </a:solidFill>
                      <a:prstDash val="solid"/>
                      <a:round/>
                      <a:headEnd type="none" w="med" len="med"/>
                      <a:tailEnd type="none" w="med" len="med"/>
                    </a:lnT>
                    <a:lnB cmpd="sng" algn="ctr" cap="flat" w="9525">
                      <a:solidFill>
                        <a:srgbClr val="454545"/>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Freeform 4" id="4"/>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5" id="5"/>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6" id="6"/>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TextBox 7" id="7"/>
          <p:cNvSpPr txBox="true"/>
          <p:nvPr/>
        </p:nvSpPr>
        <p:spPr>
          <a:xfrm rot="0">
            <a:off x="772080" y="1901943"/>
            <a:ext cx="1792412" cy="863600"/>
          </a:xfrm>
          <a:prstGeom prst="rect">
            <a:avLst/>
          </a:prstGeom>
        </p:spPr>
        <p:txBody>
          <a:bodyPr anchor="t" rtlCol="false" tIns="0" lIns="0" bIns="0" rIns="0">
            <a:spAutoFit/>
          </a:bodyPr>
          <a:lstStyle/>
          <a:p>
            <a:pPr algn="ctr">
              <a:lnSpc>
                <a:spcPts val="7000"/>
              </a:lnSpc>
            </a:pPr>
            <a:r>
              <a:rPr lang="en-US" sz="5000" b="true">
                <a:solidFill>
                  <a:srgbClr val="12100E"/>
                </a:solidFill>
                <a:latin typeface="Canva Sans Bold"/>
                <a:ea typeface="Canva Sans Bold"/>
                <a:cs typeface="Canva Sans Bold"/>
                <a:sym typeface="Canva Sans Bold"/>
              </a:rPr>
              <a:t>TEAM</a:t>
            </a:r>
          </a:p>
        </p:txBody>
      </p:sp>
      <p:graphicFrame>
        <p:nvGraphicFramePr>
          <p:cNvPr name="Table 8" id="8"/>
          <p:cNvGraphicFramePr>
            <a:graphicFrameLocks noGrp="true"/>
          </p:cNvGraphicFramePr>
          <p:nvPr/>
        </p:nvGraphicFramePr>
        <p:xfrm>
          <a:off x="772080" y="3028328"/>
          <a:ext cx="15010314" cy="5380123"/>
        </p:xfrm>
        <a:graphic>
          <a:graphicData uri="http://schemas.openxmlformats.org/drawingml/2006/table">
            <a:tbl>
              <a:tblPr/>
              <a:tblGrid>
                <a:gridCol w="3806413"/>
                <a:gridCol w="11203901"/>
              </a:tblGrid>
              <a:tr h="896687">
                <a:tc>
                  <a:txBody>
                    <a:bodyPr anchor="t" rtlCol="false"/>
                    <a:lstStyle/>
                    <a:p>
                      <a:pPr algn="l">
                        <a:lnSpc>
                          <a:spcPts val="3640"/>
                        </a:lnSpc>
                        <a:defRPr/>
                      </a:pPr>
                      <a:r>
                        <a:rPr lang="en-US" sz="2600" b="true">
                          <a:solidFill>
                            <a:srgbClr val="FFFFFF"/>
                          </a:solidFill>
                          <a:latin typeface="Canva Sans Medium"/>
                          <a:ea typeface="Canva Sans Medium"/>
                          <a:cs typeface="Canva Sans Medium"/>
                          <a:sym typeface="Canva Sans Medium"/>
                        </a:rPr>
                        <a:t>Role</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0A2240"/>
                    </a:solidFill>
                  </a:tcPr>
                </a:tc>
                <a:tc>
                  <a:txBody>
                    <a:bodyPr anchor="t" rtlCol="false"/>
                    <a:lstStyle/>
                    <a:p>
                      <a:pPr algn="l">
                        <a:lnSpc>
                          <a:spcPts val="3640"/>
                        </a:lnSpc>
                        <a:defRPr/>
                      </a:pPr>
                      <a:r>
                        <a:rPr lang="en-US" sz="2600" b="true">
                          <a:solidFill>
                            <a:srgbClr val="FFFFFF"/>
                          </a:solidFill>
                          <a:latin typeface="Canva Sans Medium"/>
                          <a:ea typeface="Canva Sans Medium"/>
                          <a:cs typeface="Canva Sans Medium"/>
                          <a:sym typeface="Canva Sans Medium"/>
                        </a:rPr>
                        <a:t>Person</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0A2240"/>
                    </a:solidFill>
                  </a:tcPr>
                </a:tc>
              </a:tr>
              <a:tr h="896687">
                <a:tc>
                  <a:txBody>
                    <a:bodyPr anchor="t" rtlCol="false"/>
                    <a:lstStyle/>
                    <a:p>
                      <a:pPr algn="l">
                        <a:lnSpc>
                          <a:spcPts val="3359"/>
                        </a:lnSpc>
                        <a:defRPr/>
                      </a:pPr>
                      <a:r>
                        <a:rPr lang="en-US" sz="2400">
                          <a:solidFill>
                            <a:srgbClr val="000000"/>
                          </a:solidFill>
                          <a:latin typeface="Canva Sans"/>
                          <a:ea typeface="Canva Sans"/>
                          <a:cs typeface="Canva Sans"/>
                          <a:sym typeface="Canva Sans"/>
                        </a:rPr>
                        <a:t>Team member</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359"/>
                        </a:lnSpc>
                        <a:defRPr/>
                      </a:pPr>
                      <a:r>
                        <a:rPr lang="en-US" sz="2400">
                          <a:solidFill>
                            <a:srgbClr val="000000"/>
                          </a:solidFill>
                          <a:latin typeface="Canva Sans"/>
                          <a:ea typeface="Canva Sans"/>
                          <a:cs typeface="Canva Sans"/>
                          <a:sym typeface="Canva Sans"/>
                        </a:rPr>
                        <a:t>Pavin Sumathi Palanichamy</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r>
              <a:tr h="896687">
                <a:tc>
                  <a:txBody>
                    <a:bodyPr anchor="t" rtlCol="false"/>
                    <a:lstStyle/>
                    <a:p>
                      <a:pPr algn="l">
                        <a:lnSpc>
                          <a:spcPts val="3359"/>
                        </a:lnSpc>
                        <a:defRPr/>
                      </a:pPr>
                      <a:r>
                        <a:rPr lang="en-US" sz="2400">
                          <a:solidFill>
                            <a:srgbClr val="000000"/>
                          </a:solidFill>
                          <a:latin typeface="Canva Sans"/>
                          <a:ea typeface="Canva Sans"/>
                          <a:cs typeface="Canva Sans"/>
                          <a:sym typeface="Canva Sans"/>
                        </a:rPr>
                        <a:t>Team member</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nva Sans"/>
                          <a:ea typeface="Canva Sans"/>
                          <a:cs typeface="Canva Sans"/>
                          <a:sym typeface="Canva Sans"/>
                        </a:rPr>
                        <a:t>Prethebha Muthukumaran</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r>
              <a:tr h="896687">
                <a:tc>
                  <a:txBody>
                    <a:bodyPr anchor="t" rtlCol="false"/>
                    <a:lstStyle/>
                    <a:p>
                      <a:pPr algn="l">
                        <a:lnSpc>
                          <a:spcPts val="3359"/>
                        </a:lnSpc>
                        <a:defRPr/>
                      </a:pPr>
                      <a:r>
                        <a:rPr lang="en-US" sz="2400">
                          <a:solidFill>
                            <a:srgbClr val="000000"/>
                          </a:solidFill>
                          <a:latin typeface="Canva Sans"/>
                          <a:ea typeface="Canva Sans"/>
                          <a:cs typeface="Canva Sans"/>
                          <a:sym typeface="Canva Sans"/>
                        </a:rPr>
                        <a:t>Team member</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359"/>
                        </a:lnSpc>
                        <a:defRPr/>
                      </a:pPr>
                      <a:r>
                        <a:rPr lang="en-US" sz="2400">
                          <a:solidFill>
                            <a:srgbClr val="000000"/>
                          </a:solidFill>
                          <a:latin typeface="Canva Sans"/>
                          <a:ea typeface="Canva Sans"/>
                          <a:cs typeface="Canva Sans"/>
                          <a:sym typeface="Canva Sans"/>
                        </a:rPr>
                        <a:t>Priyam Jha</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r>
              <a:tr h="896687">
                <a:tc>
                  <a:txBody>
                    <a:bodyPr anchor="t" rtlCol="false"/>
                    <a:lstStyle/>
                    <a:p>
                      <a:pPr algn="l">
                        <a:lnSpc>
                          <a:spcPts val="3359"/>
                        </a:lnSpc>
                        <a:defRPr/>
                      </a:pPr>
                      <a:r>
                        <a:rPr lang="en-US" sz="2400">
                          <a:solidFill>
                            <a:srgbClr val="000000"/>
                          </a:solidFill>
                          <a:latin typeface="Canva Sans"/>
                          <a:ea typeface="Canva Sans"/>
                          <a:cs typeface="Canva Sans"/>
                          <a:sym typeface="Canva Sans"/>
                        </a:rPr>
                        <a:t>Mentor</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c>
                  <a:txBody>
                    <a:bodyPr anchor="t" rtlCol="false"/>
                    <a:lstStyle/>
                    <a:p>
                      <a:pPr algn="l">
                        <a:lnSpc>
                          <a:spcPts val="3359"/>
                        </a:lnSpc>
                        <a:defRPr/>
                      </a:pPr>
                      <a:r>
                        <a:rPr lang="en-US" sz="2400">
                          <a:solidFill>
                            <a:srgbClr val="000000"/>
                          </a:solidFill>
                          <a:latin typeface="Canva Sans"/>
                          <a:ea typeface="Canva Sans"/>
                          <a:cs typeface="Canva Sans"/>
                          <a:sym typeface="Canva Sans"/>
                        </a:rPr>
                        <a:t>Prof. Dr. Magda Gregorová</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tcPr>
                </a:tc>
              </a:tr>
              <a:tr h="896687">
                <a:tc>
                  <a:txBody>
                    <a:bodyPr anchor="t" rtlCol="false"/>
                    <a:lstStyle/>
                    <a:p>
                      <a:pPr algn="l">
                        <a:lnSpc>
                          <a:spcPts val="3359"/>
                        </a:lnSpc>
                        <a:defRPr/>
                      </a:pPr>
                      <a:r>
                        <a:rPr lang="en-US" sz="2400">
                          <a:solidFill>
                            <a:srgbClr val="000000"/>
                          </a:solidFill>
                          <a:latin typeface="Canva Sans"/>
                          <a:ea typeface="Canva Sans"/>
                          <a:cs typeface="Canva Sans"/>
                          <a:sym typeface="Canva Sans"/>
                        </a:rPr>
                        <a:t>Client contacts</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c>
                  <a:txBody>
                    <a:bodyPr anchor="t" rtlCol="false"/>
                    <a:lstStyle/>
                    <a:p>
                      <a:pPr algn="l">
                        <a:lnSpc>
                          <a:spcPts val="3359"/>
                        </a:lnSpc>
                        <a:defRPr/>
                      </a:pPr>
                      <a:r>
                        <a:rPr lang="en-US" sz="2400">
                          <a:solidFill>
                            <a:srgbClr val="000000"/>
                          </a:solidFill>
                          <a:latin typeface="Canva Sans"/>
                          <a:ea typeface="Canva Sans"/>
                          <a:cs typeface="Canva Sans"/>
                          <a:sym typeface="Canva Sans"/>
                        </a:rPr>
                        <a:t>Nicole Paul, Jan Hansmann (IMES)</a:t>
                      </a:r>
                      <a:endParaRPr lang="en-US" sz="1100"/>
                    </a:p>
                  </a:txBody>
                  <a:tcPr marL="76200" marR="76200" marT="76200" marB="76200" anchor="ctr">
                    <a:lnL cmpd="sng" algn="ctr" cap="flat" w="8659">
                      <a:solidFill>
                        <a:srgbClr val="E3E6E4"/>
                      </a:solidFill>
                      <a:prstDash val="solid"/>
                      <a:round/>
                      <a:headEnd type="none" w="med" len="med"/>
                      <a:tailEnd type="none" w="med" len="med"/>
                    </a:lnL>
                    <a:lnR cmpd="sng" algn="ctr" cap="flat" w="8659">
                      <a:solidFill>
                        <a:srgbClr val="E3E6E4"/>
                      </a:solidFill>
                      <a:prstDash val="solid"/>
                      <a:round/>
                      <a:headEnd type="none" w="med" len="med"/>
                      <a:tailEnd type="none" w="med" len="med"/>
                    </a:lnR>
                    <a:lnT cmpd="sng" algn="ctr" cap="flat" w="8659">
                      <a:solidFill>
                        <a:srgbClr val="E3E6E4"/>
                      </a:solidFill>
                      <a:prstDash val="solid"/>
                      <a:round/>
                      <a:headEnd type="none" w="med" len="med"/>
                      <a:tailEnd type="none" w="med" len="med"/>
                    </a:lnT>
                    <a:lnB cmpd="sng" algn="ctr" cap="flat" w="8659">
                      <a:solidFill>
                        <a:srgbClr val="E3E6E4"/>
                      </a:solidFill>
                      <a:prstDash val="solid"/>
                      <a:round/>
                      <a:headEnd type="none" w="med" len="med"/>
                      <a:tailEnd type="none" w="med" len="med"/>
                    </a:lnB>
                    <a:solidFill>
                      <a:srgbClr val="F4F6F8"/>
                    </a:solidFill>
                  </a:tcPr>
                </a:tc>
              </a:tr>
            </a:tbl>
          </a:graphicData>
        </a:graphic>
      </p:graphicFrame>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820263" y="2024571"/>
            <a:ext cx="1696045" cy="863600"/>
          </a:xfrm>
          <a:prstGeom prst="rect">
            <a:avLst/>
          </a:prstGeom>
        </p:spPr>
        <p:txBody>
          <a:bodyPr anchor="t" rtlCol="false" tIns="0" lIns="0" bIns="0" rIns="0">
            <a:spAutoFit/>
          </a:bodyPr>
          <a:lstStyle/>
          <a:p>
            <a:pPr algn="ctr">
              <a:lnSpc>
                <a:spcPts val="7000"/>
              </a:lnSpc>
            </a:pPr>
            <a:r>
              <a:rPr lang="en-US" sz="5000" b="true">
                <a:solidFill>
                  <a:srgbClr val="12100E"/>
                </a:solidFill>
                <a:latin typeface="Canva Sans Bold"/>
                <a:ea typeface="Canva Sans Bold"/>
                <a:cs typeface="Canva Sans Bold"/>
                <a:sym typeface="Canva Sans Bold"/>
              </a:rPr>
              <a:t>Roles</a:t>
            </a:r>
          </a:p>
        </p:txBody>
      </p:sp>
      <p:sp>
        <p:nvSpPr>
          <p:cNvPr name="TextBox 8" id="8"/>
          <p:cNvSpPr txBox="true"/>
          <p:nvPr/>
        </p:nvSpPr>
        <p:spPr>
          <a:xfrm rot="0">
            <a:off x="820263" y="3118108"/>
            <a:ext cx="6176095" cy="935672"/>
          </a:xfrm>
          <a:prstGeom prst="rect">
            <a:avLst/>
          </a:prstGeom>
        </p:spPr>
        <p:txBody>
          <a:bodyPr anchor="t" rtlCol="false" tIns="0" lIns="0" bIns="0" rIns="0">
            <a:spAutoFit/>
          </a:bodyPr>
          <a:lstStyle/>
          <a:p>
            <a:pPr algn="l">
              <a:lnSpc>
                <a:spcPts val="2502"/>
              </a:lnSpc>
            </a:pPr>
            <a:r>
              <a:rPr lang="en-US" sz="1787" spc="-71">
                <a:solidFill>
                  <a:srgbClr val="12100E"/>
                </a:solidFill>
                <a:latin typeface="Open Sauce"/>
                <a:ea typeface="Open Sauce"/>
                <a:cs typeface="Open Sauce"/>
                <a:sym typeface="Open Sauce"/>
              </a:rPr>
              <a:t>NOT FORMALLY DECIDED </a:t>
            </a:r>
          </a:p>
          <a:p>
            <a:pPr algn="l">
              <a:lnSpc>
                <a:spcPts val="2502"/>
              </a:lnSpc>
            </a:pPr>
          </a:p>
          <a:p>
            <a:pPr algn="l">
              <a:lnSpc>
                <a:spcPts val="2502"/>
              </a:lnSpc>
              <a:spcBef>
                <a:spcPct val="0"/>
              </a:spcBef>
            </a:pPr>
            <a:r>
              <a:rPr lang="en-US" sz="1787" spc="-71">
                <a:solidFill>
                  <a:srgbClr val="12100E"/>
                </a:solidFill>
                <a:latin typeface="Open Sauce"/>
                <a:ea typeface="Open Sauce"/>
                <a:cs typeface="Open Sauce"/>
                <a:sym typeface="Open Sauce"/>
              </a:rPr>
              <a:t>ONE WOULD TAKE OWNERSHIP EVERY WEEK </a:t>
            </a:r>
          </a:p>
        </p:txBody>
      </p:sp>
      <p:sp>
        <p:nvSpPr>
          <p:cNvPr name="TextBox 9" id="9"/>
          <p:cNvSpPr txBox="true"/>
          <p:nvPr/>
        </p:nvSpPr>
        <p:spPr>
          <a:xfrm rot="0">
            <a:off x="634010" y="4279900"/>
            <a:ext cx="4582046" cy="863600"/>
          </a:xfrm>
          <a:prstGeom prst="rect">
            <a:avLst/>
          </a:prstGeom>
        </p:spPr>
        <p:txBody>
          <a:bodyPr anchor="t" rtlCol="false" tIns="0" lIns="0" bIns="0" rIns="0">
            <a:spAutoFit/>
          </a:bodyPr>
          <a:lstStyle/>
          <a:p>
            <a:pPr algn="ctr">
              <a:lnSpc>
                <a:spcPts val="7000"/>
              </a:lnSpc>
            </a:pPr>
            <a:r>
              <a:rPr lang="en-US" sz="5000" b="true">
                <a:solidFill>
                  <a:srgbClr val="12100E"/>
                </a:solidFill>
                <a:latin typeface="Canva Sans Bold"/>
                <a:ea typeface="Canva Sans Bold"/>
                <a:cs typeface="Canva Sans Bold"/>
                <a:sym typeface="Canva Sans Bold"/>
              </a:rPr>
              <a:t>Possible Roles </a:t>
            </a:r>
          </a:p>
        </p:txBody>
      </p:sp>
      <p:sp>
        <p:nvSpPr>
          <p:cNvPr name="TextBox 10" id="10"/>
          <p:cNvSpPr txBox="true"/>
          <p:nvPr/>
        </p:nvSpPr>
        <p:spPr>
          <a:xfrm rot="0">
            <a:off x="708907" y="5438775"/>
            <a:ext cx="15626934" cy="2190773"/>
          </a:xfrm>
          <a:prstGeom prst="rect">
            <a:avLst/>
          </a:prstGeom>
        </p:spPr>
        <p:txBody>
          <a:bodyPr anchor="t" rtlCol="false" tIns="0" lIns="0" bIns="0" rIns="0">
            <a:spAutoFit/>
          </a:bodyPr>
          <a:lstStyle/>
          <a:p>
            <a:pPr algn="l" marL="450406" indent="-225203" lvl="1">
              <a:lnSpc>
                <a:spcPts val="2920"/>
              </a:lnSpc>
              <a:spcBef>
                <a:spcPct val="0"/>
              </a:spcBef>
              <a:buFont typeface="Arial"/>
              <a:buChar char="•"/>
            </a:pPr>
            <a:r>
              <a:rPr lang="en-US" sz="2086">
                <a:solidFill>
                  <a:srgbClr val="12100E"/>
                </a:solidFill>
                <a:latin typeface="Canva Sans"/>
                <a:ea typeface="Canva Sans"/>
                <a:cs typeface="Canva Sans"/>
                <a:sym typeface="Canva Sans"/>
              </a:rPr>
              <a:t>Data Part: </a:t>
            </a:r>
            <a:r>
              <a:rPr lang="en-US" sz="2086">
                <a:solidFill>
                  <a:srgbClr val="12100E"/>
                </a:solidFill>
                <a:latin typeface="Canva Sans"/>
                <a:ea typeface="Canva Sans"/>
                <a:cs typeface="Canva Sans"/>
                <a:sym typeface="Canva Sans"/>
              </a:rPr>
              <a:t>owns communication with Nicole/Jan, tracks open questions, brings back answers (pavin, prethebha, priyam)</a:t>
            </a:r>
          </a:p>
          <a:p>
            <a:pPr algn="l">
              <a:lnSpc>
                <a:spcPts val="2920"/>
              </a:lnSpc>
              <a:spcBef>
                <a:spcPct val="0"/>
              </a:spcBef>
            </a:pPr>
          </a:p>
          <a:p>
            <a:pPr algn="l" marL="450406" indent="-225203" lvl="1">
              <a:lnSpc>
                <a:spcPts val="2920"/>
              </a:lnSpc>
              <a:spcBef>
                <a:spcPct val="0"/>
              </a:spcBef>
              <a:buFont typeface="Arial"/>
              <a:buChar char="•"/>
            </a:pPr>
            <a:r>
              <a:rPr lang="en-US" sz="2086">
                <a:solidFill>
                  <a:srgbClr val="12100E"/>
                </a:solidFill>
                <a:latin typeface="Canva Sans"/>
                <a:ea typeface="Canva Sans"/>
                <a:cs typeface="Canva Sans"/>
                <a:sym typeface="Canva Sans"/>
              </a:rPr>
              <a:t>Pipeline Part: owns preprocessing, evaluation and repo health keeping (pavin, prethebha, priyam)</a:t>
            </a:r>
          </a:p>
          <a:p>
            <a:pPr algn="l">
              <a:lnSpc>
                <a:spcPts val="2920"/>
              </a:lnSpc>
              <a:spcBef>
                <a:spcPct val="0"/>
              </a:spcBef>
            </a:pPr>
          </a:p>
          <a:p>
            <a:pPr algn="l" marL="450406" indent="-225203" lvl="1">
              <a:lnSpc>
                <a:spcPts val="2920"/>
              </a:lnSpc>
              <a:spcBef>
                <a:spcPct val="0"/>
              </a:spcBef>
              <a:buFont typeface="Arial"/>
              <a:buChar char="•"/>
            </a:pPr>
            <a:r>
              <a:rPr lang="en-US" sz="2086">
                <a:solidFill>
                  <a:srgbClr val="12100E"/>
                </a:solidFill>
                <a:latin typeface="Canva Sans"/>
                <a:ea typeface="Canva Sans"/>
                <a:cs typeface="Canva Sans"/>
                <a:sym typeface="Canva Sans"/>
              </a:rPr>
              <a:t>Modeling Part: owns running and comparing candidate models against the baseline (pavin, prethebha, priyam)</a:t>
            </a:r>
          </a:p>
          <a:p>
            <a:pPr algn="l">
              <a:lnSpc>
                <a:spcPts val="2920"/>
              </a:lnSpc>
              <a:spcBef>
                <a:spcPct val="0"/>
              </a:spcBef>
            </a:pPr>
          </a:p>
        </p:txBody>
      </p:sp>
      <p:sp>
        <p:nvSpPr>
          <p:cNvPr name="TextBox 11" id="11"/>
          <p:cNvSpPr txBox="true"/>
          <p:nvPr/>
        </p:nvSpPr>
        <p:spPr>
          <a:xfrm rot="0">
            <a:off x="0" y="7839098"/>
            <a:ext cx="18288000" cy="1047750"/>
          </a:xfrm>
          <a:prstGeom prst="rect">
            <a:avLst/>
          </a:prstGeom>
        </p:spPr>
        <p:txBody>
          <a:bodyPr anchor="t" rtlCol="false" tIns="0" lIns="0" bIns="0" rIns="0">
            <a:spAutoFit/>
          </a:bodyPr>
          <a:lstStyle/>
          <a:p>
            <a:pPr algn="ctr">
              <a:lnSpc>
                <a:spcPts val="4200"/>
              </a:lnSpc>
              <a:spcBef>
                <a:spcPct val="0"/>
              </a:spcBef>
            </a:pPr>
            <a:r>
              <a:rPr lang="en-US" b="true" sz="3000">
                <a:solidFill>
                  <a:srgbClr val="12100E"/>
                </a:solidFill>
                <a:latin typeface="Canva Sans Bold"/>
                <a:ea typeface="Canva Sans Bold"/>
                <a:cs typeface="Canva Sans Bold"/>
                <a:sym typeface="Canva Sans Bold"/>
              </a:rPr>
              <a:t>Everybody’s contribution will be visible via branch and git commits and a report on what’s done every week/milestone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708907" y="1892418"/>
            <a:ext cx="10843989"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Tr</a:t>
            </a:r>
            <a:r>
              <a:rPr lang="en-US" b="true" sz="6000">
                <a:solidFill>
                  <a:srgbClr val="12100E"/>
                </a:solidFill>
                <a:latin typeface="Canva Sans Bold"/>
                <a:ea typeface="Canva Sans Bold"/>
                <a:cs typeface="Canva Sans Bold"/>
                <a:sym typeface="Canva Sans Bold"/>
              </a:rPr>
              <a:t>acking and Communication</a:t>
            </a:r>
          </a:p>
        </p:txBody>
      </p:sp>
      <p:sp>
        <p:nvSpPr>
          <p:cNvPr name="TextBox 8" id="8"/>
          <p:cNvSpPr txBox="true"/>
          <p:nvPr/>
        </p:nvSpPr>
        <p:spPr>
          <a:xfrm rot="0">
            <a:off x="708907" y="2863968"/>
            <a:ext cx="15164246" cy="4563223"/>
          </a:xfrm>
          <a:prstGeom prst="rect">
            <a:avLst/>
          </a:prstGeom>
        </p:spPr>
        <p:txBody>
          <a:bodyPr anchor="t" rtlCol="false" tIns="0" lIns="0" bIns="0" rIns="0">
            <a:spAutoFit/>
          </a:bodyPr>
          <a:lstStyle/>
          <a:p>
            <a:pPr algn="just">
              <a:lnSpc>
                <a:spcPts val="3633"/>
              </a:lnSpc>
            </a:pPr>
          </a:p>
          <a:p>
            <a:pPr algn="just">
              <a:lnSpc>
                <a:spcPts val="3633"/>
              </a:lnSpc>
              <a:spcBef>
                <a:spcPct val="0"/>
              </a:spcBef>
            </a:pPr>
            <a:r>
              <a:rPr lang="en-US" b="true" sz="2595">
                <a:solidFill>
                  <a:srgbClr val="12100E"/>
                </a:solidFill>
                <a:latin typeface="Canva Sans Bold"/>
                <a:ea typeface="Canva Sans Bold"/>
                <a:cs typeface="Canva Sans Bold"/>
                <a:sym typeface="Canva Sans Bold"/>
              </a:rPr>
              <a:t>Github Rep</a:t>
            </a:r>
            <a:r>
              <a:rPr lang="en-US" b="true" sz="2595">
                <a:solidFill>
                  <a:srgbClr val="12100E"/>
                </a:solidFill>
                <a:latin typeface="Canva Sans Bold"/>
                <a:ea typeface="Canva Sans Bold"/>
                <a:cs typeface="Canva Sans Bold"/>
                <a:sym typeface="Canva Sans Bold"/>
              </a:rPr>
              <a:t>ository &amp; Github Project board (Under Github Organizations)</a:t>
            </a:r>
          </a:p>
          <a:p>
            <a:pPr algn="just" marL="560375" indent="-280188" lvl="1">
              <a:lnSpc>
                <a:spcPts val="3633"/>
              </a:lnSpc>
              <a:spcBef>
                <a:spcPct val="0"/>
              </a:spcBef>
              <a:buFont typeface="Arial"/>
              <a:buChar char="•"/>
            </a:pPr>
            <a:r>
              <a:rPr lang="en-US" sz="2595">
                <a:solidFill>
                  <a:srgbClr val="12100E"/>
                </a:solidFill>
                <a:latin typeface="Canva Sans"/>
                <a:ea typeface="Canva Sans"/>
                <a:cs typeface="Canva Sans"/>
                <a:sym typeface="Canva Sans"/>
              </a:rPr>
              <a:t>GitHub org cell-foundry-team, team + mentor as members.</a:t>
            </a:r>
          </a:p>
          <a:p>
            <a:pPr algn="just" marL="560375" indent="-280188" lvl="1">
              <a:lnSpc>
                <a:spcPts val="3633"/>
              </a:lnSpc>
              <a:spcBef>
                <a:spcPct val="0"/>
              </a:spcBef>
              <a:buFont typeface="Arial"/>
              <a:buChar char="•"/>
            </a:pPr>
            <a:r>
              <a:rPr lang="en-US" sz="2595">
                <a:solidFill>
                  <a:srgbClr val="12100E"/>
                </a:solidFill>
                <a:latin typeface="Canva Sans"/>
                <a:ea typeface="Canva Sans"/>
                <a:cs typeface="Canva Sans"/>
                <a:sym typeface="Canva Sans"/>
              </a:rPr>
              <a:t>Branch protection on main: PR + review required</a:t>
            </a:r>
          </a:p>
          <a:p>
            <a:pPr algn="just" marL="560375" indent="-280188" lvl="1">
              <a:lnSpc>
                <a:spcPts val="3633"/>
              </a:lnSpc>
              <a:spcBef>
                <a:spcPct val="0"/>
              </a:spcBef>
              <a:buFont typeface="Arial"/>
              <a:buChar char="•"/>
            </a:pPr>
            <a:r>
              <a:rPr lang="en-US" sz="2595">
                <a:solidFill>
                  <a:srgbClr val="12100E"/>
                </a:solidFill>
                <a:latin typeface="Canva Sans"/>
                <a:ea typeface="Canva Sans"/>
                <a:cs typeface="Canva Sans"/>
                <a:sym typeface="Canva Sans"/>
              </a:rPr>
              <a:t>Labels by species, modality, work type.</a:t>
            </a:r>
          </a:p>
          <a:p>
            <a:pPr algn="just" marL="560375" indent="-280188" lvl="1">
              <a:lnSpc>
                <a:spcPts val="3633"/>
              </a:lnSpc>
              <a:spcBef>
                <a:spcPct val="0"/>
              </a:spcBef>
              <a:buFont typeface="Arial"/>
              <a:buChar char="•"/>
            </a:pPr>
            <a:r>
              <a:rPr lang="en-US" sz="2595">
                <a:solidFill>
                  <a:srgbClr val="12100E"/>
                </a:solidFill>
                <a:latin typeface="Canva Sans"/>
                <a:ea typeface="Canva Sans"/>
                <a:cs typeface="Canva Sans"/>
                <a:sym typeface="Canva Sans"/>
              </a:rPr>
              <a:t>Milestones mirroring the work sequence.</a:t>
            </a:r>
          </a:p>
          <a:p>
            <a:pPr algn="just" marL="560375" indent="-280188" lvl="1">
              <a:lnSpc>
                <a:spcPts val="3633"/>
              </a:lnSpc>
              <a:spcBef>
                <a:spcPct val="0"/>
              </a:spcBef>
              <a:buFont typeface="Arial"/>
              <a:buChar char="•"/>
            </a:pPr>
            <a:r>
              <a:rPr lang="en-US" sz="2595">
                <a:solidFill>
                  <a:srgbClr val="12100E"/>
                </a:solidFill>
                <a:latin typeface="Canva Sans"/>
                <a:ea typeface="Canva Sans"/>
                <a:cs typeface="Canva Sans"/>
                <a:sym typeface="Canva Sans"/>
              </a:rPr>
              <a:t>Project Board: Backlog → In Progress → In Review → Done.</a:t>
            </a:r>
          </a:p>
          <a:p>
            <a:pPr algn="just" marL="560375" indent="-280188" lvl="1">
              <a:lnSpc>
                <a:spcPts val="3633"/>
              </a:lnSpc>
              <a:spcBef>
                <a:spcPct val="0"/>
              </a:spcBef>
              <a:buFont typeface="Arial"/>
              <a:buChar char="•"/>
            </a:pPr>
            <a:r>
              <a:rPr lang="en-US" sz="2595">
                <a:solidFill>
                  <a:srgbClr val="12100E"/>
                </a:solidFill>
                <a:latin typeface="Canva Sans"/>
                <a:ea typeface="Canva Sans"/>
                <a:cs typeface="Canva Sans"/>
                <a:sym typeface="Canva Sans"/>
              </a:rPr>
              <a:t>Minutes written up and committed after every meeting. (kickoff meeting already logged)</a:t>
            </a:r>
          </a:p>
          <a:p>
            <a:pPr algn="just" marL="560375" indent="-280188" lvl="1">
              <a:lnSpc>
                <a:spcPts val="3633"/>
              </a:lnSpc>
              <a:spcBef>
                <a:spcPct val="0"/>
              </a:spcBef>
              <a:buFont typeface="Arial"/>
              <a:buChar char="•"/>
            </a:pPr>
            <a:r>
              <a:rPr lang="en-US" sz="2595">
                <a:solidFill>
                  <a:srgbClr val="12100E"/>
                </a:solidFill>
                <a:latin typeface="Canva Sans"/>
                <a:ea typeface="Canva Sans"/>
                <a:cs typeface="Canva Sans"/>
                <a:sym typeface="Canva Sans"/>
              </a:rPr>
              <a:t>Mentor meetings: biweekly, 1 hour, slides before, minutes both in git.</a:t>
            </a:r>
          </a:p>
          <a:p>
            <a:pPr algn="just">
              <a:lnSpc>
                <a:spcPts val="3633"/>
              </a:lnSpc>
              <a:spcBef>
                <a:spcPct val="0"/>
              </a:spcBef>
            </a:pPr>
          </a:p>
        </p:txBody>
      </p:sp>
      <p:sp>
        <p:nvSpPr>
          <p:cNvPr name="TextBox 9" id="9"/>
          <p:cNvSpPr txBox="true"/>
          <p:nvPr/>
        </p:nvSpPr>
        <p:spPr>
          <a:xfrm rot="0">
            <a:off x="0" y="8163236"/>
            <a:ext cx="18288000" cy="1047750"/>
          </a:xfrm>
          <a:prstGeom prst="rect">
            <a:avLst/>
          </a:prstGeom>
        </p:spPr>
        <p:txBody>
          <a:bodyPr anchor="t" rtlCol="false" tIns="0" lIns="0" bIns="0" rIns="0">
            <a:spAutoFit/>
          </a:bodyPr>
          <a:lstStyle/>
          <a:p>
            <a:pPr algn="ctr">
              <a:lnSpc>
                <a:spcPts val="4200"/>
              </a:lnSpc>
              <a:spcBef>
                <a:spcPct val="0"/>
              </a:spcBef>
            </a:pPr>
            <a:r>
              <a:rPr lang="en-US" b="true" sz="3000">
                <a:solidFill>
                  <a:srgbClr val="12100E"/>
                </a:solidFill>
                <a:latin typeface="Canva Sans Bold"/>
                <a:ea typeface="Canva Sans Bold"/>
                <a:cs typeface="Canva Sans Bold"/>
                <a:sym typeface="Canva Sans Bold"/>
              </a:rPr>
              <a:t>Rule </a:t>
            </a:r>
            <a:r>
              <a:rPr lang="en-US" b="true" sz="3000">
                <a:solidFill>
                  <a:srgbClr val="12100E"/>
                </a:solidFill>
                <a:latin typeface="Canva Sans Bold"/>
                <a:ea typeface="Canva Sans Bold"/>
                <a:cs typeface="Canva Sans Bold"/>
                <a:sym typeface="Canva Sans Bold"/>
              </a:rPr>
              <a:t>of thumb: anything that’s a permanent record goes in git; day-to-day coordination goes in chat.</a:t>
            </a:r>
          </a:p>
        </p:txBody>
      </p:sp>
      <p:sp>
        <p:nvSpPr>
          <p:cNvPr name="TextBox 10" id="10"/>
          <p:cNvSpPr txBox="true"/>
          <p:nvPr/>
        </p:nvSpPr>
        <p:spPr>
          <a:xfrm rot="0">
            <a:off x="708907" y="7245660"/>
            <a:ext cx="18288000" cy="422275"/>
          </a:xfrm>
          <a:prstGeom prst="rect">
            <a:avLst/>
          </a:prstGeom>
        </p:spPr>
        <p:txBody>
          <a:bodyPr anchor="t" rtlCol="false" tIns="0" lIns="0" bIns="0" rIns="0">
            <a:spAutoFit/>
          </a:bodyPr>
          <a:lstStyle/>
          <a:p>
            <a:pPr algn="l">
              <a:lnSpc>
                <a:spcPts val="3499"/>
              </a:lnSpc>
              <a:spcBef>
                <a:spcPct val="0"/>
              </a:spcBef>
            </a:pPr>
            <a:r>
              <a:rPr lang="en-US" b="true" sz="2499">
                <a:solidFill>
                  <a:srgbClr val="12100E"/>
                </a:solidFill>
                <a:latin typeface="Canva Sans Bold"/>
                <a:ea typeface="Canva Sans Bold"/>
                <a:cs typeface="Canva Sans Bold"/>
                <a:sym typeface="Canva Sans Bold"/>
              </a:rPr>
              <a:t>Discord: </a:t>
            </a:r>
            <a:r>
              <a:rPr lang="en-US" sz="2499">
                <a:solidFill>
                  <a:srgbClr val="12100E"/>
                </a:solidFill>
                <a:latin typeface="Canva Sans"/>
                <a:ea typeface="Canva Sans"/>
                <a:cs typeface="Canva Sans"/>
                <a:sym typeface="Canva Sans"/>
              </a:rPr>
              <a:t>for communication between teammates</a:t>
            </a:r>
          </a:p>
        </p:txBody>
      </p:sp>
      <p:sp>
        <p:nvSpPr>
          <p:cNvPr name="TextBox 11" id="11"/>
          <p:cNvSpPr txBox="true"/>
          <p:nvPr/>
        </p:nvSpPr>
        <p:spPr>
          <a:xfrm rot="0">
            <a:off x="12560096" y="3413154"/>
            <a:ext cx="489719" cy="330870"/>
          </a:xfrm>
          <a:prstGeom prst="rect">
            <a:avLst/>
          </a:prstGeom>
        </p:spPr>
        <p:txBody>
          <a:bodyPr anchor="t" rtlCol="false" tIns="0" lIns="0" bIns="0" rIns="0">
            <a:spAutoFit/>
          </a:bodyPr>
          <a:lstStyle/>
          <a:p>
            <a:pPr algn="ctr">
              <a:lnSpc>
                <a:spcPts val="2763"/>
              </a:lnSpc>
            </a:pPr>
            <a:r>
              <a:rPr lang="en-US" sz="1973" u="sng">
                <a:solidFill>
                  <a:srgbClr val="12100E"/>
                </a:solidFill>
                <a:latin typeface="Canva Sans"/>
                <a:ea typeface="Canva Sans"/>
                <a:cs typeface="Canva Sans"/>
                <a:sym typeface="Canva Sans"/>
                <a:hlinkClick r:id="rId4" tooltip="https://github.com/settings/organizations"/>
              </a:rPr>
              <a:t>Link</a:t>
            </a:r>
          </a:p>
        </p:txBody>
      </p:sp>
      <p:sp>
        <p:nvSpPr>
          <p:cNvPr name="TextBox 12" id="12"/>
          <p:cNvSpPr txBox="true"/>
          <p:nvPr/>
        </p:nvSpPr>
        <p:spPr>
          <a:xfrm rot="0">
            <a:off x="8858585" y="7262171"/>
            <a:ext cx="570830" cy="389254"/>
          </a:xfrm>
          <a:prstGeom prst="rect">
            <a:avLst/>
          </a:prstGeom>
        </p:spPr>
        <p:txBody>
          <a:bodyPr anchor="t" rtlCol="false" tIns="0" lIns="0" bIns="0" rIns="0">
            <a:spAutoFit/>
          </a:bodyPr>
          <a:lstStyle/>
          <a:p>
            <a:pPr algn="ctr">
              <a:lnSpc>
                <a:spcPts val="3220"/>
              </a:lnSpc>
            </a:pPr>
            <a:r>
              <a:rPr lang="en-US" sz="2300" u="sng">
                <a:solidFill>
                  <a:srgbClr val="12100E"/>
                </a:solidFill>
                <a:latin typeface="Canva Sans"/>
                <a:ea typeface="Canva Sans"/>
                <a:cs typeface="Canva Sans"/>
                <a:sym typeface="Canva Sans"/>
                <a:hlinkClick r:id="rId5" tooltip="https://discord.gg/jvTn7ZJj"/>
              </a:rPr>
              <a:t>Link</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AutoShape 2" id="2"/>
          <p:cNvSpPr/>
          <p:nvPr/>
        </p:nvSpPr>
        <p:spPr>
          <a:xfrm>
            <a:off x="708907" y="9487211"/>
            <a:ext cx="639585" cy="0"/>
          </a:xfrm>
          <a:prstGeom prst="line">
            <a:avLst/>
          </a:prstGeom>
          <a:ln cap="flat" w="114300">
            <a:solidFill>
              <a:srgbClr val="FE8213"/>
            </a:solidFill>
            <a:prstDash val="solid"/>
            <a:headEnd type="none" len="sm" w="sm"/>
            <a:tailEnd type="none" len="sm" w="sm"/>
          </a:ln>
        </p:spPr>
      </p:sp>
      <p:sp>
        <p:nvSpPr>
          <p:cNvPr name="Freeform 3" id="3"/>
          <p:cNvSpPr/>
          <p:nvPr/>
        </p:nvSpPr>
        <p:spPr>
          <a:xfrm flipH="false" flipV="false" rot="0">
            <a:off x="553031" y="708008"/>
            <a:ext cx="5017743" cy="1298710"/>
          </a:xfrm>
          <a:custGeom>
            <a:avLst/>
            <a:gdLst/>
            <a:ahLst/>
            <a:cxnLst/>
            <a:rect r="r" b="b" t="t" l="l"/>
            <a:pathLst>
              <a:path h="1298710" w="5017743">
                <a:moveTo>
                  <a:pt x="0" y="0"/>
                </a:moveTo>
                <a:lnTo>
                  <a:pt x="5017743" y="0"/>
                </a:lnTo>
                <a:lnTo>
                  <a:pt x="5017743" y="1298710"/>
                </a:lnTo>
                <a:lnTo>
                  <a:pt x="0" y="1298710"/>
                </a:lnTo>
                <a:lnTo>
                  <a:pt x="0" y="0"/>
                </a:lnTo>
                <a:close/>
              </a:path>
            </a:pathLst>
          </a:custGeom>
          <a:blipFill>
            <a:blip r:embed="rId2"/>
            <a:stretch>
              <a:fillRect l="0" t="0" r="0" b="0"/>
            </a:stretch>
          </a:blipFill>
        </p:spPr>
      </p:sp>
      <p:sp>
        <p:nvSpPr>
          <p:cNvPr name="TextBox 4" id="4"/>
          <p:cNvSpPr txBox="true"/>
          <p:nvPr/>
        </p:nvSpPr>
        <p:spPr>
          <a:xfrm rot="0">
            <a:off x="553031" y="9723887"/>
            <a:ext cx="2230508" cy="309150"/>
          </a:xfrm>
          <a:prstGeom prst="rect">
            <a:avLst/>
          </a:prstGeom>
        </p:spPr>
        <p:txBody>
          <a:bodyPr anchor="t" rtlCol="false" tIns="0" lIns="0" bIns="0" rIns="0">
            <a:spAutoFit/>
          </a:bodyPr>
          <a:lstStyle/>
          <a:p>
            <a:pPr algn="l">
              <a:lnSpc>
                <a:spcPts val="2502"/>
              </a:lnSpc>
            </a:pPr>
            <a:r>
              <a:rPr lang="en-US" b="true" sz="1787" spc="-71">
                <a:solidFill>
                  <a:srgbClr val="12100E"/>
                </a:solidFill>
                <a:latin typeface="Open Sauce Heavy"/>
                <a:ea typeface="Open Sauce Heavy"/>
                <a:cs typeface="Open Sauce Heavy"/>
                <a:sym typeface="Open Sauce Heavy"/>
              </a:rPr>
              <a:t>CELL FOUNDRY</a:t>
            </a:r>
          </a:p>
        </p:txBody>
      </p:sp>
      <p:sp>
        <p:nvSpPr>
          <p:cNvPr name="TextBox 5" id="5"/>
          <p:cNvSpPr txBox="true"/>
          <p:nvPr/>
        </p:nvSpPr>
        <p:spPr>
          <a:xfrm rot="0">
            <a:off x="12894229" y="9560829"/>
            <a:ext cx="5034688" cy="364216"/>
          </a:xfrm>
          <a:prstGeom prst="rect">
            <a:avLst/>
          </a:prstGeom>
        </p:spPr>
        <p:txBody>
          <a:bodyPr anchor="t" rtlCol="false" tIns="0" lIns="0" bIns="0" rIns="0">
            <a:spAutoFit/>
          </a:bodyPr>
          <a:lstStyle/>
          <a:p>
            <a:pPr algn="l">
              <a:lnSpc>
                <a:spcPts val="3025"/>
              </a:lnSpc>
            </a:pPr>
            <a:r>
              <a:rPr lang="en-US" sz="2160" spc="-43">
                <a:solidFill>
                  <a:srgbClr val="12100E"/>
                </a:solidFill>
                <a:latin typeface="Noto Serif"/>
                <a:ea typeface="Noto Serif"/>
                <a:cs typeface="Noto Serif"/>
                <a:sym typeface="Noto Serif"/>
              </a:rPr>
              <a:t>Meeting Title: Project Plan </a:t>
            </a:r>
          </a:p>
        </p:txBody>
      </p:sp>
      <p:sp>
        <p:nvSpPr>
          <p:cNvPr name="Freeform 6" id="6"/>
          <p:cNvSpPr/>
          <p:nvPr/>
        </p:nvSpPr>
        <p:spPr>
          <a:xfrm flipH="false" flipV="false" rot="0">
            <a:off x="13282690" y="835665"/>
            <a:ext cx="4646228" cy="1171053"/>
          </a:xfrm>
          <a:custGeom>
            <a:avLst/>
            <a:gdLst/>
            <a:ahLst/>
            <a:cxnLst/>
            <a:rect r="r" b="b" t="t" l="l"/>
            <a:pathLst>
              <a:path h="1171053" w="4646228">
                <a:moveTo>
                  <a:pt x="0" y="0"/>
                </a:moveTo>
                <a:lnTo>
                  <a:pt x="4646228" y="0"/>
                </a:lnTo>
                <a:lnTo>
                  <a:pt x="4646228" y="1171053"/>
                </a:lnTo>
                <a:lnTo>
                  <a:pt x="0" y="1171053"/>
                </a:lnTo>
                <a:lnTo>
                  <a:pt x="0" y="0"/>
                </a:lnTo>
                <a:close/>
              </a:path>
            </a:pathLst>
          </a:custGeom>
          <a:blipFill>
            <a:blip r:embed="rId3"/>
            <a:stretch>
              <a:fillRect l="0" t="-1044" r="0" b="-79123"/>
            </a:stretch>
          </a:blipFill>
        </p:spPr>
      </p:sp>
      <p:sp>
        <p:nvSpPr>
          <p:cNvPr name="TextBox 7" id="7"/>
          <p:cNvSpPr txBox="true"/>
          <p:nvPr/>
        </p:nvSpPr>
        <p:spPr>
          <a:xfrm rot="0">
            <a:off x="939074" y="1657801"/>
            <a:ext cx="6951762" cy="1028700"/>
          </a:xfrm>
          <a:prstGeom prst="rect">
            <a:avLst/>
          </a:prstGeom>
        </p:spPr>
        <p:txBody>
          <a:bodyPr anchor="t" rtlCol="false" tIns="0" lIns="0" bIns="0" rIns="0">
            <a:spAutoFit/>
          </a:bodyPr>
          <a:lstStyle/>
          <a:p>
            <a:pPr algn="ctr">
              <a:lnSpc>
                <a:spcPts val="8400"/>
              </a:lnSpc>
            </a:pPr>
            <a:r>
              <a:rPr lang="en-US" sz="6000" b="true">
                <a:solidFill>
                  <a:srgbClr val="12100E"/>
                </a:solidFill>
                <a:latin typeface="Canva Sans Bold"/>
                <a:ea typeface="Canva Sans Bold"/>
                <a:cs typeface="Canva Sans Bold"/>
                <a:sym typeface="Canva Sans Bold"/>
              </a:rPr>
              <a:t>Evaluation Metrics</a:t>
            </a:r>
          </a:p>
        </p:txBody>
      </p:sp>
      <p:sp>
        <p:nvSpPr>
          <p:cNvPr name="TextBox 8" id="8"/>
          <p:cNvSpPr txBox="true"/>
          <p:nvPr/>
        </p:nvSpPr>
        <p:spPr>
          <a:xfrm rot="0">
            <a:off x="939074" y="2983362"/>
            <a:ext cx="16409853" cy="6073775"/>
          </a:xfrm>
          <a:prstGeom prst="rect">
            <a:avLst/>
          </a:prstGeom>
        </p:spPr>
        <p:txBody>
          <a:bodyPr anchor="t" rtlCol="false" tIns="0" lIns="0" bIns="0" rIns="0">
            <a:spAutoFit/>
          </a:bodyPr>
          <a:lstStyle/>
          <a:p>
            <a:pPr algn="l">
              <a:lnSpc>
                <a:spcPts val="2800"/>
              </a:lnSpc>
              <a:spcBef>
                <a:spcPct val="0"/>
              </a:spcBef>
            </a:pPr>
            <a:r>
              <a:rPr lang="en-US" b="true" sz="2000" spc="-80">
                <a:solidFill>
                  <a:srgbClr val="12100E"/>
                </a:solidFill>
                <a:latin typeface="Canva Sans Bold"/>
                <a:ea typeface="Canva Sans Bold"/>
                <a:cs typeface="Canva Sans Bold"/>
                <a:sym typeface="Canva Sans Bold"/>
              </a:rPr>
              <a:t>Pixel-level evaluation metrics </a:t>
            </a:r>
          </a:p>
          <a:p>
            <a:pPr algn="l" marL="431801" indent="-215900" lvl="1">
              <a:lnSpc>
                <a:spcPts val="2800"/>
              </a:lnSpc>
              <a:spcBef>
                <a:spcPct val="0"/>
              </a:spcBef>
              <a:buFont typeface="Arial"/>
              <a:buChar char="•"/>
            </a:pPr>
            <a:r>
              <a:rPr lang="en-US" b="true" sz="2000" spc="-80">
                <a:solidFill>
                  <a:srgbClr val="12100E"/>
                </a:solidFill>
                <a:latin typeface="Canva Sans Bold"/>
                <a:ea typeface="Canva Sans Bold"/>
                <a:cs typeface="Canva Sans Bold"/>
                <a:sym typeface="Canva Sans Bold"/>
              </a:rPr>
              <a:t>Dice</a:t>
            </a:r>
            <a:r>
              <a:rPr lang="en-US" sz="2000" spc="-80">
                <a:solidFill>
                  <a:srgbClr val="12100E"/>
                </a:solidFill>
                <a:latin typeface="Canva Sans"/>
                <a:ea typeface="Canva Sans"/>
                <a:cs typeface="Canva Sans"/>
                <a:sym typeface="Canva Sans"/>
              </a:rPr>
              <a:t> = 2·TP / (2·TP + FP + FN)</a:t>
            </a:r>
          </a:p>
          <a:p>
            <a:pPr algn="l" marL="431801" indent="-215900" lvl="1">
              <a:lnSpc>
                <a:spcPts val="2800"/>
              </a:lnSpc>
              <a:spcBef>
                <a:spcPct val="0"/>
              </a:spcBef>
              <a:buFont typeface="Arial"/>
              <a:buChar char="•"/>
            </a:pPr>
            <a:r>
              <a:rPr lang="en-US" b="true" sz="2000" spc="-80">
                <a:solidFill>
                  <a:srgbClr val="12100E"/>
                </a:solidFill>
                <a:latin typeface="Canva Sans Bold"/>
                <a:ea typeface="Canva Sans Bold"/>
                <a:cs typeface="Canva Sans Bold"/>
                <a:sym typeface="Canva Sans Bold"/>
              </a:rPr>
              <a:t>IoU</a:t>
            </a:r>
            <a:r>
              <a:rPr lang="en-US" sz="2000" spc="-80">
                <a:solidFill>
                  <a:srgbClr val="12100E"/>
                </a:solidFill>
                <a:latin typeface="Canva Sans"/>
                <a:ea typeface="Canva Sans"/>
                <a:cs typeface="Canva Sans"/>
                <a:sym typeface="Canva Sans"/>
              </a:rPr>
              <a:t> = TP / (TP + FP + FN)</a:t>
            </a:r>
          </a:p>
          <a:p>
            <a:pPr algn="l" marL="431801" indent="-215900" lvl="1">
              <a:lnSpc>
                <a:spcPts val="2800"/>
              </a:lnSpc>
              <a:spcBef>
                <a:spcPct val="0"/>
              </a:spcBef>
              <a:buFont typeface="Arial"/>
              <a:buChar char="•"/>
            </a:pPr>
            <a:r>
              <a:rPr lang="en-US" b="true" sz="2000" spc="-80">
                <a:solidFill>
                  <a:srgbClr val="12100E"/>
                </a:solidFill>
                <a:latin typeface="Canva Sans Bold"/>
                <a:ea typeface="Canva Sans Bold"/>
                <a:cs typeface="Canva Sans Bold"/>
                <a:sym typeface="Canva Sans Bold"/>
              </a:rPr>
              <a:t>Precision</a:t>
            </a:r>
            <a:r>
              <a:rPr lang="en-US" sz="2000" spc="-80">
                <a:solidFill>
                  <a:srgbClr val="12100E"/>
                </a:solidFill>
                <a:latin typeface="Canva Sans"/>
                <a:ea typeface="Canva Sans"/>
                <a:cs typeface="Canva Sans"/>
                <a:sym typeface="Canva Sans"/>
              </a:rPr>
              <a:t> = TP / (TP + FP)</a:t>
            </a:r>
          </a:p>
          <a:p>
            <a:pPr algn="l" marL="431801" indent="-215900" lvl="1">
              <a:lnSpc>
                <a:spcPts val="2800"/>
              </a:lnSpc>
              <a:spcBef>
                <a:spcPct val="0"/>
              </a:spcBef>
              <a:buFont typeface="Arial"/>
              <a:buChar char="•"/>
            </a:pPr>
            <a:r>
              <a:rPr lang="en-US" b="true" sz="2000" spc="-80">
                <a:solidFill>
                  <a:srgbClr val="12100E"/>
                </a:solidFill>
                <a:latin typeface="Canva Sans Bold"/>
                <a:ea typeface="Canva Sans Bold"/>
                <a:cs typeface="Canva Sans Bold"/>
                <a:sym typeface="Canva Sans Bold"/>
              </a:rPr>
              <a:t>Recall</a:t>
            </a:r>
            <a:r>
              <a:rPr lang="en-US" sz="2000" spc="-80">
                <a:solidFill>
                  <a:srgbClr val="12100E"/>
                </a:solidFill>
                <a:latin typeface="Canva Sans"/>
                <a:ea typeface="Canva Sans"/>
                <a:cs typeface="Canva Sans"/>
                <a:sym typeface="Canva Sans"/>
              </a:rPr>
              <a:t> = TP / (TP + FN)</a:t>
            </a:r>
          </a:p>
          <a:p>
            <a:pPr algn="l">
              <a:lnSpc>
                <a:spcPts val="2800"/>
              </a:lnSpc>
              <a:spcBef>
                <a:spcPct val="0"/>
              </a:spcBef>
            </a:pPr>
            <a:r>
              <a:rPr lang="en-US" b="true" sz="2000" spc="-80">
                <a:solidFill>
                  <a:srgbClr val="12100E"/>
                </a:solidFill>
                <a:latin typeface="Canva Sans Bold"/>
                <a:ea typeface="Canva Sans Bold"/>
                <a:cs typeface="Canva Sans Bold"/>
                <a:sym typeface="Canva Sans Bold"/>
              </a:rPr>
              <a:t>Instance-level evaluation metrics</a:t>
            </a:r>
          </a:p>
          <a:p>
            <a:pPr algn="l" marL="431801" indent="-215900" lvl="1">
              <a:lnSpc>
                <a:spcPts val="2800"/>
              </a:lnSpc>
              <a:spcBef>
                <a:spcPct val="0"/>
              </a:spcBef>
              <a:buFont typeface="Arial"/>
              <a:buChar char="•"/>
            </a:pPr>
            <a:r>
              <a:rPr lang="en-US" sz="2000" spc="-80">
                <a:solidFill>
                  <a:srgbClr val="12100E"/>
                </a:solidFill>
                <a:latin typeface="Canva Sans"/>
                <a:ea typeface="Canva Sans"/>
                <a:cs typeface="Canva Sans"/>
                <a:sym typeface="Canva Sans"/>
              </a:rPr>
              <a:t>Predicted flows are converted into actual separated instance masks via </a:t>
            </a:r>
            <a:r>
              <a:rPr lang="en-US" b="true" sz="2000" spc="-80">
                <a:solidFill>
                  <a:srgbClr val="12100E"/>
                </a:solidFill>
                <a:latin typeface="Canva Sans Bold"/>
                <a:ea typeface="Canva Sans Bold"/>
                <a:cs typeface="Canva Sans Bold"/>
                <a:sym typeface="Canva Sans Bold"/>
              </a:rPr>
              <a:t>cellpose.dynamics.compute_masks</a:t>
            </a:r>
          </a:p>
          <a:p>
            <a:pPr algn="l" marL="431801" indent="-215900" lvl="1">
              <a:lnSpc>
                <a:spcPts val="2800"/>
              </a:lnSpc>
              <a:spcBef>
                <a:spcPct val="0"/>
              </a:spcBef>
              <a:buFont typeface="Arial"/>
              <a:buChar char="•"/>
            </a:pPr>
            <a:r>
              <a:rPr lang="en-US" sz="2000" spc="-80">
                <a:solidFill>
                  <a:srgbClr val="12100E"/>
                </a:solidFill>
                <a:latin typeface="Canva Sans"/>
                <a:ea typeface="Canva Sans"/>
                <a:cs typeface="Canva Sans"/>
                <a:sym typeface="Canva Sans"/>
              </a:rPr>
              <a:t>Matched against ground truth using </a:t>
            </a:r>
            <a:r>
              <a:rPr lang="en-US" b="true" sz="2000" spc="-80">
                <a:solidFill>
                  <a:srgbClr val="12100E"/>
                </a:solidFill>
                <a:latin typeface="Canva Sans Bold"/>
                <a:ea typeface="Canva Sans Bold"/>
                <a:cs typeface="Canva Sans Bold"/>
                <a:sym typeface="Canva Sans Bold"/>
              </a:rPr>
              <a:t>cellpose.metrics.average_precision at IoU threshold 0.5 </a:t>
            </a:r>
            <a:r>
              <a:rPr lang="en-US" sz="2000" spc="-80">
                <a:solidFill>
                  <a:srgbClr val="12100E"/>
                </a:solidFill>
                <a:latin typeface="Canva Sans"/>
                <a:ea typeface="Canva Sans"/>
                <a:cs typeface="Canva Sans"/>
                <a:sym typeface="Canva Sans"/>
              </a:rPr>
              <a:t>(instance_iou_threshold in config)</a:t>
            </a:r>
          </a:p>
          <a:p>
            <a:pPr algn="l" marL="431801" indent="-215900" lvl="1">
              <a:lnSpc>
                <a:spcPts val="2800"/>
              </a:lnSpc>
              <a:spcBef>
                <a:spcPct val="0"/>
              </a:spcBef>
              <a:buFont typeface="Arial"/>
              <a:buChar char="•"/>
            </a:pPr>
            <a:r>
              <a:rPr lang="en-US" sz="2000" spc="-80">
                <a:solidFill>
                  <a:srgbClr val="12100E"/>
                </a:solidFill>
                <a:latin typeface="Canva Sans"/>
                <a:ea typeface="Canva Sans"/>
                <a:cs typeface="Canva Sans"/>
                <a:sym typeface="Canva Sans"/>
              </a:rPr>
              <a:t>From that: instance precision, instance recall, instance F1, plus raw instance TP/FP/FN counts</a:t>
            </a:r>
          </a:p>
          <a:p>
            <a:pPr algn="l">
              <a:lnSpc>
                <a:spcPts val="2800"/>
              </a:lnSpc>
              <a:spcBef>
                <a:spcPct val="0"/>
              </a:spcBef>
            </a:pPr>
          </a:p>
          <a:p>
            <a:pPr algn="l">
              <a:lnSpc>
                <a:spcPts val="2800"/>
              </a:lnSpc>
              <a:spcBef>
                <a:spcPct val="0"/>
              </a:spcBef>
            </a:pPr>
            <a:r>
              <a:rPr lang="en-US" sz="2000" spc="-80">
                <a:solidFill>
                  <a:srgbClr val="12100E"/>
                </a:solidFill>
                <a:latin typeface="Canva Sans"/>
                <a:ea typeface="Canva Sans"/>
                <a:cs typeface="Canva Sans"/>
                <a:sym typeface="Canva Sans"/>
              </a:rPr>
              <a:t>SAM Paper revealed that even models with higher mIOU scores performed worse when actual human annotators checked the results, THUS EVALUATION METRICS ARE YET TO BE DISCUSSED BY THE IMES (WHETHER TO STICK WITH HUMAN ANNOTATION OR QUANTIFIABLE METRICS)</a:t>
            </a:r>
          </a:p>
          <a:p>
            <a:pPr algn="l">
              <a:lnSpc>
                <a:spcPts val="2800"/>
              </a:lnSpc>
              <a:spcBef>
                <a:spcPct val="0"/>
              </a:spcBef>
            </a:pPr>
          </a:p>
          <a:p>
            <a:pPr algn="l">
              <a:lnSpc>
                <a:spcPts val="3499"/>
              </a:lnSpc>
              <a:spcBef>
                <a:spcPct val="0"/>
              </a:spcBef>
            </a:pPr>
            <a:r>
              <a:rPr lang="en-US" b="true" sz="2499" spc="-99">
                <a:solidFill>
                  <a:srgbClr val="12100E"/>
                </a:solidFill>
                <a:latin typeface="Canva Sans Bold"/>
                <a:ea typeface="Canva Sans Bold"/>
                <a:cs typeface="Canva Sans Bold"/>
                <a:sym typeface="Canva Sans Bold"/>
              </a:rPr>
              <a:t>What to do</a:t>
            </a:r>
            <a:r>
              <a:rPr lang="en-US" b="true" sz="2499" spc="-99">
                <a:solidFill>
                  <a:srgbClr val="12100E"/>
                </a:solidFill>
                <a:latin typeface="Canva Sans Bold"/>
                <a:ea typeface="Canva Sans Bold"/>
                <a:cs typeface="Canva Sans Bold"/>
                <a:sym typeface="Canva Sans Bold"/>
              </a:rPr>
              <a:t>:</a:t>
            </a:r>
          </a:p>
          <a:p>
            <a:pPr algn="l">
              <a:lnSpc>
                <a:spcPts val="2800"/>
              </a:lnSpc>
              <a:spcBef>
                <a:spcPct val="0"/>
              </a:spcBef>
            </a:pPr>
            <a:r>
              <a:rPr lang="en-US" sz="2000" spc="-80">
                <a:solidFill>
                  <a:srgbClr val="12100E"/>
                </a:solidFill>
                <a:latin typeface="Canva Sans"/>
                <a:ea typeface="Canva Sans"/>
                <a:cs typeface="Canva Sans"/>
                <a:sym typeface="Canva Sans"/>
              </a:rPr>
              <a:t>NICOLE’S CODE COULD</a:t>
            </a:r>
            <a:r>
              <a:rPr lang="en-US" sz="2000" spc="-80">
                <a:solidFill>
                  <a:srgbClr val="12100E"/>
                </a:solidFill>
                <a:latin typeface="Canva Sans"/>
                <a:ea typeface="Canva Sans"/>
                <a:cs typeface="Canva Sans"/>
                <a:sym typeface="Canva Sans"/>
              </a:rPr>
              <a:t> BE the actual IMES evaluation pipeline, "the complete training and evaluation process from our app." </a:t>
            </a:r>
          </a:p>
          <a:p>
            <a:pPr algn="l">
              <a:lnSpc>
                <a:spcPts val="2800"/>
              </a:lnSpc>
              <a:spcBef>
                <a:spcPct val="0"/>
              </a:spcBef>
            </a:pPr>
            <a:r>
              <a:rPr lang="en-US" sz="2000" spc="-80">
                <a:solidFill>
                  <a:srgbClr val="12100E"/>
                </a:solidFill>
                <a:latin typeface="Canva Sans"/>
                <a:ea typeface="Canva Sans"/>
                <a:cs typeface="Canva Sans"/>
                <a:sym typeface="Canva Sans"/>
              </a:rPr>
              <a:t>But its printed results so far are FP16 (Colab-limited), not BF16 (the app's real precision),  wait for Monday's BF16 results.,</a:t>
            </a:r>
          </a:p>
          <a:p>
            <a:pPr algn="l">
              <a:lnSpc>
                <a:spcPts val="2800"/>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2"/>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3"/>
            <a:stretch>
              <a:fillRect l="0" t="-1041" r="0" b="-79121"/>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Project Plan</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5 · TECHNICAL WORK &amp; EVALUATION</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Technical Approach</a:t>
            </a:r>
          </a:p>
        </p:txBody>
      </p:sp>
      <p:sp>
        <p:nvSpPr>
          <p:cNvPr name="TextBox 11" id="11"/>
          <p:cNvSpPr txBox="true"/>
          <p:nvPr/>
        </p:nvSpPr>
        <p:spPr>
          <a:xfrm rot="0">
            <a:off x="920020" y="3705225"/>
            <a:ext cx="16383000" cy="3061335"/>
          </a:xfrm>
          <a:prstGeom prst="rect">
            <a:avLst/>
          </a:prstGeom>
        </p:spPr>
        <p:txBody>
          <a:bodyPr anchor="t" rtlCol="false" tIns="0" lIns="0" bIns="0" rIns="0">
            <a:spAutoFit/>
          </a:bodyPr>
          <a:lstStyle/>
          <a:p>
            <a:pPr algn="l" marL="550545" indent="-275272" lvl="1">
              <a:lnSpc>
                <a:spcPts val="4080"/>
              </a:lnSpc>
              <a:buAutoNum type="arabicPeriod" startAt="1"/>
            </a:pPr>
            <a:r>
              <a:rPr lang="en-US" sz="2550">
                <a:solidFill>
                  <a:srgbClr val="12100E"/>
                </a:solidFill>
                <a:latin typeface="Arimo"/>
                <a:ea typeface="Arimo"/>
                <a:cs typeface="Arimo"/>
                <a:sym typeface="Arimo"/>
              </a:rPr>
              <a:t>Baseline first: run existing models zero-shot (no training) on IMES images. Done for porcine brightfield with 4 Cellpose models.</a:t>
            </a:r>
          </a:p>
          <a:p>
            <a:pPr algn="l" marL="550545" indent="-275272" lvl="1">
              <a:lnSpc>
                <a:spcPts val="4080"/>
              </a:lnSpc>
              <a:buAutoNum type="arabicPeriod" startAt="1"/>
            </a:pPr>
            <a:r>
              <a:rPr lang="en-US" sz="2550">
                <a:solidFill>
                  <a:srgbClr val="12100E"/>
                </a:solidFill>
                <a:latin typeface="Arimo"/>
                <a:ea typeface="Arimo"/>
                <a:cs typeface="Arimo"/>
                <a:sym typeface="Arimo"/>
              </a:rPr>
              <a:t>Benchmark every model the same way: same images, same settings, same scoring code.</a:t>
            </a:r>
          </a:p>
          <a:p>
            <a:pPr algn="l" marL="550545" indent="-275272" lvl="1">
              <a:lnSpc>
                <a:spcPts val="4080"/>
              </a:lnSpc>
              <a:buAutoNum type="arabicPeriod" startAt="1"/>
            </a:pPr>
            <a:r>
              <a:rPr lang="en-US" sz="2550">
                <a:solidFill>
                  <a:srgbClr val="12100E"/>
                </a:solidFill>
                <a:latin typeface="Arimo"/>
                <a:ea typeface="Arimo"/>
                <a:cs typeface="Arimo"/>
                <a:sym typeface="Arimo"/>
              </a:rPr>
              <a:t>Extend step by step: the other 3 image groups, then micro-SAM, CellSAM, DINOCell, SAM3 / Medical SAM3.</a:t>
            </a:r>
          </a:p>
          <a:p>
            <a:pPr algn="l" marL="550545" indent="-275272" lvl="1">
              <a:lnSpc>
                <a:spcPts val="4080"/>
              </a:lnSpc>
              <a:buAutoNum type="arabicPeriod" startAt="1"/>
            </a:pPr>
            <a:r>
              <a:rPr lang="en-US" sz="2550">
                <a:solidFill>
                  <a:srgbClr val="12100E"/>
                </a:solidFill>
                <a:latin typeface="Arimo"/>
                <a:ea typeface="Arimo"/>
                <a:cs typeface="Arimo"/>
                <a:sym typeface="Arimo"/>
              </a:rPr>
              <a:t>Fine-tune the best 1–2 models on leakage-free splits (no image in both training and test).</a:t>
            </a:r>
          </a:p>
          <a:p>
            <a:pPr algn="l" marL="550545" indent="-275272" lvl="1">
              <a:lnSpc>
                <a:spcPts val="4080"/>
              </a:lnSpc>
              <a:buAutoNum type="arabicPeriod" startAt="1"/>
            </a:pPr>
            <a:r>
              <a:rPr lang="en-US" sz="2550">
                <a:solidFill>
                  <a:srgbClr val="12100E"/>
                </a:solidFill>
                <a:latin typeface="Arimo"/>
                <a:ea typeface="Arimo"/>
                <a:cs typeface="Arimo"/>
                <a:sym typeface="Arimo"/>
              </a:rPr>
              <a:t>Porcine cells first (easier), then human cells (harder).</a:t>
            </a:r>
          </a:p>
        </p:txBody>
      </p:sp>
      <p:sp>
        <p:nvSpPr>
          <p:cNvPr name="TextBox 12" id="12"/>
          <p:cNvSpPr txBox="true"/>
          <p:nvPr/>
        </p:nvSpPr>
        <p:spPr>
          <a:xfrm rot="0">
            <a:off x="939070" y="7277100"/>
            <a:ext cx="16383000" cy="415290"/>
          </a:xfrm>
          <a:prstGeom prst="rect">
            <a:avLst/>
          </a:prstGeom>
        </p:spPr>
        <p:txBody>
          <a:bodyPr anchor="t" rtlCol="false" tIns="0" lIns="0" bIns="0" rIns="0">
            <a:spAutoFit/>
          </a:bodyPr>
          <a:lstStyle/>
          <a:p>
            <a:pPr algn="l">
              <a:lnSpc>
                <a:spcPts val="3359"/>
              </a:lnSpc>
            </a:pPr>
            <a:r>
              <a:rPr lang="en-US" sz="2400" b="true">
                <a:solidFill>
                  <a:srgbClr val="12100E"/>
                </a:solidFill>
                <a:latin typeface="Arimo Bold"/>
                <a:ea typeface="Arimo Bold"/>
                <a:cs typeface="Arimo Bold"/>
                <a:sym typeface="Arimo Bold"/>
              </a:rPr>
              <a:t>Rule: change one thing at a time, and save every run with its settings so it can be reproduced.</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2"/>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3"/>
            <a:stretch>
              <a:fillRect l="0" t="-1041" r="0" b="-79121"/>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Project Plan</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5 · TECHNICAL WORK &amp; EVALUATION</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What Is Built So Far</a:t>
            </a:r>
          </a:p>
        </p:txBody>
      </p:sp>
      <p:sp>
        <p:nvSpPr>
          <p:cNvPr name="TextBox 11" id="11"/>
          <p:cNvSpPr txBox="true"/>
          <p:nvPr/>
        </p:nvSpPr>
        <p:spPr>
          <a:xfrm rot="0">
            <a:off x="939070" y="3581400"/>
            <a:ext cx="16383000" cy="3194685"/>
          </a:xfrm>
          <a:prstGeom prst="rect">
            <a:avLst/>
          </a:prstGeom>
        </p:spPr>
        <p:txBody>
          <a:bodyPr anchor="t" rtlCol="false" tIns="0" lIns="0" bIns="0" rIns="0">
            <a:spAutoFit/>
          </a:bodyPr>
          <a:lstStyle/>
          <a:p>
            <a:pPr algn="l" marL="518160" indent="-259080" lvl="1">
              <a:lnSpc>
                <a:spcPts val="3600"/>
              </a:lnSpc>
              <a:buFont typeface="Arial"/>
              <a:buChar char="•"/>
            </a:pPr>
            <a:r>
              <a:rPr lang="en-US" sz="2400">
                <a:solidFill>
                  <a:srgbClr val="12100E"/>
                </a:solidFill>
                <a:latin typeface="Arimo"/>
                <a:ea typeface="Arimo"/>
                <a:cs typeface="Arimo"/>
                <a:sym typeface="Arimo"/>
              </a:rPr>
              <a:t>Environment “cf-core”: pinned versions (Python 3.12, PyTorch 2.12 + CUDA 13.2, Cellpose 4.2.1, micro-SAM 1.8.14, DINOv3), tested on our 8 GB laptop GPU</a:t>
            </a:r>
          </a:p>
          <a:p>
            <a:pPr algn="l" marL="518160" indent="-259080" lvl="1">
              <a:lnSpc>
                <a:spcPts val="3600"/>
              </a:lnSpc>
              <a:buFont typeface="Arial"/>
              <a:buChar char="•"/>
            </a:pPr>
            <a:r>
              <a:rPr lang="en-US" sz="2400">
                <a:solidFill>
                  <a:srgbClr val="12100E"/>
                </a:solidFill>
                <a:latin typeface="Arimo"/>
                <a:ea typeface="Arimo"/>
                <a:cs typeface="Arimo"/>
                <a:sym typeface="Arimo"/>
              </a:rPr>
              <a:t>run_cpsam.py: one image → masks, scores and an overlay picture</a:t>
            </a:r>
          </a:p>
          <a:p>
            <a:pPr algn="l" marL="518160" indent="-259080" lvl="1">
              <a:lnSpc>
                <a:spcPts val="3600"/>
              </a:lnSpc>
              <a:buFont typeface="Arial"/>
              <a:buChar char="•"/>
            </a:pPr>
            <a:r>
              <a:rPr lang="en-US" sz="2400">
                <a:solidFill>
                  <a:srgbClr val="12100E"/>
                </a:solidFill>
                <a:latin typeface="Arimo"/>
                <a:ea typeface="Arimo"/>
                <a:cs typeface="Arimo"/>
                <a:sym typeface="Arimo"/>
              </a:rPr>
              <a:t>run_batch.py: all images × all models → per-image table, summary table, masks, overlays and the exact run settings</a:t>
            </a:r>
          </a:p>
          <a:p>
            <a:pPr algn="l" marL="518160" indent="-259080" lvl="1">
              <a:lnSpc>
                <a:spcPts val="3600"/>
              </a:lnSpc>
              <a:buFont typeface="Arial"/>
              <a:buChar char="•"/>
            </a:pPr>
            <a:r>
              <a:rPr lang="en-US" sz="2400">
                <a:solidFill>
                  <a:srgbClr val="12100E"/>
                </a:solidFill>
                <a:latin typeface="Arimo"/>
                <a:ea typeface="Arimo"/>
                <a:cs typeface="Arimo"/>
                <a:sym typeface="Arimo"/>
              </a:rPr>
              <a:t>score_masks.py: one shared scoring code, so every model is scored the same way</a:t>
            </a:r>
          </a:p>
          <a:p>
            <a:pPr algn="l" marL="518160" indent="-259080" lvl="1">
              <a:lnSpc>
                <a:spcPts val="3600"/>
              </a:lnSpc>
              <a:buFont typeface="Arial"/>
              <a:buChar char="•"/>
            </a:pPr>
            <a:r>
              <a:rPr lang="en-US" sz="2400">
                <a:solidFill>
                  <a:srgbClr val="12100E"/>
                </a:solidFill>
                <a:latin typeface="Arimo"/>
                <a:ea typeface="Arimo"/>
                <a:cs typeface="Arimo"/>
                <a:sym typeface="Arimo"/>
              </a:rPr>
              <a:t>Reproducible: two full benchmark runs gave identical numbers</a:t>
            </a:r>
          </a:p>
          <a:p>
            <a:pPr algn="l" marL="518160" indent="-259080" lvl="1">
              <a:lnSpc>
                <a:spcPts val="3600"/>
              </a:lnSpc>
              <a:buFont typeface="Arial"/>
              <a:buChar char="•"/>
            </a:pPr>
            <a:r>
              <a:rPr lang="en-US" sz="2400">
                <a:solidFill>
                  <a:srgbClr val="12100E"/>
                </a:solidFill>
                <a:latin typeface="Arimo"/>
                <a:ea typeface="Arimo"/>
                <a:cs typeface="Arimo"/>
                <a:sym typeface="Arimo"/>
              </a:rPr>
              <a:t>Pure zero-shot so far: no training, no own preprocessing, default model settings</a:t>
            </a:r>
          </a:p>
        </p:txBody>
      </p:sp>
      <p:sp>
        <p:nvSpPr>
          <p:cNvPr name="TextBox 12" id="12"/>
          <p:cNvSpPr txBox="true"/>
          <p:nvPr/>
        </p:nvSpPr>
        <p:spPr>
          <a:xfrm rot="0">
            <a:off x="939070" y="7324725"/>
            <a:ext cx="16383000" cy="415290"/>
          </a:xfrm>
          <a:prstGeom prst="rect">
            <a:avLst/>
          </a:prstGeom>
        </p:spPr>
        <p:txBody>
          <a:bodyPr anchor="t" rtlCol="false" tIns="0" lIns="0" bIns="0" rIns="0">
            <a:spAutoFit/>
          </a:bodyPr>
          <a:lstStyle/>
          <a:p>
            <a:pPr algn="l">
              <a:lnSpc>
                <a:spcPts val="3359"/>
              </a:lnSpc>
            </a:pPr>
            <a:r>
              <a:rPr lang="en-US" sz="2400" b="true">
                <a:solidFill>
                  <a:srgbClr val="12100E"/>
                </a:solidFill>
                <a:latin typeface="Arimo Bold"/>
                <a:ea typeface="Arimo Bold"/>
                <a:cs typeface="Arimo Bold"/>
                <a:sym typeface="Arimo Bold"/>
              </a:rPr>
              <a:t>Tried and dropped: density clustering of lipid droplets (DBSCAN / HDBSCAN)</a:t>
            </a:r>
          </a:p>
        </p:txBody>
      </p:sp>
      <p:sp>
        <p:nvSpPr>
          <p:cNvPr name="TextBox 13" id="13"/>
          <p:cNvSpPr txBox="true"/>
          <p:nvPr/>
        </p:nvSpPr>
        <p:spPr>
          <a:xfrm rot="0">
            <a:off x="939070" y="7800975"/>
            <a:ext cx="16383000" cy="800100"/>
          </a:xfrm>
          <a:prstGeom prst="rect">
            <a:avLst/>
          </a:prstGeom>
        </p:spPr>
        <p:txBody>
          <a:bodyPr anchor="t" rtlCol="false" tIns="0" lIns="0" bIns="0" rIns="0">
            <a:spAutoFit/>
          </a:bodyPr>
          <a:lstStyle/>
          <a:p>
            <a:pPr algn="l">
              <a:lnSpc>
                <a:spcPts val="3149"/>
              </a:lnSpc>
            </a:pPr>
            <a:r>
              <a:rPr lang="en-US" sz="2250">
                <a:solidFill>
                  <a:srgbClr val="12100E"/>
                </a:solidFill>
                <a:latin typeface="Arimo"/>
                <a:ea typeface="Arimo"/>
                <a:cs typeface="Arimo"/>
                <a:sym typeface="Arimo"/>
              </a:rPr>
              <a:t>It splits single cells or merges touching cells. Droplets inside a cell are as close together as droplets across a cell edge, so droplet positions alone cannot separate touching cells (the same weakness as the current IMES tool).</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2"/>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3"/>
            <a:stretch>
              <a:fillRect l="0" t="-1041" r="0" b="-79121"/>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Project Plan </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5 · TECHNICAL WORK &amp; EVALUATION</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How We Scored the Benchmark</a:t>
            </a:r>
          </a:p>
        </p:txBody>
      </p:sp>
      <p:sp>
        <p:nvSpPr>
          <p:cNvPr name="TextBox 11" id="11"/>
          <p:cNvSpPr txBox="true"/>
          <p:nvPr/>
        </p:nvSpPr>
        <p:spPr>
          <a:xfrm rot="0">
            <a:off x="939070" y="3590925"/>
            <a:ext cx="16383000" cy="4276725"/>
          </a:xfrm>
          <a:prstGeom prst="rect">
            <a:avLst/>
          </a:prstGeom>
        </p:spPr>
        <p:txBody>
          <a:bodyPr anchor="t" rtlCol="false" tIns="0" lIns="0" bIns="0" rIns="0">
            <a:spAutoFit/>
          </a:bodyPr>
          <a:lstStyle/>
          <a:p>
            <a:pPr algn="l" marL="485775" indent="-242888" lvl="1">
              <a:lnSpc>
                <a:spcPts val="3375"/>
              </a:lnSpc>
              <a:buFont typeface="Arial"/>
              <a:buChar char="•"/>
            </a:pPr>
            <a:r>
              <a:rPr lang="en-US" sz="2250">
                <a:solidFill>
                  <a:srgbClr val="12100E"/>
                </a:solidFill>
                <a:latin typeface="Arimo"/>
                <a:ea typeface="Arimo"/>
                <a:cs typeface="Arimo"/>
                <a:sym typeface="Arimo"/>
              </a:rPr>
              <a:t>Matching: each predicted cell is paired with at most one annotated cell. Overlap = IoU = shared area ÷ combined area (1 = identical)</a:t>
            </a:r>
          </a:p>
          <a:p>
            <a:pPr algn="l" marL="485775" indent="-242888" lvl="1">
              <a:lnSpc>
                <a:spcPts val="3375"/>
              </a:lnSpc>
              <a:buFont typeface="Arial"/>
              <a:buChar char="•"/>
            </a:pPr>
            <a:r>
              <a:rPr lang="en-US" sz="2250">
                <a:solidFill>
                  <a:srgbClr val="12100E"/>
                </a:solidFill>
                <a:latin typeface="Arimo"/>
                <a:ea typeface="Arimo"/>
                <a:cs typeface="Arimo"/>
                <a:sym typeface="Arimo"/>
              </a:rPr>
              <a:t>TP = correct cell (IoU ≥ 0.5) · FP = false detection · FN = missed cell</a:t>
            </a:r>
          </a:p>
          <a:p>
            <a:pPr algn="l" marL="485775" indent="-242888" lvl="1">
              <a:lnSpc>
                <a:spcPts val="3375"/>
              </a:lnSpc>
              <a:buFont typeface="Arial"/>
              <a:buChar char="•"/>
            </a:pPr>
            <a:r>
              <a:rPr lang="en-US" sz="2250">
                <a:solidFill>
                  <a:srgbClr val="12100E"/>
                </a:solidFill>
                <a:latin typeface="Arimo"/>
                <a:ea typeface="Arimo"/>
                <a:cs typeface="Arimo"/>
                <a:sym typeface="Arimo"/>
              </a:rPr>
              <a:t>Precision = TP ÷ cells found · Recall = TP ÷ cells annotated</a:t>
            </a:r>
          </a:p>
          <a:p>
            <a:pPr algn="l" marL="485775" indent="-242888" lvl="1">
              <a:lnSpc>
                <a:spcPts val="3375"/>
              </a:lnSpc>
              <a:buFont typeface="Arial"/>
              <a:buChar char="•"/>
            </a:pPr>
            <a:r>
              <a:rPr lang="en-US" sz="2250">
                <a:solidFill>
                  <a:srgbClr val="12100E"/>
                </a:solidFill>
                <a:latin typeface="Arimo"/>
                <a:ea typeface="Arimo"/>
                <a:cs typeface="Arimo"/>
                <a:sym typeface="Arimo"/>
              </a:rPr>
              <a:t>F1@0.5 = 2·TP ÷ (2·TP + FP + FN) → headline score: “was the cell found?”</a:t>
            </a:r>
          </a:p>
          <a:p>
            <a:pPr algn="l" marL="485775" indent="-242888" lvl="1">
              <a:lnSpc>
                <a:spcPts val="3375"/>
              </a:lnSpc>
              <a:buFont typeface="Arial"/>
              <a:buChar char="•"/>
            </a:pPr>
            <a:r>
              <a:rPr lang="en-US" sz="2250">
                <a:solidFill>
                  <a:srgbClr val="12100E"/>
                </a:solidFill>
                <a:latin typeface="Arimo"/>
                <a:ea typeface="Arimo"/>
                <a:cs typeface="Arimo"/>
                <a:sym typeface="Arimo"/>
              </a:rPr>
              <a:t>F1@0.75 = the same with overlap ≥ 0.75 → outline accuracy (matters for cell size)</a:t>
            </a:r>
          </a:p>
          <a:p>
            <a:pPr algn="l" marL="485775" indent="-242888" lvl="1">
              <a:lnSpc>
                <a:spcPts val="3375"/>
              </a:lnSpc>
              <a:buFont typeface="Arial"/>
              <a:buChar char="•"/>
            </a:pPr>
            <a:r>
              <a:rPr lang="en-US" sz="2250">
                <a:solidFill>
                  <a:srgbClr val="12100E"/>
                </a:solidFill>
                <a:latin typeface="Arimo"/>
                <a:ea typeface="Arimo"/>
                <a:cs typeface="Arimo"/>
                <a:sym typeface="Arimo"/>
              </a:rPr>
              <a:t>Count error = (cells found − cells annotated) ÷ cells annotated</a:t>
            </a:r>
          </a:p>
          <a:p>
            <a:pPr algn="l" marL="485775" indent="-242888" lvl="1">
              <a:lnSpc>
                <a:spcPts val="3375"/>
              </a:lnSpc>
              <a:buFont typeface="Arial"/>
              <a:buChar char="•"/>
            </a:pPr>
            <a:r>
              <a:rPr lang="en-US" sz="2250">
                <a:solidFill>
                  <a:srgbClr val="12100E"/>
                </a:solidFill>
                <a:latin typeface="Arimo"/>
                <a:ea typeface="Arimo"/>
                <a:cs typeface="Arimo"/>
                <a:sym typeface="Arimo"/>
              </a:rPr>
              <a:t>Splitting one cell into two halves gives 1 TP + 1 FP, so over-segmentation is punished</a:t>
            </a:r>
          </a:p>
          <a:p>
            <a:pPr algn="l" marL="485775" indent="-242888" lvl="1">
              <a:lnSpc>
                <a:spcPts val="3375"/>
              </a:lnSpc>
              <a:buFont typeface="Arial"/>
              <a:buChar char="•"/>
            </a:pPr>
            <a:r>
              <a:rPr lang="en-US" sz="2250">
                <a:solidFill>
                  <a:srgbClr val="12100E"/>
                </a:solidFill>
                <a:latin typeface="Arimo"/>
                <a:ea typeface="Arimo"/>
                <a:cs typeface="Arimo"/>
                <a:sym typeface="Arimo"/>
              </a:rPr>
              <a:t>Two summaries: mean over images (every image equal) and pooled over all cells (every cell equal); control wells reported separately</a:t>
            </a:r>
          </a:p>
        </p:txBody>
      </p:sp>
      <p:sp>
        <p:nvSpPr>
          <p:cNvPr name="TextBox 12" id="12"/>
          <p:cNvSpPr txBox="true"/>
          <p:nvPr/>
        </p:nvSpPr>
        <p:spPr>
          <a:xfrm rot="0">
            <a:off x="939070" y="8324850"/>
            <a:ext cx="16383000" cy="415290"/>
          </a:xfrm>
          <a:prstGeom prst="rect">
            <a:avLst/>
          </a:prstGeom>
        </p:spPr>
        <p:txBody>
          <a:bodyPr anchor="t" rtlCol="false" tIns="0" lIns="0" bIns="0" rIns="0">
            <a:spAutoFit/>
          </a:bodyPr>
          <a:lstStyle/>
          <a:p>
            <a:pPr algn="l">
              <a:lnSpc>
                <a:spcPts val="3359"/>
              </a:lnSpc>
            </a:pPr>
            <a:r>
              <a:rPr lang="en-US" sz="2400" b="true">
                <a:solidFill>
                  <a:srgbClr val="12100E"/>
                </a:solidFill>
                <a:latin typeface="Arimo Bold"/>
                <a:ea typeface="Arimo Bold"/>
                <a:cs typeface="Arimo Bold"/>
                <a:sym typeface="Arimo Bold"/>
              </a:rPr>
              <a:t>Proposal: use F1@0.5 + count error as working metrics until IMES confirms what “at least 70%” refers to.</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2"/>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3"/>
            <a:stretch>
              <a:fillRect l="0" t="-1041" r="0" b="-79121"/>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Project Plan</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5 · TECHNICAL WORK &amp; EVALUATION</a:t>
            </a:r>
          </a:p>
        </p:txBody>
      </p:sp>
      <p:sp>
        <p:nvSpPr>
          <p:cNvPr name="TextBox 10" id="10"/>
          <p:cNvSpPr txBox="true"/>
          <p:nvPr/>
        </p:nvSpPr>
        <p:spPr>
          <a:xfrm rot="0">
            <a:off x="939070" y="2390775"/>
            <a:ext cx="1638300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Zero-Shot Results: Porcine Brightfield</a:t>
            </a:r>
          </a:p>
        </p:txBody>
      </p:sp>
      <p:grpSp>
        <p:nvGrpSpPr>
          <p:cNvPr name="Group 11" id="11"/>
          <p:cNvGrpSpPr/>
          <p:nvPr/>
        </p:nvGrpSpPr>
        <p:grpSpPr>
          <a:xfrm rot="0">
            <a:off x="933450" y="3524250"/>
            <a:ext cx="16764000" cy="609600"/>
            <a:chOff x="0" y="0"/>
            <a:chExt cx="22352000" cy="812800"/>
          </a:xfrm>
        </p:grpSpPr>
        <p:sp>
          <p:nvSpPr>
            <p:cNvPr name="Freeform 12" id="12"/>
            <p:cNvSpPr/>
            <p:nvPr/>
          </p:nvSpPr>
          <p:spPr>
            <a:xfrm flipH="false" flipV="false" rot="0">
              <a:off x="0" y="0"/>
              <a:ext cx="22352000" cy="812800"/>
            </a:xfrm>
            <a:custGeom>
              <a:avLst/>
              <a:gdLst/>
              <a:ahLst/>
              <a:cxnLst/>
              <a:rect r="r" b="b" t="t" l="l"/>
              <a:pathLst>
                <a:path h="812800" w="22352000">
                  <a:moveTo>
                    <a:pt x="0" y="0"/>
                  </a:moveTo>
                  <a:lnTo>
                    <a:pt x="22352000" y="0"/>
                  </a:lnTo>
                  <a:lnTo>
                    <a:pt x="22352000" y="812800"/>
                  </a:lnTo>
                  <a:lnTo>
                    <a:pt x="0" y="812800"/>
                  </a:lnTo>
                  <a:close/>
                </a:path>
              </a:pathLst>
            </a:custGeom>
            <a:solidFill>
              <a:srgbClr val="0E1F3D"/>
            </a:solidFill>
          </p:spPr>
        </p:sp>
        <p:sp>
          <p:nvSpPr>
            <p:cNvPr name="TextBox 13" id="13"/>
            <p:cNvSpPr txBox="true"/>
            <p:nvPr/>
          </p:nvSpPr>
          <p:spPr>
            <a:xfrm>
              <a:off x="0" y="-38100"/>
              <a:ext cx="22352000" cy="8509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933450" y="4724400"/>
            <a:ext cx="16764000" cy="590550"/>
            <a:chOff x="0" y="0"/>
            <a:chExt cx="22352000" cy="787400"/>
          </a:xfrm>
        </p:grpSpPr>
        <p:sp>
          <p:nvSpPr>
            <p:cNvPr name="Freeform 15" id="15"/>
            <p:cNvSpPr/>
            <p:nvPr/>
          </p:nvSpPr>
          <p:spPr>
            <a:xfrm flipH="false" flipV="false" rot="0">
              <a:off x="0" y="0"/>
              <a:ext cx="22352000" cy="787400"/>
            </a:xfrm>
            <a:custGeom>
              <a:avLst/>
              <a:gdLst/>
              <a:ahLst/>
              <a:cxnLst/>
              <a:rect r="r" b="b" t="t" l="l"/>
              <a:pathLst>
                <a:path h="787400" w="22352000">
                  <a:moveTo>
                    <a:pt x="0" y="0"/>
                  </a:moveTo>
                  <a:lnTo>
                    <a:pt x="22352000" y="0"/>
                  </a:lnTo>
                  <a:lnTo>
                    <a:pt x="22352000" y="787400"/>
                  </a:lnTo>
                  <a:lnTo>
                    <a:pt x="0" y="787400"/>
                  </a:lnTo>
                  <a:close/>
                </a:path>
              </a:pathLst>
            </a:custGeom>
            <a:solidFill>
              <a:srgbClr val="F2ECDC"/>
            </a:solidFill>
          </p:spPr>
        </p:sp>
        <p:sp>
          <p:nvSpPr>
            <p:cNvPr name="TextBox 16" id="16"/>
            <p:cNvSpPr txBox="true"/>
            <p:nvPr/>
          </p:nvSpPr>
          <p:spPr>
            <a:xfrm>
              <a:off x="0" y="-38100"/>
              <a:ext cx="22352000" cy="8255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933450" y="5905500"/>
            <a:ext cx="16764000" cy="590550"/>
            <a:chOff x="0" y="0"/>
            <a:chExt cx="22352000" cy="787400"/>
          </a:xfrm>
        </p:grpSpPr>
        <p:sp>
          <p:nvSpPr>
            <p:cNvPr name="Freeform 18" id="18"/>
            <p:cNvSpPr/>
            <p:nvPr/>
          </p:nvSpPr>
          <p:spPr>
            <a:xfrm flipH="false" flipV="false" rot="0">
              <a:off x="0" y="0"/>
              <a:ext cx="22352000" cy="787400"/>
            </a:xfrm>
            <a:custGeom>
              <a:avLst/>
              <a:gdLst/>
              <a:ahLst/>
              <a:cxnLst/>
              <a:rect r="r" b="b" t="t" l="l"/>
              <a:pathLst>
                <a:path h="787400" w="22352000">
                  <a:moveTo>
                    <a:pt x="0" y="0"/>
                  </a:moveTo>
                  <a:lnTo>
                    <a:pt x="22352000" y="0"/>
                  </a:lnTo>
                  <a:lnTo>
                    <a:pt x="22352000" y="787400"/>
                  </a:lnTo>
                  <a:lnTo>
                    <a:pt x="0" y="787400"/>
                  </a:lnTo>
                  <a:close/>
                </a:path>
              </a:pathLst>
            </a:custGeom>
            <a:solidFill>
              <a:srgbClr val="F2ECDC"/>
            </a:solidFill>
          </p:spPr>
        </p:sp>
        <p:sp>
          <p:nvSpPr>
            <p:cNvPr name="TextBox 19" id="19"/>
            <p:cNvSpPr txBox="true"/>
            <p:nvPr/>
          </p:nvSpPr>
          <p:spPr>
            <a:xfrm>
              <a:off x="0" y="-38100"/>
              <a:ext cx="22352000" cy="8255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933450" y="7086600"/>
            <a:ext cx="16764000" cy="590550"/>
            <a:chOff x="0" y="0"/>
            <a:chExt cx="22352000" cy="787400"/>
          </a:xfrm>
        </p:grpSpPr>
        <p:sp>
          <p:nvSpPr>
            <p:cNvPr name="Freeform 21" id="21"/>
            <p:cNvSpPr/>
            <p:nvPr/>
          </p:nvSpPr>
          <p:spPr>
            <a:xfrm flipH="false" flipV="false" rot="0">
              <a:off x="0" y="0"/>
              <a:ext cx="22352000" cy="787400"/>
            </a:xfrm>
            <a:custGeom>
              <a:avLst/>
              <a:gdLst/>
              <a:ahLst/>
              <a:cxnLst/>
              <a:rect r="r" b="b" t="t" l="l"/>
              <a:pathLst>
                <a:path h="787400" w="22352000">
                  <a:moveTo>
                    <a:pt x="0" y="0"/>
                  </a:moveTo>
                  <a:lnTo>
                    <a:pt x="22352000" y="0"/>
                  </a:lnTo>
                  <a:lnTo>
                    <a:pt x="22352000" y="787400"/>
                  </a:lnTo>
                  <a:lnTo>
                    <a:pt x="0" y="787400"/>
                  </a:lnTo>
                  <a:close/>
                </a:path>
              </a:pathLst>
            </a:custGeom>
            <a:solidFill>
              <a:srgbClr val="F2ECDC"/>
            </a:solidFill>
          </p:spPr>
        </p:sp>
        <p:sp>
          <p:nvSpPr>
            <p:cNvPr name="TextBox 22" id="22"/>
            <p:cNvSpPr txBox="true"/>
            <p:nvPr/>
          </p:nvSpPr>
          <p:spPr>
            <a:xfrm>
              <a:off x="0" y="-38100"/>
              <a:ext cx="22352000" cy="825500"/>
            </a:xfrm>
            <a:prstGeom prst="rect">
              <a:avLst/>
            </a:prstGeom>
          </p:spPr>
          <p:txBody>
            <a:bodyPr anchor="ctr" rtlCol="false" tIns="50800" lIns="50800" bIns="50800" rIns="50800"/>
            <a:lstStyle/>
            <a:p>
              <a:pPr algn="l">
                <a:lnSpc>
                  <a:spcPts val="1679"/>
                </a:lnSpc>
              </a:pPr>
            </a:p>
          </p:txBody>
        </p:sp>
      </p:grpSp>
      <p:sp>
        <p:nvSpPr>
          <p:cNvPr name="TextBox 23" id="23"/>
          <p:cNvSpPr txBox="true"/>
          <p:nvPr/>
        </p:nvSpPr>
        <p:spPr>
          <a:xfrm rot="0">
            <a:off x="1123950" y="3629025"/>
            <a:ext cx="5143500" cy="365760"/>
          </a:xfrm>
          <a:prstGeom prst="rect">
            <a:avLst/>
          </a:prstGeom>
        </p:spPr>
        <p:txBody>
          <a:bodyPr anchor="t" rtlCol="false" tIns="0" lIns="0" bIns="0" rIns="0">
            <a:spAutoFit/>
          </a:bodyPr>
          <a:lstStyle/>
          <a:p>
            <a:pPr algn="l">
              <a:lnSpc>
                <a:spcPts val="2940"/>
              </a:lnSpc>
            </a:pPr>
            <a:r>
              <a:rPr lang="en-US" sz="2100" b="true">
                <a:solidFill>
                  <a:srgbClr val="FFFFFF"/>
                </a:solidFill>
                <a:latin typeface="Arimo Bold"/>
                <a:ea typeface="Arimo Bold"/>
                <a:cs typeface="Arimo Bold"/>
                <a:sym typeface="Arimo Bold"/>
              </a:rPr>
              <a:t>Metric</a:t>
            </a:r>
          </a:p>
        </p:txBody>
      </p:sp>
      <p:sp>
        <p:nvSpPr>
          <p:cNvPr name="TextBox 24" id="24"/>
          <p:cNvSpPr txBox="true"/>
          <p:nvPr/>
        </p:nvSpPr>
        <p:spPr>
          <a:xfrm rot="0">
            <a:off x="6362700" y="3629025"/>
            <a:ext cx="2762250" cy="365760"/>
          </a:xfrm>
          <a:prstGeom prst="rect">
            <a:avLst/>
          </a:prstGeom>
        </p:spPr>
        <p:txBody>
          <a:bodyPr anchor="t" rtlCol="false" tIns="0" lIns="0" bIns="0" rIns="0">
            <a:spAutoFit/>
          </a:bodyPr>
          <a:lstStyle/>
          <a:p>
            <a:pPr algn="ctr">
              <a:lnSpc>
                <a:spcPts val="2940"/>
              </a:lnSpc>
            </a:pPr>
            <a:r>
              <a:rPr lang="en-US" sz="2100" b="true">
                <a:solidFill>
                  <a:srgbClr val="FFFFFF"/>
                </a:solidFill>
                <a:latin typeface="Arimo Bold"/>
                <a:ea typeface="Arimo Bold"/>
                <a:cs typeface="Arimo Bold"/>
                <a:sym typeface="Arimo Bold"/>
              </a:rPr>
              <a:t>cpsam_v2</a:t>
            </a:r>
          </a:p>
        </p:txBody>
      </p:sp>
      <p:sp>
        <p:nvSpPr>
          <p:cNvPr name="TextBox 25" id="25"/>
          <p:cNvSpPr txBox="true"/>
          <p:nvPr/>
        </p:nvSpPr>
        <p:spPr>
          <a:xfrm rot="0">
            <a:off x="9220200" y="3629025"/>
            <a:ext cx="2762250" cy="365760"/>
          </a:xfrm>
          <a:prstGeom prst="rect">
            <a:avLst/>
          </a:prstGeom>
        </p:spPr>
        <p:txBody>
          <a:bodyPr anchor="t" rtlCol="false" tIns="0" lIns="0" bIns="0" rIns="0">
            <a:spAutoFit/>
          </a:bodyPr>
          <a:lstStyle/>
          <a:p>
            <a:pPr algn="ctr">
              <a:lnSpc>
                <a:spcPts val="2940"/>
              </a:lnSpc>
            </a:pPr>
            <a:r>
              <a:rPr lang="en-US" sz="2100" b="true">
                <a:solidFill>
                  <a:srgbClr val="FFFFFF"/>
                </a:solidFill>
                <a:latin typeface="Arimo Bold"/>
                <a:ea typeface="Arimo Bold"/>
                <a:cs typeface="Arimo Bold"/>
                <a:sym typeface="Arimo Bold"/>
              </a:rPr>
              <a:t>cpsam</a:t>
            </a:r>
          </a:p>
        </p:txBody>
      </p:sp>
      <p:sp>
        <p:nvSpPr>
          <p:cNvPr name="TextBox 26" id="26"/>
          <p:cNvSpPr txBox="true"/>
          <p:nvPr/>
        </p:nvSpPr>
        <p:spPr>
          <a:xfrm rot="0">
            <a:off x="12077700" y="3629025"/>
            <a:ext cx="2762250" cy="365760"/>
          </a:xfrm>
          <a:prstGeom prst="rect">
            <a:avLst/>
          </a:prstGeom>
        </p:spPr>
        <p:txBody>
          <a:bodyPr anchor="t" rtlCol="false" tIns="0" lIns="0" bIns="0" rIns="0">
            <a:spAutoFit/>
          </a:bodyPr>
          <a:lstStyle/>
          <a:p>
            <a:pPr algn="ctr">
              <a:lnSpc>
                <a:spcPts val="2940"/>
              </a:lnSpc>
            </a:pPr>
            <a:r>
              <a:rPr lang="en-US" sz="2100" b="true">
                <a:solidFill>
                  <a:srgbClr val="FFFFFF"/>
                </a:solidFill>
                <a:latin typeface="Arimo Bold"/>
                <a:ea typeface="Arimo Bold"/>
                <a:cs typeface="Arimo Bold"/>
                <a:sym typeface="Arimo Bold"/>
              </a:rPr>
              <a:t>cpdino</a:t>
            </a:r>
          </a:p>
        </p:txBody>
      </p:sp>
      <p:sp>
        <p:nvSpPr>
          <p:cNvPr name="TextBox 27" id="27"/>
          <p:cNvSpPr txBox="true"/>
          <p:nvPr/>
        </p:nvSpPr>
        <p:spPr>
          <a:xfrm rot="0">
            <a:off x="14935200" y="3629025"/>
            <a:ext cx="2762250" cy="365760"/>
          </a:xfrm>
          <a:prstGeom prst="rect">
            <a:avLst/>
          </a:prstGeom>
        </p:spPr>
        <p:txBody>
          <a:bodyPr anchor="t" rtlCol="false" tIns="0" lIns="0" bIns="0" rIns="0">
            <a:spAutoFit/>
          </a:bodyPr>
          <a:lstStyle/>
          <a:p>
            <a:pPr algn="ctr">
              <a:lnSpc>
                <a:spcPts val="2940"/>
              </a:lnSpc>
            </a:pPr>
            <a:r>
              <a:rPr lang="en-US" sz="2100" b="true">
                <a:solidFill>
                  <a:srgbClr val="FFFFFF"/>
                </a:solidFill>
                <a:latin typeface="Arimo Bold"/>
                <a:ea typeface="Arimo Bold"/>
                <a:cs typeface="Arimo Bold"/>
                <a:sym typeface="Arimo Bold"/>
              </a:rPr>
              <a:t>cpdino-vitb</a:t>
            </a:r>
          </a:p>
        </p:txBody>
      </p:sp>
      <p:sp>
        <p:nvSpPr>
          <p:cNvPr name="TextBox 28" id="28"/>
          <p:cNvSpPr txBox="true"/>
          <p:nvPr/>
        </p:nvSpPr>
        <p:spPr>
          <a:xfrm rot="0">
            <a:off x="1123950" y="4229100"/>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F1@0.5, mean ± SD</a:t>
            </a:r>
          </a:p>
        </p:txBody>
      </p:sp>
      <p:sp>
        <p:nvSpPr>
          <p:cNvPr name="TextBox 29" id="29"/>
          <p:cNvSpPr txBox="true"/>
          <p:nvPr/>
        </p:nvSpPr>
        <p:spPr>
          <a:xfrm rot="0">
            <a:off x="6362700" y="42291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0.43 ± 0.26</a:t>
            </a:r>
          </a:p>
        </p:txBody>
      </p:sp>
      <p:sp>
        <p:nvSpPr>
          <p:cNvPr name="TextBox 30" id="30"/>
          <p:cNvSpPr txBox="true"/>
          <p:nvPr/>
        </p:nvSpPr>
        <p:spPr>
          <a:xfrm rot="0">
            <a:off x="9220200" y="42291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0.47 ± 0.27</a:t>
            </a:r>
          </a:p>
        </p:txBody>
      </p:sp>
      <p:sp>
        <p:nvSpPr>
          <p:cNvPr name="TextBox 31" id="31"/>
          <p:cNvSpPr txBox="true"/>
          <p:nvPr/>
        </p:nvSpPr>
        <p:spPr>
          <a:xfrm rot="0">
            <a:off x="12077700" y="42291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0.62 ± 0.24</a:t>
            </a:r>
          </a:p>
        </p:txBody>
      </p:sp>
      <p:sp>
        <p:nvSpPr>
          <p:cNvPr name="TextBox 32" id="32"/>
          <p:cNvSpPr txBox="true"/>
          <p:nvPr/>
        </p:nvSpPr>
        <p:spPr>
          <a:xfrm rot="0">
            <a:off x="14935200" y="4229100"/>
            <a:ext cx="2762250" cy="365760"/>
          </a:xfrm>
          <a:prstGeom prst="rect">
            <a:avLst/>
          </a:prstGeom>
        </p:spPr>
        <p:txBody>
          <a:bodyPr anchor="t" rtlCol="false" tIns="0" lIns="0" bIns="0" rIns="0">
            <a:spAutoFit/>
          </a:bodyPr>
          <a:lstStyle/>
          <a:p>
            <a:pPr algn="ctr">
              <a:lnSpc>
                <a:spcPts val="2940"/>
              </a:lnSpc>
            </a:pPr>
            <a:r>
              <a:rPr lang="en-US" sz="2100" b="true">
                <a:solidFill>
                  <a:srgbClr val="12100E"/>
                </a:solidFill>
                <a:latin typeface="Arimo Bold"/>
                <a:ea typeface="Arimo Bold"/>
                <a:cs typeface="Arimo Bold"/>
                <a:sym typeface="Arimo Bold"/>
              </a:rPr>
              <a:t>0.65 ± 0.14</a:t>
            </a:r>
          </a:p>
        </p:txBody>
      </p:sp>
      <p:sp>
        <p:nvSpPr>
          <p:cNvPr name="TextBox 33" id="33"/>
          <p:cNvSpPr txBox="true"/>
          <p:nvPr/>
        </p:nvSpPr>
        <p:spPr>
          <a:xfrm rot="0">
            <a:off x="1123950" y="4819650"/>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Pooled F1@0.5 (all cells together)</a:t>
            </a:r>
          </a:p>
        </p:txBody>
      </p:sp>
      <p:sp>
        <p:nvSpPr>
          <p:cNvPr name="TextBox 34" id="34"/>
          <p:cNvSpPr txBox="true"/>
          <p:nvPr/>
        </p:nvSpPr>
        <p:spPr>
          <a:xfrm rot="0">
            <a:off x="6362700" y="48196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0.28</a:t>
            </a:r>
          </a:p>
        </p:txBody>
      </p:sp>
      <p:sp>
        <p:nvSpPr>
          <p:cNvPr name="TextBox 35" id="35"/>
          <p:cNvSpPr txBox="true"/>
          <p:nvPr/>
        </p:nvSpPr>
        <p:spPr>
          <a:xfrm rot="0">
            <a:off x="9220200" y="48196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0.29</a:t>
            </a:r>
          </a:p>
        </p:txBody>
      </p:sp>
      <p:sp>
        <p:nvSpPr>
          <p:cNvPr name="TextBox 36" id="36"/>
          <p:cNvSpPr txBox="true"/>
          <p:nvPr/>
        </p:nvSpPr>
        <p:spPr>
          <a:xfrm rot="0">
            <a:off x="12077700" y="48196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0.51</a:t>
            </a:r>
          </a:p>
        </p:txBody>
      </p:sp>
      <p:sp>
        <p:nvSpPr>
          <p:cNvPr name="TextBox 37" id="37"/>
          <p:cNvSpPr txBox="true"/>
          <p:nvPr/>
        </p:nvSpPr>
        <p:spPr>
          <a:xfrm rot="0">
            <a:off x="14935200" y="4819650"/>
            <a:ext cx="2762250" cy="365760"/>
          </a:xfrm>
          <a:prstGeom prst="rect">
            <a:avLst/>
          </a:prstGeom>
        </p:spPr>
        <p:txBody>
          <a:bodyPr anchor="t" rtlCol="false" tIns="0" lIns="0" bIns="0" rIns="0">
            <a:spAutoFit/>
          </a:bodyPr>
          <a:lstStyle/>
          <a:p>
            <a:pPr algn="ctr">
              <a:lnSpc>
                <a:spcPts val="2940"/>
              </a:lnSpc>
            </a:pPr>
            <a:r>
              <a:rPr lang="en-US" sz="2100" b="true">
                <a:solidFill>
                  <a:srgbClr val="12100E"/>
                </a:solidFill>
                <a:latin typeface="Arimo Bold"/>
                <a:ea typeface="Arimo Bold"/>
                <a:cs typeface="Arimo Bold"/>
                <a:sym typeface="Arimo Bold"/>
              </a:rPr>
              <a:t>0.65</a:t>
            </a:r>
          </a:p>
        </p:txBody>
      </p:sp>
      <p:sp>
        <p:nvSpPr>
          <p:cNvPr name="TextBox 38" id="38"/>
          <p:cNvSpPr txBox="true"/>
          <p:nvPr/>
        </p:nvSpPr>
        <p:spPr>
          <a:xfrm rot="0">
            <a:off x="1123950" y="5410200"/>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F1@0.75 (outline accuracy)</a:t>
            </a:r>
          </a:p>
        </p:txBody>
      </p:sp>
      <p:sp>
        <p:nvSpPr>
          <p:cNvPr name="TextBox 39" id="39"/>
          <p:cNvSpPr txBox="true"/>
          <p:nvPr/>
        </p:nvSpPr>
        <p:spPr>
          <a:xfrm rot="0">
            <a:off x="6362700" y="54102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0.28</a:t>
            </a:r>
          </a:p>
        </p:txBody>
      </p:sp>
      <p:sp>
        <p:nvSpPr>
          <p:cNvPr name="TextBox 40" id="40"/>
          <p:cNvSpPr txBox="true"/>
          <p:nvPr/>
        </p:nvSpPr>
        <p:spPr>
          <a:xfrm rot="0">
            <a:off x="9220200" y="54102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0.28</a:t>
            </a:r>
          </a:p>
        </p:txBody>
      </p:sp>
      <p:sp>
        <p:nvSpPr>
          <p:cNvPr name="TextBox 41" id="41"/>
          <p:cNvSpPr txBox="true"/>
          <p:nvPr/>
        </p:nvSpPr>
        <p:spPr>
          <a:xfrm rot="0">
            <a:off x="12077700" y="5410200"/>
            <a:ext cx="2762250" cy="365760"/>
          </a:xfrm>
          <a:prstGeom prst="rect">
            <a:avLst/>
          </a:prstGeom>
        </p:spPr>
        <p:txBody>
          <a:bodyPr anchor="t" rtlCol="false" tIns="0" lIns="0" bIns="0" rIns="0">
            <a:spAutoFit/>
          </a:bodyPr>
          <a:lstStyle/>
          <a:p>
            <a:pPr algn="ctr">
              <a:lnSpc>
                <a:spcPts val="2940"/>
              </a:lnSpc>
            </a:pPr>
            <a:r>
              <a:rPr lang="en-US" sz="2100" b="true">
                <a:solidFill>
                  <a:srgbClr val="12100E"/>
                </a:solidFill>
                <a:latin typeface="Arimo Bold"/>
                <a:ea typeface="Arimo Bold"/>
                <a:cs typeface="Arimo Bold"/>
                <a:sym typeface="Arimo Bold"/>
              </a:rPr>
              <a:t>0.38</a:t>
            </a:r>
          </a:p>
        </p:txBody>
      </p:sp>
      <p:sp>
        <p:nvSpPr>
          <p:cNvPr name="TextBox 42" id="42"/>
          <p:cNvSpPr txBox="true"/>
          <p:nvPr/>
        </p:nvSpPr>
        <p:spPr>
          <a:xfrm rot="0">
            <a:off x="14935200" y="54102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0.37</a:t>
            </a:r>
          </a:p>
        </p:txBody>
      </p:sp>
      <p:sp>
        <p:nvSpPr>
          <p:cNvPr name="TextBox 43" id="43"/>
          <p:cNvSpPr txBox="true"/>
          <p:nvPr/>
        </p:nvSpPr>
        <p:spPr>
          <a:xfrm rot="0">
            <a:off x="1123950" y="6000750"/>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Cells found (8,196 annotated)</a:t>
            </a:r>
          </a:p>
        </p:txBody>
      </p:sp>
      <p:sp>
        <p:nvSpPr>
          <p:cNvPr name="TextBox 44" id="44"/>
          <p:cNvSpPr txBox="true"/>
          <p:nvPr/>
        </p:nvSpPr>
        <p:spPr>
          <a:xfrm rot="0">
            <a:off x="6362700" y="60007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19,798</a:t>
            </a:r>
          </a:p>
        </p:txBody>
      </p:sp>
      <p:sp>
        <p:nvSpPr>
          <p:cNvPr name="TextBox 45" id="45"/>
          <p:cNvSpPr txBox="true"/>
          <p:nvPr/>
        </p:nvSpPr>
        <p:spPr>
          <a:xfrm rot="0">
            <a:off x="9220200" y="60007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19,301</a:t>
            </a:r>
          </a:p>
        </p:txBody>
      </p:sp>
      <p:sp>
        <p:nvSpPr>
          <p:cNvPr name="TextBox 46" id="46"/>
          <p:cNvSpPr txBox="true"/>
          <p:nvPr/>
        </p:nvSpPr>
        <p:spPr>
          <a:xfrm rot="0">
            <a:off x="12077700" y="60007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12,981</a:t>
            </a:r>
          </a:p>
        </p:txBody>
      </p:sp>
      <p:sp>
        <p:nvSpPr>
          <p:cNvPr name="TextBox 47" id="47"/>
          <p:cNvSpPr txBox="true"/>
          <p:nvPr/>
        </p:nvSpPr>
        <p:spPr>
          <a:xfrm rot="0">
            <a:off x="14935200" y="6000750"/>
            <a:ext cx="2762250" cy="365760"/>
          </a:xfrm>
          <a:prstGeom prst="rect">
            <a:avLst/>
          </a:prstGeom>
        </p:spPr>
        <p:txBody>
          <a:bodyPr anchor="t" rtlCol="false" tIns="0" lIns="0" bIns="0" rIns="0">
            <a:spAutoFit/>
          </a:bodyPr>
          <a:lstStyle/>
          <a:p>
            <a:pPr algn="ctr">
              <a:lnSpc>
                <a:spcPts val="2940"/>
              </a:lnSpc>
            </a:pPr>
            <a:r>
              <a:rPr lang="en-US" sz="2100" b="true">
                <a:solidFill>
                  <a:srgbClr val="12100E"/>
                </a:solidFill>
                <a:latin typeface="Arimo Bold"/>
                <a:ea typeface="Arimo Bold"/>
                <a:cs typeface="Arimo Bold"/>
                <a:sym typeface="Arimo Bold"/>
              </a:rPr>
              <a:t>7,474</a:t>
            </a:r>
          </a:p>
        </p:txBody>
      </p:sp>
      <p:sp>
        <p:nvSpPr>
          <p:cNvPr name="TextBox 48" id="48"/>
          <p:cNvSpPr txBox="true"/>
          <p:nvPr/>
        </p:nvSpPr>
        <p:spPr>
          <a:xfrm rot="0">
            <a:off x="1123950" y="6591300"/>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Total count error</a:t>
            </a:r>
          </a:p>
        </p:txBody>
      </p:sp>
      <p:sp>
        <p:nvSpPr>
          <p:cNvPr name="TextBox 49" id="49"/>
          <p:cNvSpPr txBox="true"/>
          <p:nvPr/>
        </p:nvSpPr>
        <p:spPr>
          <a:xfrm rot="0">
            <a:off x="6362700" y="65913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+142%</a:t>
            </a:r>
          </a:p>
        </p:txBody>
      </p:sp>
      <p:sp>
        <p:nvSpPr>
          <p:cNvPr name="TextBox 50" id="50"/>
          <p:cNvSpPr txBox="true"/>
          <p:nvPr/>
        </p:nvSpPr>
        <p:spPr>
          <a:xfrm rot="0">
            <a:off x="9220200" y="65913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+136%</a:t>
            </a:r>
          </a:p>
        </p:txBody>
      </p:sp>
      <p:sp>
        <p:nvSpPr>
          <p:cNvPr name="TextBox 51" id="51"/>
          <p:cNvSpPr txBox="true"/>
          <p:nvPr/>
        </p:nvSpPr>
        <p:spPr>
          <a:xfrm rot="0">
            <a:off x="12077700" y="659130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+58%</a:t>
            </a:r>
          </a:p>
        </p:txBody>
      </p:sp>
      <p:sp>
        <p:nvSpPr>
          <p:cNvPr name="TextBox 52" id="52"/>
          <p:cNvSpPr txBox="true"/>
          <p:nvPr/>
        </p:nvSpPr>
        <p:spPr>
          <a:xfrm rot="0">
            <a:off x="14935200" y="6591300"/>
            <a:ext cx="2762250" cy="365760"/>
          </a:xfrm>
          <a:prstGeom prst="rect">
            <a:avLst/>
          </a:prstGeom>
        </p:spPr>
        <p:txBody>
          <a:bodyPr anchor="t" rtlCol="false" tIns="0" lIns="0" bIns="0" rIns="0">
            <a:spAutoFit/>
          </a:bodyPr>
          <a:lstStyle/>
          <a:p>
            <a:pPr algn="ctr">
              <a:lnSpc>
                <a:spcPts val="2940"/>
              </a:lnSpc>
            </a:pPr>
            <a:r>
              <a:rPr lang="en-US" sz="2100" b="true">
                <a:solidFill>
                  <a:srgbClr val="12100E"/>
                </a:solidFill>
                <a:latin typeface="Arimo Bold"/>
                <a:ea typeface="Arimo Bold"/>
                <a:cs typeface="Arimo Bold"/>
                <a:sym typeface="Arimo Bold"/>
              </a:rPr>
              <a:t>−9%</a:t>
            </a:r>
          </a:p>
        </p:txBody>
      </p:sp>
      <p:sp>
        <p:nvSpPr>
          <p:cNvPr name="TextBox 53" id="53"/>
          <p:cNvSpPr txBox="true"/>
          <p:nvPr/>
        </p:nvSpPr>
        <p:spPr>
          <a:xfrm rot="0">
            <a:off x="1123950" y="7181850"/>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Time / GPU memory per image</a:t>
            </a:r>
          </a:p>
        </p:txBody>
      </p:sp>
      <p:sp>
        <p:nvSpPr>
          <p:cNvPr name="TextBox 54" id="54"/>
          <p:cNvSpPr txBox="true"/>
          <p:nvPr/>
        </p:nvSpPr>
        <p:spPr>
          <a:xfrm rot="0">
            <a:off x="6362700" y="71818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3.7 s / 1.6 GB</a:t>
            </a:r>
          </a:p>
        </p:txBody>
      </p:sp>
      <p:sp>
        <p:nvSpPr>
          <p:cNvPr name="TextBox 55" id="55"/>
          <p:cNvSpPr txBox="true"/>
          <p:nvPr/>
        </p:nvSpPr>
        <p:spPr>
          <a:xfrm rot="0">
            <a:off x="9220200" y="71818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3.7 s / 1.6 GB</a:t>
            </a:r>
          </a:p>
        </p:txBody>
      </p:sp>
      <p:sp>
        <p:nvSpPr>
          <p:cNvPr name="TextBox 56" id="56"/>
          <p:cNvSpPr txBox="true"/>
          <p:nvPr/>
        </p:nvSpPr>
        <p:spPr>
          <a:xfrm rot="0">
            <a:off x="12077700" y="7181850"/>
            <a:ext cx="2762250" cy="365760"/>
          </a:xfrm>
          <a:prstGeom prst="rect">
            <a:avLst/>
          </a:prstGeom>
        </p:spPr>
        <p:txBody>
          <a:bodyPr anchor="t" rtlCol="false" tIns="0" lIns="0" bIns="0" rIns="0">
            <a:spAutoFit/>
          </a:bodyPr>
          <a:lstStyle/>
          <a:p>
            <a:pPr algn="ctr">
              <a:lnSpc>
                <a:spcPts val="2940"/>
              </a:lnSpc>
            </a:pPr>
            <a:r>
              <a:rPr lang="en-US" sz="2100">
                <a:solidFill>
                  <a:srgbClr val="12100E"/>
                </a:solidFill>
                <a:latin typeface="Arimo"/>
                <a:ea typeface="Arimo"/>
                <a:cs typeface="Arimo"/>
                <a:sym typeface="Arimo"/>
              </a:rPr>
              <a:t>3.6 s / 1.3 GB</a:t>
            </a:r>
          </a:p>
        </p:txBody>
      </p:sp>
      <p:sp>
        <p:nvSpPr>
          <p:cNvPr name="TextBox 57" id="57"/>
          <p:cNvSpPr txBox="true"/>
          <p:nvPr/>
        </p:nvSpPr>
        <p:spPr>
          <a:xfrm rot="0">
            <a:off x="14935200" y="7181850"/>
            <a:ext cx="2762250" cy="365760"/>
          </a:xfrm>
          <a:prstGeom prst="rect">
            <a:avLst/>
          </a:prstGeom>
        </p:spPr>
        <p:txBody>
          <a:bodyPr anchor="t" rtlCol="false" tIns="0" lIns="0" bIns="0" rIns="0">
            <a:spAutoFit/>
          </a:bodyPr>
          <a:lstStyle/>
          <a:p>
            <a:pPr algn="ctr">
              <a:lnSpc>
                <a:spcPts val="2940"/>
              </a:lnSpc>
            </a:pPr>
            <a:r>
              <a:rPr lang="en-US" sz="2100" b="true">
                <a:solidFill>
                  <a:srgbClr val="12100E"/>
                </a:solidFill>
                <a:latin typeface="Arimo Bold"/>
                <a:ea typeface="Arimo Bold"/>
                <a:cs typeface="Arimo Bold"/>
                <a:sym typeface="Arimo Bold"/>
              </a:rPr>
              <a:t>1.7 s / 0.7 GB</a:t>
            </a:r>
          </a:p>
        </p:txBody>
      </p:sp>
      <p:sp>
        <p:nvSpPr>
          <p:cNvPr name="TextBox 58" id="58"/>
          <p:cNvSpPr txBox="true"/>
          <p:nvPr/>
        </p:nvSpPr>
        <p:spPr>
          <a:xfrm rot="0">
            <a:off x="939070" y="7772400"/>
            <a:ext cx="16764000" cy="350520"/>
          </a:xfrm>
          <a:prstGeom prst="rect">
            <a:avLst/>
          </a:prstGeom>
        </p:spPr>
        <p:txBody>
          <a:bodyPr anchor="t" rtlCol="false" tIns="0" lIns="0" bIns="0" rIns="0">
            <a:spAutoFit/>
          </a:bodyPr>
          <a:lstStyle/>
          <a:p>
            <a:pPr algn="l">
              <a:lnSpc>
                <a:spcPts val="2729"/>
              </a:lnSpc>
            </a:pPr>
            <a:r>
              <a:rPr lang="en-US" sz="1950">
                <a:solidFill>
                  <a:srgbClr val="12100E"/>
                </a:solidFill>
                <a:latin typeface="Arimo"/>
                <a:ea typeface="Arimo"/>
                <a:cs typeface="Arimo"/>
                <a:sym typeface="Arimo"/>
              </a:rPr>
              <a:t>Zero-shot, default settings · 25 differentiated porcine brightfield images, 8,196 annotated cells · bold = best per row</a:t>
            </a:r>
          </a:p>
        </p:txBody>
      </p:sp>
      <p:sp>
        <p:nvSpPr>
          <p:cNvPr name="TextBox 59" id="59"/>
          <p:cNvSpPr txBox="true"/>
          <p:nvPr/>
        </p:nvSpPr>
        <p:spPr>
          <a:xfrm rot="0">
            <a:off x="939070" y="8134350"/>
            <a:ext cx="16764000" cy="325755"/>
          </a:xfrm>
          <a:prstGeom prst="rect">
            <a:avLst/>
          </a:prstGeom>
        </p:spPr>
        <p:txBody>
          <a:bodyPr anchor="t" rtlCol="false" tIns="0" lIns="0" bIns="0" rIns="0">
            <a:spAutoFit/>
          </a:bodyPr>
          <a:lstStyle/>
          <a:p>
            <a:pPr algn="l">
              <a:lnSpc>
                <a:spcPts val="2520"/>
              </a:lnSpc>
            </a:pPr>
            <a:r>
              <a:rPr lang="en-US" sz="1800" i="true">
                <a:solidFill>
                  <a:srgbClr val="555555"/>
                </a:solidFill>
                <a:latin typeface="Arimo Italics"/>
                <a:ea typeface="Arimo Italics"/>
                <a:cs typeface="Arimo Italics"/>
                <a:sym typeface="Arimo Italics"/>
              </a:rPr>
              <a:t>cpsam_v2 / cpsam = Cellpose-SAM (current / original weights) · cpdino / cpdino-vitb = Cellpose with a DINOv3 backbone (large / base)</a:t>
            </a:r>
          </a:p>
        </p:txBody>
      </p:sp>
      <p:sp>
        <p:nvSpPr>
          <p:cNvPr name="TextBox 60" id="60"/>
          <p:cNvSpPr txBox="true"/>
          <p:nvPr/>
        </p:nvSpPr>
        <p:spPr>
          <a:xfrm rot="0">
            <a:off x="939070" y="8591550"/>
            <a:ext cx="16764000" cy="400050"/>
          </a:xfrm>
          <a:prstGeom prst="rect">
            <a:avLst/>
          </a:prstGeom>
        </p:spPr>
        <p:txBody>
          <a:bodyPr anchor="t" rtlCol="false" tIns="0" lIns="0" bIns="0" rIns="0">
            <a:spAutoFit/>
          </a:bodyPr>
          <a:lstStyle/>
          <a:p>
            <a:pPr algn="l" marL="0" indent="0" lvl="0">
              <a:lnSpc>
                <a:spcPts val="3149"/>
              </a:lnSpc>
              <a:spcBef>
                <a:spcPct val="0"/>
              </a:spcBef>
            </a:pPr>
            <a:r>
              <a:rPr lang="en-US" b="true" sz="2250" strike="noStrike" u="none">
                <a:solidFill>
                  <a:srgbClr val="12100E"/>
                </a:solidFill>
                <a:latin typeface="Arimo Bold"/>
                <a:ea typeface="Arimo Bold"/>
                <a:cs typeface="Arimo Bold"/>
                <a:sym typeface="Arimo Bold"/>
              </a:rPr>
              <a:t>DINOv3 models beat Cellpose-SAM on 24 of 25 images (p &lt; 0.001); Cellpose-SAM finds ~2.4× too many cells.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2"/>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3"/>
            <a:stretch>
              <a:fillRect l="0" t="-1041" r="0" b="-79121"/>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Project Plan</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5 · TECHNICAL WORK &amp; EVALUATION</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Findings → Proposals</a:t>
            </a:r>
          </a:p>
        </p:txBody>
      </p:sp>
      <p:sp>
        <p:nvSpPr>
          <p:cNvPr name="TextBox 11" id="11"/>
          <p:cNvSpPr txBox="true"/>
          <p:nvPr/>
        </p:nvSpPr>
        <p:spPr>
          <a:xfrm rot="0">
            <a:off x="939070" y="3609975"/>
            <a:ext cx="16383000" cy="407670"/>
          </a:xfrm>
          <a:prstGeom prst="rect">
            <a:avLst/>
          </a:prstGeom>
        </p:spPr>
        <p:txBody>
          <a:bodyPr anchor="t" rtlCol="false" tIns="0" lIns="0" bIns="0" rIns="0">
            <a:spAutoFit/>
          </a:bodyPr>
          <a:lstStyle/>
          <a:p>
            <a:pPr algn="l">
              <a:lnSpc>
                <a:spcPts val="3254"/>
              </a:lnSpc>
            </a:pPr>
            <a:r>
              <a:rPr lang="en-US" sz="2325" b="true">
                <a:solidFill>
                  <a:srgbClr val="12100E"/>
                </a:solidFill>
                <a:latin typeface="Arimo Bold"/>
                <a:ea typeface="Arimo Bold"/>
                <a:cs typeface="Arimo Bold"/>
                <a:sym typeface="Arimo Bold"/>
              </a:rPr>
              <a:t>1. Large lipid droplets are outlined as separate cells</a:t>
            </a:r>
          </a:p>
        </p:txBody>
      </p:sp>
      <p:sp>
        <p:nvSpPr>
          <p:cNvPr name="TextBox 12" id="12"/>
          <p:cNvSpPr txBox="true"/>
          <p:nvPr/>
        </p:nvSpPr>
        <p:spPr>
          <a:xfrm rot="0">
            <a:off x="1333500" y="4057650"/>
            <a:ext cx="16002000" cy="382905"/>
          </a:xfrm>
          <a:prstGeom prst="rect">
            <a:avLst/>
          </a:prstGeom>
        </p:spPr>
        <p:txBody>
          <a:bodyPr anchor="t" rtlCol="false" tIns="0" lIns="0" bIns="0" rIns="0">
            <a:spAutoFit/>
          </a:bodyPr>
          <a:lstStyle/>
          <a:p>
            <a:pPr algn="l">
              <a:lnSpc>
                <a:spcPts val="3045"/>
              </a:lnSpc>
            </a:pPr>
            <a:r>
              <a:rPr lang="en-US" sz="2175">
                <a:solidFill>
                  <a:srgbClr val="C25E00"/>
                </a:solidFill>
                <a:latin typeface="Arimo"/>
                <a:ea typeface="Arimo"/>
                <a:cs typeface="Arimo"/>
                <a:sym typeface="Arimo"/>
              </a:rPr>
              <a:t>→ Proposal: fine-tune on IMES masks, starting with cpdino-vitb (most robust, fits our 8 GB GPU)</a:t>
            </a:r>
          </a:p>
        </p:txBody>
      </p:sp>
      <p:sp>
        <p:nvSpPr>
          <p:cNvPr name="TextBox 13" id="13"/>
          <p:cNvSpPr txBox="true"/>
          <p:nvPr/>
        </p:nvSpPr>
        <p:spPr>
          <a:xfrm rot="0">
            <a:off x="939070" y="5086350"/>
            <a:ext cx="16383000" cy="407670"/>
          </a:xfrm>
          <a:prstGeom prst="rect">
            <a:avLst/>
          </a:prstGeom>
        </p:spPr>
        <p:txBody>
          <a:bodyPr anchor="t" rtlCol="false" tIns="0" lIns="0" bIns="0" rIns="0">
            <a:spAutoFit/>
          </a:bodyPr>
          <a:lstStyle/>
          <a:p>
            <a:pPr algn="l">
              <a:lnSpc>
                <a:spcPts val="3254"/>
              </a:lnSpc>
            </a:pPr>
            <a:r>
              <a:rPr lang="en-US" sz="2325" b="true">
                <a:solidFill>
                  <a:srgbClr val="12100E"/>
                </a:solidFill>
                <a:latin typeface="Arimo Bold"/>
                <a:ea typeface="Arimo Bold"/>
                <a:cs typeface="Arimo Bold"/>
                <a:sym typeface="Arimo Bold"/>
              </a:rPr>
              <a:t>2</a:t>
            </a:r>
            <a:r>
              <a:rPr lang="en-US" sz="2325" b="true">
                <a:solidFill>
                  <a:srgbClr val="12100E"/>
                </a:solidFill>
                <a:latin typeface="Arimo Bold"/>
                <a:ea typeface="Arimo Bold"/>
                <a:cs typeface="Arimo Bold"/>
                <a:sym typeface="Arimo Bold"/>
              </a:rPr>
              <a:t>. cpdino draws the best outlines; cpdino-vitb never collapses </a:t>
            </a:r>
          </a:p>
        </p:txBody>
      </p:sp>
      <p:sp>
        <p:nvSpPr>
          <p:cNvPr name="TextBox 14" id="14"/>
          <p:cNvSpPr txBox="true"/>
          <p:nvPr/>
        </p:nvSpPr>
        <p:spPr>
          <a:xfrm rot="0">
            <a:off x="1257300" y="5674995"/>
            <a:ext cx="16002000" cy="382905"/>
          </a:xfrm>
          <a:prstGeom prst="rect">
            <a:avLst/>
          </a:prstGeom>
        </p:spPr>
        <p:txBody>
          <a:bodyPr anchor="t" rtlCol="false" tIns="0" lIns="0" bIns="0" rIns="0">
            <a:spAutoFit/>
          </a:bodyPr>
          <a:lstStyle/>
          <a:p>
            <a:pPr algn="l">
              <a:lnSpc>
                <a:spcPts val="3045"/>
              </a:lnSpc>
            </a:pPr>
            <a:r>
              <a:rPr lang="en-US" sz="2175">
                <a:solidFill>
                  <a:srgbClr val="C25E00"/>
                </a:solidFill>
                <a:latin typeface="Arimo"/>
                <a:ea typeface="Arimo"/>
                <a:cs typeface="Arimo"/>
                <a:sym typeface="Arimo"/>
              </a:rPr>
              <a:t>→ Proposal: keep both as zero-shot references; drop cpsam_v2 as the default reference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2"/>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3"/>
            <a:stretch>
              <a:fillRect l="0" t="-1041" r="0" b="-79121"/>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Project Plan</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5 · TECHNICAL WORK &amp; EVALUATION</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Limits &amp; Next Steps</a:t>
            </a:r>
          </a:p>
        </p:txBody>
      </p:sp>
      <p:sp>
        <p:nvSpPr>
          <p:cNvPr name="TextBox 11" id="11"/>
          <p:cNvSpPr txBox="true"/>
          <p:nvPr/>
        </p:nvSpPr>
        <p:spPr>
          <a:xfrm rot="0">
            <a:off x="939070" y="3590925"/>
            <a:ext cx="7810500" cy="533400"/>
          </a:xfrm>
          <a:prstGeom prst="rect">
            <a:avLst/>
          </a:prstGeom>
        </p:spPr>
        <p:txBody>
          <a:bodyPr anchor="t" rtlCol="false" tIns="0" lIns="0" bIns="0" rIns="0">
            <a:spAutoFit/>
          </a:bodyPr>
          <a:lstStyle/>
          <a:p>
            <a:pPr algn="l">
              <a:lnSpc>
                <a:spcPts val="4200"/>
              </a:lnSpc>
            </a:pPr>
            <a:r>
              <a:rPr lang="en-US" sz="3000" b="true">
                <a:solidFill>
                  <a:srgbClr val="12100E"/>
                </a:solidFill>
                <a:latin typeface="Arimo Bold"/>
                <a:ea typeface="Arimo Bold"/>
                <a:cs typeface="Arimo Bold"/>
                <a:sym typeface="Arimo Bold"/>
              </a:rPr>
              <a:t>Limits</a:t>
            </a:r>
          </a:p>
        </p:txBody>
      </p:sp>
      <p:sp>
        <p:nvSpPr>
          <p:cNvPr name="TextBox 12" id="12"/>
          <p:cNvSpPr txBox="true"/>
          <p:nvPr/>
        </p:nvSpPr>
        <p:spPr>
          <a:xfrm rot="0">
            <a:off x="939070" y="4210050"/>
            <a:ext cx="7810500" cy="2990850"/>
          </a:xfrm>
          <a:prstGeom prst="rect">
            <a:avLst/>
          </a:prstGeom>
        </p:spPr>
        <p:txBody>
          <a:bodyPr anchor="t" rtlCol="false" tIns="0" lIns="0" bIns="0" rIns="0">
            <a:spAutoFit/>
          </a:bodyPr>
          <a:lstStyle/>
          <a:p>
            <a:pPr algn="l" marL="485775" indent="-242888" lvl="1">
              <a:lnSpc>
                <a:spcPts val="3375"/>
              </a:lnSpc>
              <a:buFont typeface="Arial"/>
              <a:buChar char="•"/>
            </a:pPr>
            <a:r>
              <a:rPr lang="en-US" sz="2250">
                <a:solidFill>
                  <a:srgbClr val="12100E"/>
                </a:solidFill>
                <a:latin typeface="Arimo"/>
                <a:ea typeface="Arimo"/>
                <a:cs typeface="Arimo"/>
                <a:sym typeface="Arimo"/>
              </a:rPr>
              <a:t>Only 1 of 4 image groups tested (porcine brightfield, 28 images)</a:t>
            </a:r>
          </a:p>
          <a:p>
            <a:pPr algn="l" marL="485775" indent="-242888" lvl="1">
              <a:lnSpc>
                <a:spcPts val="3375"/>
              </a:lnSpc>
              <a:buFont typeface="Arial"/>
              <a:buChar char="•"/>
            </a:pPr>
            <a:r>
              <a:rPr lang="en-US" sz="2250">
                <a:solidFill>
                  <a:srgbClr val="12100E"/>
                </a:solidFill>
                <a:latin typeface="Arimo"/>
                <a:ea typeface="Arimo"/>
                <a:cs typeface="Arimo"/>
                <a:sym typeface="Arimo"/>
              </a:rPr>
              <a:t>Default settings, nothing tuned, no training yet</a:t>
            </a:r>
          </a:p>
          <a:p>
            <a:pPr algn="l" marL="485775" indent="-242888" lvl="1">
              <a:lnSpc>
                <a:spcPts val="3375"/>
              </a:lnSpc>
              <a:buFont typeface="Arial"/>
              <a:buChar char="•"/>
            </a:pPr>
            <a:r>
              <a:rPr lang="en-US" sz="2250">
                <a:solidFill>
                  <a:srgbClr val="12100E"/>
                </a:solidFill>
                <a:latin typeface="Arimo"/>
                <a:ea typeface="Arimo"/>
                <a:cs typeface="Arimo"/>
                <a:sym typeface="Arimo"/>
              </a:rPr>
              <a:t>The “typical vs difficult images” split was chosen after seeing the results</a:t>
            </a:r>
          </a:p>
          <a:p>
            <a:pPr algn="l" marL="485775" indent="-242888" lvl="1">
              <a:lnSpc>
                <a:spcPts val="3375"/>
              </a:lnSpc>
              <a:buFont typeface="Arial"/>
              <a:buChar char="•"/>
            </a:pPr>
            <a:r>
              <a:rPr lang="en-US" sz="2250">
                <a:solidFill>
                  <a:srgbClr val="12100E"/>
                </a:solidFill>
                <a:latin typeface="Arimo"/>
                <a:ea typeface="Arimo"/>
                <a:cs typeface="Arimo"/>
                <a:sym typeface="Arimo"/>
              </a:rPr>
              <a:t>Annotation rule (only fat cells?) and the “at least 70%” target are not confirmed yet</a:t>
            </a:r>
          </a:p>
        </p:txBody>
      </p:sp>
      <p:sp>
        <p:nvSpPr>
          <p:cNvPr name="TextBox 13" id="13"/>
          <p:cNvSpPr txBox="true"/>
          <p:nvPr/>
        </p:nvSpPr>
        <p:spPr>
          <a:xfrm rot="0">
            <a:off x="9525000" y="3590925"/>
            <a:ext cx="7810500" cy="533400"/>
          </a:xfrm>
          <a:prstGeom prst="rect">
            <a:avLst/>
          </a:prstGeom>
        </p:spPr>
        <p:txBody>
          <a:bodyPr anchor="t" rtlCol="false" tIns="0" lIns="0" bIns="0" rIns="0">
            <a:spAutoFit/>
          </a:bodyPr>
          <a:lstStyle/>
          <a:p>
            <a:pPr algn="l">
              <a:lnSpc>
                <a:spcPts val="4200"/>
              </a:lnSpc>
            </a:pPr>
            <a:r>
              <a:rPr lang="en-US" sz="3000" b="true">
                <a:solidFill>
                  <a:srgbClr val="12100E"/>
                </a:solidFill>
                <a:latin typeface="Arimo Bold"/>
                <a:ea typeface="Arimo Bold"/>
                <a:cs typeface="Arimo Bold"/>
                <a:sym typeface="Arimo Bold"/>
              </a:rPr>
              <a:t>Next steps</a:t>
            </a:r>
          </a:p>
        </p:txBody>
      </p:sp>
      <p:sp>
        <p:nvSpPr>
          <p:cNvPr name="TextBox 14" id="14"/>
          <p:cNvSpPr txBox="true"/>
          <p:nvPr/>
        </p:nvSpPr>
        <p:spPr>
          <a:xfrm rot="0">
            <a:off x="9144000" y="3667822"/>
            <a:ext cx="8191500" cy="3142553"/>
          </a:xfrm>
          <a:prstGeom prst="rect">
            <a:avLst/>
          </a:prstGeom>
        </p:spPr>
        <p:txBody>
          <a:bodyPr anchor="t" rtlCol="false" tIns="0" lIns="0" bIns="0" rIns="0">
            <a:spAutoFit/>
          </a:bodyPr>
          <a:lstStyle/>
          <a:p>
            <a:pPr algn="l">
              <a:lnSpc>
                <a:spcPts val="3539"/>
              </a:lnSpc>
            </a:pPr>
          </a:p>
          <a:p>
            <a:pPr algn="l" marL="509471" indent="-254736" lvl="1">
              <a:lnSpc>
                <a:spcPts val="3539"/>
              </a:lnSpc>
              <a:buAutoNum type="arabicPeriod" startAt="1"/>
            </a:pPr>
            <a:r>
              <a:rPr lang="en-US" sz="2359">
                <a:solidFill>
                  <a:srgbClr val="12100E"/>
                </a:solidFill>
                <a:latin typeface="Arimo"/>
                <a:ea typeface="Arimo"/>
                <a:cs typeface="Arimo"/>
                <a:sym typeface="Arimo"/>
              </a:rPr>
              <a:t>Run the other 3 image groups</a:t>
            </a:r>
          </a:p>
          <a:p>
            <a:pPr algn="l" marL="509471" indent="-254736" lvl="1">
              <a:lnSpc>
                <a:spcPts val="3539"/>
              </a:lnSpc>
              <a:buAutoNum type="arabicPeriod" startAt="1"/>
            </a:pPr>
            <a:r>
              <a:rPr lang="en-US" sz="2359">
                <a:solidFill>
                  <a:srgbClr val="12100E"/>
                </a:solidFill>
                <a:latin typeface="Arimo"/>
                <a:ea typeface="Arimo"/>
                <a:cs typeface="Arimo"/>
                <a:sym typeface="Arimo"/>
              </a:rPr>
              <a:t>Add micro-SAM to the same pipeline</a:t>
            </a:r>
          </a:p>
          <a:p>
            <a:pPr algn="l" marL="509471" indent="-254736" lvl="1">
              <a:lnSpc>
                <a:spcPts val="3539"/>
              </a:lnSpc>
              <a:buAutoNum type="arabicPeriod" startAt="1"/>
            </a:pPr>
            <a:r>
              <a:rPr lang="en-US" sz="2359">
                <a:solidFill>
                  <a:srgbClr val="12100E"/>
                </a:solidFill>
                <a:latin typeface="Arimo"/>
                <a:ea typeface="Arimo"/>
                <a:cs typeface="Arimo"/>
                <a:sym typeface="Arimo"/>
              </a:rPr>
              <a:t>Set up DINOCell, CellSAM, SAM3 / Medical SAM3</a:t>
            </a:r>
          </a:p>
          <a:p>
            <a:pPr algn="l" marL="509471" indent="-254736" lvl="1">
              <a:lnSpc>
                <a:spcPts val="3539"/>
              </a:lnSpc>
              <a:buAutoNum type="arabicPeriod" startAt="1"/>
            </a:pPr>
            <a:r>
              <a:rPr lang="en-US" sz="2359">
                <a:solidFill>
                  <a:srgbClr val="12100E"/>
                </a:solidFill>
                <a:latin typeface="Arimo"/>
                <a:ea typeface="Arimo"/>
                <a:cs typeface="Arimo"/>
                <a:sym typeface="Arimo"/>
              </a:rPr>
              <a:t>Leakage-free splits (by series and condition)</a:t>
            </a:r>
          </a:p>
          <a:p>
            <a:pPr algn="l" marL="509471" indent="-254736" lvl="1">
              <a:lnSpc>
                <a:spcPts val="3539"/>
              </a:lnSpc>
              <a:buAutoNum type="arabicPeriod" startAt="1"/>
            </a:pPr>
            <a:r>
              <a:rPr lang="en-US" sz="2359">
                <a:solidFill>
                  <a:srgbClr val="12100E"/>
                </a:solidFill>
                <a:latin typeface="Arimo"/>
                <a:ea typeface="Arimo"/>
                <a:cs typeface="Arimo"/>
                <a:sym typeface="Arimo"/>
              </a:rPr>
              <a:t>Fine-tune the best 1–2 models</a:t>
            </a:r>
          </a:p>
          <a:p>
            <a:pPr algn="l" marL="509471" indent="-254736" lvl="1">
              <a:lnSpc>
                <a:spcPts val="3539"/>
              </a:lnSpc>
              <a:buAutoNum type="arabicPeriod" startAt="1"/>
            </a:pPr>
            <a:r>
              <a:rPr lang="en-US" sz="2359">
                <a:solidFill>
                  <a:srgbClr val="12100E"/>
                </a:solidFill>
                <a:latin typeface="Arimo"/>
                <a:ea typeface="Arimo"/>
                <a:cs typeface="Arimo"/>
                <a:sym typeface="Arimo"/>
              </a:rPr>
              <a:t>Send IMES a short summary + open questions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2"/>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3"/>
            <a:stretch>
              <a:fillRect l="0" t="-1041" r="0" b="-79121"/>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Project Plan</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DELIVERABLES</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Deliverables</a:t>
            </a:r>
          </a:p>
        </p:txBody>
      </p:sp>
      <p:sp>
        <p:nvSpPr>
          <p:cNvPr name="TextBox 11" id="11"/>
          <p:cNvSpPr txBox="true"/>
          <p:nvPr/>
        </p:nvSpPr>
        <p:spPr>
          <a:xfrm rot="0">
            <a:off x="939070" y="3590925"/>
            <a:ext cx="8191500" cy="533400"/>
          </a:xfrm>
          <a:prstGeom prst="rect">
            <a:avLst/>
          </a:prstGeom>
        </p:spPr>
        <p:txBody>
          <a:bodyPr anchor="t" rtlCol="false" tIns="0" lIns="0" bIns="0" rIns="0">
            <a:spAutoFit/>
          </a:bodyPr>
          <a:lstStyle/>
          <a:p>
            <a:pPr algn="l">
              <a:lnSpc>
                <a:spcPts val="4200"/>
              </a:lnSpc>
            </a:pPr>
            <a:r>
              <a:rPr lang="en-US" sz="3000" b="true">
                <a:solidFill>
                  <a:srgbClr val="12100E"/>
                </a:solidFill>
                <a:latin typeface="Arimo Bold"/>
                <a:ea typeface="Arimo Bold"/>
                <a:cs typeface="Arimo Bold"/>
                <a:sym typeface="Arimo Bold"/>
              </a:rPr>
              <a:t>For IMES (client)</a:t>
            </a:r>
          </a:p>
        </p:txBody>
      </p:sp>
      <p:sp>
        <p:nvSpPr>
          <p:cNvPr name="TextBox 12" id="12"/>
          <p:cNvSpPr txBox="true"/>
          <p:nvPr/>
        </p:nvSpPr>
        <p:spPr>
          <a:xfrm rot="0">
            <a:off x="939070" y="4210050"/>
            <a:ext cx="8191500" cy="3419475"/>
          </a:xfrm>
          <a:prstGeom prst="rect">
            <a:avLst/>
          </a:prstGeom>
        </p:spPr>
        <p:txBody>
          <a:bodyPr anchor="t" rtlCol="false" tIns="0" lIns="0" bIns="0" rIns="0">
            <a:spAutoFit/>
          </a:bodyPr>
          <a:lstStyle/>
          <a:p>
            <a:pPr algn="l" marL="485775" indent="-242888" lvl="1">
              <a:lnSpc>
                <a:spcPts val="3375"/>
              </a:lnSpc>
              <a:buFont typeface="Arial"/>
              <a:buChar char="•"/>
            </a:pPr>
            <a:r>
              <a:rPr lang="en-US" sz="2250">
                <a:solidFill>
                  <a:srgbClr val="12100E"/>
                </a:solidFill>
                <a:latin typeface="Arimo"/>
                <a:ea typeface="Arimo"/>
                <a:cs typeface="Arimo"/>
                <a:sym typeface="Arimo"/>
              </a:rPr>
              <a:t>Documented, reproducible evaluation pipeline (code, environment, settings)</a:t>
            </a:r>
          </a:p>
          <a:p>
            <a:pPr algn="l" marL="485775" indent="-242888" lvl="1">
              <a:lnSpc>
                <a:spcPts val="3375"/>
              </a:lnSpc>
              <a:buFont typeface="Arial"/>
              <a:buChar char="•"/>
            </a:pPr>
            <a:r>
              <a:rPr lang="en-US" sz="2250">
                <a:solidFill>
                  <a:srgbClr val="12100E"/>
                </a:solidFill>
                <a:latin typeface="Arimo"/>
                <a:ea typeface="Arimo"/>
                <a:cs typeface="Arimo"/>
                <a:sym typeface="Arimo"/>
              </a:rPr>
              <a:t>Benchmark of all candidate models per image group (same images, same scoring)</a:t>
            </a:r>
          </a:p>
          <a:p>
            <a:pPr algn="l" marL="485775" indent="-242888" lvl="1">
              <a:lnSpc>
                <a:spcPts val="3375"/>
              </a:lnSpc>
              <a:buFont typeface="Arial"/>
              <a:buChar char="•"/>
            </a:pPr>
            <a:r>
              <a:rPr lang="en-US" sz="2250">
                <a:solidFill>
                  <a:srgbClr val="12100E"/>
                </a:solidFill>
                <a:latin typeface="Arimo"/>
                <a:ea typeface="Arimo"/>
                <a:cs typeface="Arimo"/>
                <a:sym typeface="Arimo"/>
              </a:rPr>
              <a:t>Recommended model, fine-tuned on IMES data</a:t>
            </a:r>
          </a:p>
          <a:p>
            <a:pPr algn="l" marL="485775" indent="-242888" lvl="1">
              <a:lnSpc>
                <a:spcPts val="3375"/>
              </a:lnSpc>
              <a:buFont typeface="Arial"/>
              <a:buChar char="•"/>
            </a:pPr>
            <a:r>
              <a:rPr lang="en-US" sz="2250">
                <a:solidFill>
                  <a:srgbClr val="12100E"/>
                </a:solidFill>
                <a:latin typeface="Arimo"/>
                <a:ea typeface="Arimo"/>
                <a:cs typeface="Arimo"/>
                <a:sym typeface="Arimo"/>
              </a:rPr>
              <a:t>Readouts per image: cell count, cell-size distribution, per-cell masks (exact form yet to confirm with IMES)</a:t>
            </a:r>
          </a:p>
          <a:p>
            <a:pPr algn="l" marL="485775" indent="-242888" lvl="1">
              <a:lnSpc>
                <a:spcPts val="3375"/>
              </a:lnSpc>
              <a:buFont typeface="Arial"/>
              <a:buChar char="•"/>
            </a:pPr>
            <a:r>
              <a:rPr lang="en-US" sz="2250">
                <a:solidFill>
                  <a:srgbClr val="12100E"/>
                </a:solidFill>
                <a:latin typeface="Arimo"/>
                <a:ea typeface="Arimo"/>
                <a:cs typeface="Arimo"/>
                <a:sym typeface="Arimo"/>
              </a:rPr>
              <a:t>Code handover with a short user guide</a:t>
            </a:r>
          </a:p>
        </p:txBody>
      </p:sp>
      <p:sp>
        <p:nvSpPr>
          <p:cNvPr name="TextBox 13" id="13"/>
          <p:cNvSpPr txBox="true"/>
          <p:nvPr/>
        </p:nvSpPr>
        <p:spPr>
          <a:xfrm rot="0">
            <a:off x="9906000" y="3590925"/>
            <a:ext cx="7429500" cy="533400"/>
          </a:xfrm>
          <a:prstGeom prst="rect">
            <a:avLst/>
          </a:prstGeom>
        </p:spPr>
        <p:txBody>
          <a:bodyPr anchor="t" rtlCol="false" tIns="0" lIns="0" bIns="0" rIns="0">
            <a:spAutoFit/>
          </a:bodyPr>
          <a:lstStyle/>
          <a:p>
            <a:pPr algn="l">
              <a:lnSpc>
                <a:spcPts val="4200"/>
              </a:lnSpc>
            </a:pPr>
            <a:r>
              <a:rPr lang="en-US" sz="3000" b="true">
                <a:solidFill>
                  <a:srgbClr val="12100E"/>
                </a:solidFill>
                <a:latin typeface="Arimo Bold"/>
                <a:ea typeface="Arimo Bold"/>
                <a:cs typeface="Arimo Bold"/>
                <a:sym typeface="Arimo Bold"/>
              </a:rPr>
              <a:t>For the course</a:t>
            </a:r>
          </a:p>
        </p:txBody>
      </p:sp>
      <p:sp>
        <p:nvSpPr>
          <p:cNvPr name="TextBox 14" id="14"/>
          <p:cNvSpPr txBox="true"/>
          <p:nvPr/>
        </p:nvSpPr>
        <p:spPr>
          <a:xfrm rot="0">
            <a:off x="9906000" y="4210050"/>
            <a:ext cx="7429500" cy="2133600"/>
          </a:xfrm>
          <a:prstGeom prst="rect">
            <a:avLst/>
          </a:prstGeom>
        </p:spPr>
        <p:txBody>
          <a:bodyPr anchor="t" rtlCol="false" tIns="0" lIns="0" bIns="0" rIns="0">
            <a:spAutoFit/>
          </a:bodyPr>
          <a:lstStyle/>
          <a:p>
            <a:pPr algn="l" marL="485775" indent="-242888" lvl="1">
              <a:lnSpc>
                <a:spcPts val="3375"/>
              </a:lnSpc>
              <a:buFont typeface="Arial"/>
              <a:buChar char="•"/>
            </a:pPr>
            <a:r>
              <a:rPr lang="en-US" sz="2250">
                <a:solidFill>
                  <a:srgbClr val="12100E"/>
                </a:solidFill>
                <a:latin typeface="Arimo"/>
                <a:ea typeface="Arimo"/>
                <a:cs typeface="Arimo"/>
                <a:sym typeface="Arimo"/>
              </a:rPr>
              <a:t>Mid-term poster</a:t>
            </a:r>
          </a:p>
          <a:p>
            <a:pPr algn="l" marL="485775" indent="-242888" lvl="1">
              <a:lnSpc>
                <a:spcPts val="3375"/>
              </a:lnSpc>
              <a:buFont typeface="Arial"/>
              <a:buChar char="•"/>
            </a:pPr>
            <a:r>
              <a:rPr lang="en-US" sz="2250">
                <a:solidFill>
                  <a:srgbClr val="12100E"/>
                </a:solidFill>
                <a:latin typeface="Arimo"/>
                <a:ea typeface="Arimo"/>
                <a:cs typeface="Arimo"/>
                <a:sym typeface="Arimo"/>
              </a:rPr>
              <a:t>Short paper / report</a:t>
            </a:r>
          </a:p>
          <a:p>
            <a:pPr algn="l" marL="485775" indent="-242888" lvl="1">
              <a:lnSpc>
                <a:spcPts val="3375"/>
              </a:lnSpc>
              <a:buFont typeface="Arial"/>
              <a:buChar char="•"/>
            </a:pPr>
            <a:r>
              <a:rPr lang="en-US" sz="2250">
                <a:solidFill>
                  <a:srgbClr val="12100E"/>
                </a:solidFill>
                <a:latin typeface="Arimo"/>
                <a:ea typeface="Arimo"/>
                <a:cs typeface="Arimo"/>
                <a:sym typeface="Arimo"/>
              </a:rPr>
              <a:t>Live demo</a:t>
            </a:r>
          </a:p>
          <a:p>
            <a:pPr algn="l" marL="485775" indent="-242888" lvl="1">
              <a:lnSpc>
                <a:spcPts val="3375"/>
              </a:lnSpc>
              <a:buFont typeface="Arial"/>
              <a:buChar char="•"/>
            </a:pPr>
            <a:r>
              <a:rPr lang="en-US" sz="2250">
                <a:solidFill>
                  <a:srgbClr val="12100E"/>
                </a:solidFill>
                <a:latin typeface="Arimo"/>
                <a:ea typeface="Arimo"/>
                <a:cs typeface="Arimo"/>
                <a:sym typeface="Arimo"/>
              </a:rPr>
              <a:t>Git repository: code, minutes, meeting slides, decision log</a:t>
            </a:r>
          </a:p>
        </p:txBody>
      </p:sp>
      <p:sp>
        <p:nvSpPr>
          <p:cNvPr name="TextBox 15" id="15"/>
          <p:cNvSpPr txBox="true"/>
          <p:nvPr/>
        </p:nvSpPr>
        <p:spPr>
          <a:xfrm rot="0">
            <a:off x="939070" y="8324850"/>
            <a:ext cx="16383000" cy="400050"/>
          </a:xfrm>
          <a:prstGeom prst="rect">
            <a:avLst/>
          </a:prstGeom>
        </p:spPr>
        <p:txBody>
          <a:bodyPr anchor="t" rtlCol="false" tIns="0" lIns="0" bIns="0" rIns="0">
            <a:spAutoFit/>
          </a:bodyPr>
          <a:lstStyle/>
          <a:p>
            <a:pPr algn="l">
              <a:lnSpc>
                <a:spcPts val="3149"/>
              </a:lnSpc>
            </a:pPr>
            <a:r>
              <a:rPr lang="en-US" sz="2250" i="true">
                <a:solidFill>
                  <a:srgbClr val="C25E00"/>
                </a:solidFill>
                <a:latin typeface="Arimo Italics"/>
                <a:ea typeface="Arimo Italics"/>
                <a:cs typeface="Arimo Italics"/>
                <a:sym typeface="Arimo Italics"/>
              </a:rPr>
              <a:t>Stretch goal: pseudo-labelling on the unannotated IMES images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FFDF4"/>
        </a:solidFill>
      </p:bgPr>
    </p:bg>
    <p:spTree>
      <p:nvGrpSpPr>
        <p:cNvPr id="1" name=""/>
        <p:cNvGrpSpPr/>
        <p:nvPr/>
      </p:nvGrpSpPr>
      <p:grpSpPr>
        <a:xfrm>
          <a:off x="0" y="0"/>
          <a:ext cx="0" cy="0"/>
          <a:chOff x="0" y="0"/>
          <a:chExt cx="0" cy="0"/>
        </a:xfrm>
      </p:grpSpPr>
      <p:sp>
        <p:nvSpPr>
          <p:cNvPr name="Freeform 2" id="2" descr="imes.thws logo"/>
          <p:cNvSpPr/>
          <p:nvPr/>
        </p:nvSpPr>
        <p:spPr>
          <a:xfrm flipH="false" flipV="false" rot="0">
            <a:off x="553022" y="707993"/>
            <a:ext cx="5017770" cy="1298734"/>
          </a:xfrm>
          <a:custGeom>
            <a:avLst/>
            <a:gdLst/>
            <a:ahLst/>
            <a:cxnLst/>
            <a:rect r="r" b="b" t="t" l="l"/>
            <a:pathLst>
              <a:path h="1298734" w="5017770">
                <a:moveTo>
                  <a:pt x="0" y="0"/>
                </a:moveTo>
                <a:lnTo>
                  <a:pt x="5017770" y="0"/>
                </a:lnTo>
                <a:lnTo>
                  <a:pt x="5017770" y="1298734"/>
                </a:lnTo>
                <a:lnTo>
                  <a:pt x="0" y="1298734"/>
                </a:lnTo>
                <a:lnTo>
                  <a:pt x="0" y="0"/>
                </a:lnTo>
                <a:close/>
              </a:path>
            </a:pathLst>
          </a:custGeom>
          <a:blipFill>
            <a:blip r:embed="rId2"/>
            <a:stretch>
              <a:fillRect l="-14" t="0" r="-14" b="0"/>
            </a:stretch>
          </a:blipFill>
        </p:spPr>
      </p:sp>
      <p:sp>
        <p:nvSpPr>
          <p:cNvPr name="Freeform 3" id="3" descr="cairo.thws logo"/>
          <p:cNvSpPr/>
          <p:nvPr/>
        </p:nvSpPr>
        <p:spPr>
          <a:xfrm flipH="false" flipV="false" rot="0">
            <a:off x="13282708" y="835628"/>
            <a:ext cx="4646200" cy="1171099"/>
          </a:xfrm>
          <a:custGeom>
            <a:avLst/>
            <a:gdLst/>
            <a:ahLst/>
            <a:cxnLst/>
            <a:rect r="r" b="b" t="t" l="l"/>
            <a:pathLst>
              <a:path h="1171099" w="4646200">
                <a:moveTo>
                  <a:pt x="0" y="0"/>
                </a:moveTo>
                <a:lnTo>
                  <a:pt x="4646200" y="0"/>
                </a:lnTo>
                <a:lnTo>
                  <a:pt x="4646200" y="1171099"/>
                </a:lnTo>
                <a:lnTo>
                  <a:pt x="0" y="1171099"/>
                </a:lnTo>
                <a:lnTo>
                  <a:pt x="0" y="0"/>
                </a:lnTo>
                <a:close/>
              </a:path>
            </a:pathLst>
          </a:custGeom>
          <a:blipFill>
            <a:blip r:embed="rId3"/>
            <a:stretch>
              <a:fillRect l="0" t="-1041" r="0" b="-79121"/>
            </a:stretch>
          </a:blipFill>
        </p:spPr>
      </p:sp>
      <p:grpSp>
        <p:nvGrpSpPr>
          <p:cNvPr name="Group 4" id="4"/>
          <p:cNvGrpSpPr/>
          <p:nvPr/>
        </p:nvGrpSpPr>
        <p:grpSpPr>
          <a:xfrm rot="0">
            <a:off x="708660" y="9429750"/>
            <a:ext cx="639604" cy="114300"/>
            <a:chOff x="0" y="0"/>
            <a:chExt cx="852805" cy="152400"/>
          </a:xfrm>
        </p:grpSpPr>
        <p:sp>
          <p:nvSpPr>
            <p:cNvPr name="Freeform 5" id="5"/>
            <p:cNvSpPr/>
            <p:nvPr/>
          </p:nvSpPr>
          <p:spPr>
            <a:xfrm flipH="false" flipV="false" rot="0">
              <a:off x="0" y="0"/>
              <a:ext cx="852805" cy="152400"/>
            </a:xfrm>
            <a:custGeom>
              <a:avLst/>
              <a:gdLst/>
              <a:ahLst/>
              <a:cxnLst/>
              <a:rect r="r" b="b" t="t" l="l"/>
              <a:pathLst>
                <a:path h="152400" w="852805">
                  <a:moveTo>
                    <a:pt x="0" y="0"/>
                  </a:moveTo>
                  <a:lnTo>
                    <a:pt x="852805" y="0"/>
                  </a:lnTo>
                  <a:lnTo>
                    <a:pt x="852805" y="152400"/>
                  </a:lnTo>
                  <a:lnTo>
                    <a:pt x="0" y="152400"/>
                  </a:lnTo>
                  <a:close/>
                </a:path>
              </a:pathLst>
            </a:custGeom>
            <a:solidFill>
              <a:srgbClr val="FE8213"/>
            </a:solidFill>
          </p:spPr>
        </p:sp>
        <p:sp>
          <p:nvSpPr>
            <p:cNvPr name="TextBox 6" id="6"/>
            <p:cNvSpPr txBox="true"/>
            <p:nvPr/>
          </p:nvSpPr>
          <p:spPr>
            <a:xfrm>
              <a:off x="0" y="-38100"/>
              <a:ext cx="852805" cy="1905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53022" y="9704832"/>
            <a:ext cx="2476500" cy="325755"/>
          </a:xfrm>
          <a:prstGeom prst="rect">
            <a:avLst/>
          </a:prstGeom>
        </p:spPr>
        <p:txBody>
          <a:bodyPr anchor="t" rtlCol="false" tIns="0" lIns="0" bIns="0" rIns="0">
            <a:spAutoFit/>
          </a:bodyPr>
          <a:lstStyle/>
          <a:p>
            <a:pPr algn="l">
              <a:lnSpc>
                <a:spcPts val="2520"/>
              </a:lnSpc>
            </a:pPr>
            <a:r>
              <a:rPr lang="en-US" sz="1800" b="true">
                <a:solidFill>
                  <a:srgbClr val="12100E"/>
                </a:solidFill>
                <a:latin typeface="Arimo Bold"/>
                <a:ea typeface="Arimo Bold"/>
                <a:cs typeface="Arimo Bold"/>
                <a:sym typeface="Arimo Bold"/>
              </a:rPr>
              <a:t>CELL FOUNDRY</a:t>
            </a:r>
          </a:p>
        </p:txBody>
      </p:sp>
      <p:sp>
        <p:nvSpPr>
          <p:cNvPr name="TextBox 8" id="8"/>
          <p:cNvSpPr txBox="true"/>
          <p:nvPr/>
        </p:nvSpPr>
        <p:spPr>
          <a:xfrm rot="0">
            <a:off x="12894183" y="9551289"/>
            <a:ext cx="5143500" cy="365760"/>
          </a:xfrm>
          <a:prstGeom prst="rect">
            <a:avLst/>
          </a:prstGeom>
        </p:spPr>
        <p:txBody>
          <a:bodyPr anchor="t" rtlCol="false" tIns="0" lIns="0" bIns="0" rIns="0">
            <a:spAutoFit/>
          </a:bodyPr>
          <a:lstStyle/>
          <a:p>
            <a:pPr algn="l">
              <a:lnSpc>
                <a:spcPts val="2940"/>
              </a:lnSpc>
            </a:pPr>
            <a:r>
              <a:rPr lang="en-US" sz="2100">
                <a:solidFill>
                  <a:srgbClr val="12100E"/>
                </a:solidFill>
                <a:latin typeface="Arimo"/>
                <a:ea typeface="Arimo"/>
                <a:cs typeface="Arimo"/>
                <a:sym typeface="Arimo"/>
              </a:rPr>
              <a:t>Meeting Title: Project Plan</a:t>
            </a:r>
          </a:p>
        </p:txBody>
      </p:sp>
      <p:sp>
        <p:nvSpPr>
          <p:cNvPr name="TextBox 9" id="9"/>
          <p:cNvSpPr txBox="true"/>
          <p:nvPr/>
        </p:nvSpPr>
        <p:spPr>
          <a:xfrm rot="0">
            <a:off x="939070" y="2095500"/>
            <a:ext cx="11430000" cy="365760"/>
          </a:xfrm>
          <a:prstGeom prst="rect">
            <a:avLst/>
          </a:prstGeom>
        </p:spPr>
        <p:txBody>
          <a:bodyPr anchor="t" rtlCol="false" tIns="0" lIns="0" bIns="0" rIns="0">
            <a:spAutoFit/>
          </a:bodyPr>
          <a:lstStyle/>
          <a:p>
            <a:pPr algn="l">
              <a:lnSpc>
                <a:spcPts val="2940"/>
              </a:lnSpc>
            </a:pPr>
            <a:r>
              <a:rPr lang="en-US" sz="2100" b="true">
                <a:solidFill>
                  <a:srgbClr val="FE8213"/>
                </a:solidFill>
                <a:latin typeface="Arimo Bold"/>
                <a:ea typeface="Arimo Bold"/>
                <a:cs typeface="Arimo Bold"/>
                <a:sym typeface="Arimo Bold"/>
              </a:rPr>
              <a:t>6 · DELIVERABLES</a:t>
            </a:r>
          </a:p>
        </p:txBody>
      </p:sp>
      <p:sp>
        <p:nvSpPr>
          <p:cNvPr name="TextBox 10" id="10"/>
          <p:cNvSpPr txBox="true"/>
          <p:nvPr/>
        </p:nvSpPr>
        <p:spPr>
          <a:xfrm rot="0">
            <a:off x="939070" y="2390775"/>
            <a:ext cx="11906250" cy="948690"/>
          </a:xfrm>
          <a:prstGeom prst="rect">
            <a:avLst/>
          </a:prstGeom>
        </p:spPr>
        <p:txBody>
          <a:bodyPr anchor="t" rtlCol="false" tIns="0" lIns="0" bIns="0" rIns="0">
            <a:spAutoFit/>
          </a:bodyPr>
          <a:lstStyle/>
          <a:p>
            <a:pPr algn="l">
              <a:lnSpc>
                <a:spcPts val="7559"/>
              </a:lnSpc>
            </a:pPr>
            <a:r>
              <a:rPr lang="en-US" sz="5400" b="true">
                <a:solidFill>
                  <a:srgbClr val="12100E"/>
                </a:solidFill>
                <a:latin typeface="Arimo Bold"/>
                <a:ea typeface="Arimo Bold"/>
                <a:cs typeface="Arimo Bold"/>
                <a:sym typeface="Arimo Bold"/>
              </a:rPr>
              <a:t>Status (8 October 2026)</a:t>
            </a:r>
          </a:p>
        </p:txBody>
      </p:sp>
      <p:grpSp>
        <p:nvGrpSpPr>
          <p:cNvPr name="Group 11" id="11"/>
          <p:cNvGrpSpPr/>
          <p:nvPr/>
        </p:nvGrpSpPr>
        <p:grpSpPr>
          <a:xfrm rot="0">
            <a:off x="933450" y="3667125"/>
            <a:ext cx="5334000" cy="5819775"/>
            <a:chOff x="0" y="0"/>
            <a:chExt cx="7112000" cy="7759700"/>
          </a:xfrm>
        </p:grpSpPr>
        <p:sp>
          <p:nvSpPr>
            <p:cNvPr name="Freeform 12" id="12"/>
            <p:cNvSpPr/>
            <p:nvPr/>
          </p:nvSpPr>
          <p:spPr>
            <a:xfrm flipH="false" flipV="false" rot="0">
              <a:off x="0" y="0"/>
              <a:ext cx="7112000" cy="7759700"/>
            </a:xfrm>
            <a:custGeom>
              <a:avLst/>
              <a:gdLst/>
              <a:ahLst/>
              <a:cxnLst/>
              <a:rect r="r" b="b" t="t" l="l"/>
              <a:pathLst>
                <a:path h="7759700" w="7112000">
                  <a:moveTo>
                    <a:pt x="0" y="0"/>
                  </a:moveTo>
                  <a:lnTo>
                    <a:pt x="7112000" y="0"/>
                  </a:lnTo>
                  <a:lnTo>
                    <a:pt x="7112000" y="7759700"/>
                  </a:lnTo>
                  <a:lnTo>
                    <a:pt x="0" y="7759700"/>
                  </a:lnTo>
                  <a:close/>
                </a:path>
              </a:pathLst>
            </a:custGeom>
            <a:solidFill>
              <a:srgbClr val="E4F0E0"/>
            </a:solidFill>
          </p:spPr>
        </p:sp>
        <p:sp>
          <p:nvSpPr>
            <p:cNvPr name="TextBox 13" id="13"/>
            <p:cNvSpPr txBox="true"/>
            <p:nvPr/>
          </p:nvSpPr>
          <p:spPr>
            <a:xfrm>
              <a:off x="0" y="-38100"/>
              <a:ext cx="7112000" cy="7797800"/>
            </a:xfrm>
            <a:prstGeom prst="rect">
              <a:avLst/>
            </a:prstGeom>
          </p:spPr>
          <p:txBody>
            <a:bodyPr anchor="ctr" rtlCol="false" tIns="50800" lIns="50800" bIns="50800" rIns="50800"/>
            <a:lstStyle/>
            <a:p>
              <a:pPr algn="l">
                <a:lnSpc>
                  <a:spcPts val="1679"/>
                </a:lnSpc>
              </a:pPr>
            </a:p>
          </p:txBody>
        </p:sp>
      </p:grpSp>
      <p:grpSp>
        <p:nvGrpSpPr>
          <p:cNvPr name="Group 14" id="14"/>
          <p:cNvGrpSpPr/>
          <p:nvPr/>
        </p:nvGrpSpPr>
        <p:grpSpPr>
          <a:xfrm rot="0">
            <a:off x="6572250" y="3667125"/>
            <a:ext cx="5334000" cy="3124200"/>
            <a:chOff x="0" y="0"/>
            <a:chExt cx="7112000" cy="4165600"/>
          </a:xfrm>
        </p:grpSpPr>
        <p:sp>
          <p:nvSpPr>
            <p:cNvPr name="Freeform 15" id="15"/>
            <p:cNvSpPr/>
            <p:nvPr/>
          </p:nvSpPr>
          <p:spPr>
            <a:xfrm flipH="false" flipV="false" rot="0">
              <a:off x="0" y="0"/>
              <a:ext cx="7112000" cy="4165600"/>
            </a:xfrm>
            <a:custGeom>
              <a:avLst/>
              <a:gdLst/>
              <a:ahLst/>
              <a:cxnLst/>
              <a:rect r="r" b="b" t="t" l="l"/>
              <a:pathLst>
                <a:path h="4165600" w="7112000">
                  <a:moveTo>
                    <a:pt x="0" y="0"/>
                  </a:moveTo>
                  <a:lnTo>
                    <a:pt x="7112000" y="0"/>
                  </a:lnTo>
                  <a:lnTo>
                    <a:pt x="7112000" y="4165600"/>
                  </a:lnTo>
                  <a:lnTo>
                    <a:pt x="0" y="4165600"/>
                  </a:lnTo>
                  <a:close/>
                </a:path>
              </a:pathLst>
            </a:custGeom>
            <a:solidFill>
              <a:srgbClr val="FDEBD6"/>
            </a:solidFill>
          </p:spPr>
        </p:sp>
        <p:sp>
          <p:nvSpPr>
            <p:cNvPr name="TextBox 16" id="16"/>
            <p:cNvSpPr txBox="true"/>
            <p:nvPr/>
          </p:nvSpPr>
          <p:spPr>
            <a:xfrm>
              <a:off x="0" y="-38100"/>
              <a:ext cx="7112000" cy="42037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12211050" y="3667125"/>
            <a:ext cx="5334000" cy="3485910"/>
            <a:chOff x="0" y="0"/>
            <a:chExt cx="7112000" cy="4647881"/>
          </a:xfrm>
        </p:grpSpPr>
        <p:sp>
          <p:nvSpPr>
            <p:cNvPr name="Freeform 18" id="18"/>
            <p:cNvSpPr/>
            <p:nvPr/>
          </p:nvSpPr>
          <p:spPr>
            <a:xfrm flipH="false" flipV="false" rot="0">
              <a:off x="0" y="0"/>
              <a:ext cx="7112000" cy="4647881"/>
            </a:xfrm>
            <a:custGeom>
              <a:avLst/>
              <a:gdLst/>
              <a:ahLst/>
              <a:cxnLst/>
              <a:rect r="r" b="b" t="t" l="l"/>
              <a:pathLst>
                <a:path h="4647881" w="7112000">
                  <a:moveTo>
                    <a:pt x="0" y="0"/>
                  </a:moveTo>
                  <a:lnTo>
                    <a:pt x="7112000" y="0"/>
                  </a:lnTo>
                  <a:lnTo>
                    <a:pt x="7112000" y="4647881"/>
                  </a:lnTo>
                  <a:lnTo>
                    <a:pt x="0" y="4647881"/>
                  </a:lnTo>
                  <a:close/>
                </a:path>
              </a:pathLst>
            </a:custGeom>
            <a:solidFill>
              <a:srgbClr val="ECE8DE"/>
            </a:solidFill>
          </p:spPr>
        </p:sp>
        <p:sp>
          <p:nvSpPr>
            <p:cNvPr name="TextBox 19" id="19"/>
            <p:cNvSpPr txBox="true"/>
            <p:nvPr/>
          </p:nvSpPr>
          <p:spPr>
            <a:xfrm>
              <a:off x="0" y="-38100"/>
              <a:ext cx="7112000" cy="4685981"/>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1219200" y="3829050"/>
            <a:ext cx="4762500" cy="533400"/>
          </a:xfrm>
          <a:prstGeom prst="rect">
            <a:avLst/>
          </a:prstGeom>
        </p:spPr>
        <p:txBody>
          <a:bodyPr anchor="t" rtlCol="false" tIns="0" lIns="0" bIns="0" rIns="0">
            <a:spAutoFit/>
          </a:bodyPr>
          <a:lstStyle/>
          <a:p>
            <a:pPr algn="l">
              <a:lnSpc>
                <a:spcPts val="4200"/>
              </a:lnSpc>
            </a:pPr>
            <a:r>
              <a:rPr lang="en-US" sz="3000" b="true">
                <a:solidFill>
                  <a:srgbClr val="2E6B2A"/>
                </a:solidFill>
                <a:latin typeface="Arimo Bold"/>
                <a:ea typeface="Arimo Bold"/>
                <a:cs typeface="Arimo Bold"/>
                <a:sym typeface="Arimo Bold"/>
              </a:rPr>
              <a:t>✓ Done</a:t>
            </a:r>
          </a:p>
        </p:txBody>
      </p:sp>
      <p:sp>
        <p:nvSpPr>
          <p:cNvPr name="TextBox 21" id="21"/>
          <p:cNvSpPr txBox="true"/>
          <p:nvPr/>
        </p:nvSpPr>
        <p:spPr>
          <a:xfrm rot="0">
            <a:off x="6858000" y="3829050"/>
            <a:ext cx="4762500" cy="533400"/>
          </a:xfrm>
          <a:prstGeom prst="rect">
            <a:avLst/>
          </a:prstGeom>
        </p:spPr>
        <p:txBody>
          <a:bodyPr anchor="t" rtlCol="false" tIns="0" lIns="0" bIns="0" rIns="0">
            <a:spAutoFit/>
          </a:bodyPr>
          <a:lstStyle/>
          <a:p>
            <a:pPr algn="l">
              <a:lnSpc>
                <a:spcPts val="4200"/>
              </a:lnSpc>
            </a:pPr>
            <a:r>
              <a:rPr lang="en-US" sz="3000" b="true">
                <a:solidFill>
                  <a:srgbClr val="C25E00"/>
                </a:solidFill>
                <a:latin typeface="Arimo Bold"/>
                <a:ea typeface="Arimo Bold"/>
                <a:cs typeface="Arimo Bold"/>
                <a:sym typeface="Arimo Bold"/>
              </a:rPr>
              <a:t>◐ In progress</a:t>
            </a:r>
          </a:p>
        </p:txBody>
      </p:sp>
      <p:sp>
        <p:nvSpPr>
          <p:cNvPr name="TextBox 22" id="22"/>
          <p:cNvSpPr txBox="true"/>
          <p:nvPr/>
        </p:nvSpPr>
        <p:spPr>
          <a:xfrm rot="0">
            <a:off x="12496800" y="3829050"/>
            <a:ext cx="4762500" cy="533400"/>
          </a:xfrm>
          <a:prstGeom prst="rect">
            <a:avLst/>
          </a:prstGeom>
        </p:spPr>
        <p:txBody>
          <a:bodyPr anchor="t" rtlCol="false" tIns="0" lIns="0" bIns="0" rIns="0">
            <a:spAutoFit/>
          </a:bodyPr>
          <a:lstStyle/>
          <a:p>
            <a:pPr algn="l">
              <a:lnSpc>
                <a:spcPts val="4200"/>
              </a:lnSpc>
            </a:pPr>
            <a:r>
              <a:rPr lang="en-US" sz="3000" b="true">
                <a:solidFill>
                  <a:srgbClr val="5A5348"/>
                </a:solidFill>
                <a:latin typeface="Arimo Bold"/>
                <a:ea typeface="Arimo Bold"/>
                <a:cs typeface="Arimo Bold"/>
                <a:sym typeface="Arimo Bold"/>
              </a:rPr>
              <a:t>○ Planned</a:t>
            </a:r>
          </a:p>
        </p:txBody>
      </p:sp>
      <p:sp>
        <p:nvSpPr>
          <p:cNvPr name="TextBox 23" id="23"/>
          <p:cNvSpPr txBox="true"/>
          <p:nvPr/>
        </p:nvSpPr>
        <p:spPr>
          <a:xfrm rot="0">
            <a:off x="1219200" y="4505325"/>
            <a:ext cx="4392179" cy="4924425"/>
          </a:xfrm>
          <a:prstGeom prst="rect">
            <a:avLst/>
          </a:prstGeom>
        </p:spPr>
        <p:txBody>
          <a:bodyPr anchor="t" rtlCol="false" tIns="0" lIns="0" bIns="0" rIns="0">
            <a:spAutoFit/>
          </a:bodyPr>
          <a:lstStyle/>
          <a:p>
            <a:pPr algn="l" marL="418135" indent="-209068" lvl="1">
              <a:lnSpc>
                <a:spcPts val="2808"/>
              </a:lnSpc>
              <a:buFont typeface="Arial"/>
              <a:buChar char="•"/>
            </a:pPr>
            <a:r>
              <a:rPr lang="en-US" sz="1936">
                <a:solidFill>
                  <a:srgbClr val="12100E"/>
                </a:solidFill>
                <a:latin typeface="Arimo"/>
                <a:ea typeface="Arimo"/>
                <a:cs typeface="Arimo"/>
                <a:sym typeface="Arimo"/>
              </a:rPr>
              <a:t>Understood data and visualized the problems </a:t>
            </a:r>
          </a:p>
          <a:p>
            <a:pPr algn="l" marL="418135" indent="-209068" lvl="1">
              <a:lnSpc>
                <a:spcPts val="2808"/>
              </a:lnSpc>
              <a:buFont typeface="Arial"/>
              <a:buChar char="•"/>
            </a:pPr>
            <a:r>
              <a:rPr lang="en-US" sz="1936">
                <a:solidFill>
                  <a:srgbClr val="12100E"/>
                </a:solidFill>
                <a:latin typeface="Arimo"/>
                <a:ea typeface="Arimo"/>
                <a:cs typeface="Arimo"/>
                <a:sym typeface="Arimo"/>
              </a:rPr>
              <a:t>Updated project brief to the IMES’s requirement</a:t>
            </a:r>
          </a:p>
          <a:p>
            <a:pPr algn="l" marL="418135" indent="-209068" lvl="1">
              <a:lnSpc>
                <a:spcPts val="2808"/>
              </a:lnSpc>
              <a:buFont typeface="Arial"/>
              <a:buChar char="•"/>
            </a:pPr>
            <a:r>
              <a:rPr lang="en-US" sz="1936">
                <a:solidFill>
                  <a:srgbClr val="12100E"/>
                </a:solidFill>
                <a:latin typeface="Arimo"/>
                <a:ea typeface="Arimo"/>
                <a:cs typeface="Arimo"/>
                <a:sym typeface="Arimo"/>
              </a:rPr>
              <a:t>Milestones and communication channels set.</a:t>
            </a:r>
          </a:p>
          <a:p>
            <a:pPr algn="l" marL="418135" indent="-209068" lvl="1">
              <a:lnSpc>
                <a:spcPts val="2808"/>
              </a:lnSpc>
              <a:buFont typeface="Arial"/>
              <a:buChar char="•"/>
            </a:pPr>
            <a:r>
              <a:rPr lang="en-US" sz="1936">
                <a:solidFill>
                  <a:srgbClr val="12100E"/>
                </a:solidFill>
                <a:latin typeface="Arimo"/>
                <a:ea typeface="Arimo"/>
                <a:cs typeface="Arimo"/>
                <a:sym typeface="Arimo"/>
              </a:rPr>
              <a:t>cf-core environment (pinned versions, GPU-verified)</a:t>
            </a:r>
          </a:p>
          <a:p>
            <a:pPr algn="l" marL="418135" indent="-209068" lvl="1">
              <a:lnSpc>
                <a:spcPts val="2808"/>
              </a:lnSpc>
              <a:buFont typeface="Arial"/>
              <a:buChar char="•"/>
            </a:pPr>
            <a:r>
              <a:rPr lang="en-US" sz="1936">
                <a:solidFill>
                  <a:srgbClr val="12100E"/>
                </a:solidFill>
                <a:latin typeface="Arimo"/>
                <a:ea typeface="Arimo"/>
                <a:cs typeface="Arimo"/>
                <a:sym typeface="Arimo"/>
              </a:rPr>
              <a:t>Evaluation scripts: single image, batch, shared scoring</a:t>
            </a:r>
          </a:p>
          <a:p>
            <a:pPr algn="l" marL="418135" indent="-209068" lvl="1">
              <a:lnSpc>
                <a:spcPts val="2808"/>
              </a:lnSpc>
              <a:buFont typeface="Arial"/>
              <a:buChar char="•"/>
            </a:pPr>
            <a:r>
              <a:rPr lang="en-US" sz="1936">
                <a:solidFill>
                  <a:srgbClr val="12100E"/>
                </a:solidFill>
                <a:latin typeface="Arimo"/>
                <a:ea typeface="Arimo"/>
                <a:cs typeface="Arimo"/>
                <a:sym typeface="Arimo"/>
              </a:rPr>
              <a:t>Zero-shot benchmark: 4 Cellpose models on 28 porcine brightfield images</a:t>
            </a:r>
          </a:p>
          <a:p>
            <a:pPr algn="l" marL="418135" indent="-209068" lvl="1">
              <a:lnSpc>
                <a:spcPts val="2808"/>
              </a:lnSpc>
              <a:buFont typeface="Arial"/>
              <a:buChar char="•"/>
            </a:pPr>
            <a:r>
              <a:rPr lang="en-US" sz="1936">
                <a:solidFill>
                  <a:srgbClr val="12100E"/>
                </a:solidFill>
                <a:latin typeface="Arimo"/>
                <a:ea typeface="Arimo"/>
                <a:cs typeface="Arimo"/>
                <a:sym typeface="Arimo"/>
              </a:rPr>
              <a:t>Density-clustering test (dropped)</a:t>
            </a:r>
          </a:p>
        </p:txBody>
      </p:sp>
      <p:sp>
        <p:nvSpPr>
          <p:cNvPr name="TextBox 24" id="24"/>
          <p:cNvSpPr txBox="true"/>
          <p:nvPr/>
        </p:nvSpPr>
        <p:spPr>
          <a:xfrm rot="0">
            <a:off x="6838950" y="4514850"/>
            <a:ext cx="4762500" cy="1895475"/>
          </a:xfrm>
          <a:prstGeom prst="rect">
            <a:avLst/>
          </a:prstGeom>
        </p:spPr>
        <p:txBody>
          <a:bodyPr anchor="t" rtlCol="false" tIns="0" lIns="0" bIns="0" rIns="0">
            <a:spAutoFit/>
          </a:bodyPr>
          <a:lstStyle/>
          <a:p>
            <a:pPr algn="l" marL="453390" indent="-226695" lvl="1">
              <a:lnSpc>
                <a:spcPts val="3045"/>
              </a:lnSpc>
              <a:buFont typeface="Arial"/>
              <a:buChar char="•"/>
            </a:pPr>
            <a:r>
              <a:rPr lang="en-US" sz="2100">
                <a:solidFill>
                  <a:srgbClr val="12100E"/>
                </a:solidFill>
                <a:latin typeface="Arimo"/>
                <a:ea typeface="Arimo"/>
                <a:cs typeface="Arimo"/>
                <a:sym typeface="Arimo"/>
              </a:rPr>
              <a:t>Creating seperate and reproducible environments for the other models</a:t>
            </a:r>
          </a:p>
          <a:p>
            <a:pPr algn="l" marL="453390" indent="-226695" lvl="1">
              <a:lnSpc>
                <a:spcPts val="3045"/>
              </a:lnSpc>
              <a:buFont typeface="Arial"/>
              <a:buChar char="•"/>
            </a:pPr>
            <a:r>
              <a:rPr lang="en-US" sz="2100">
                <a:solidFill>
                  <a:srgbClr val="12100E"/>
                </a:solidFill>
                <a:latin typeface="Arimo"/>
                <a:ea typeface="Arimo"/>
                <a:cs typeface="Arimo"/>
                <a:sym typeface="Arimo"/>
              </a:rPr>
              <a:t>Refresh the environment file</a:t>
            </a:r>
          </a:p>
          <a:p>
            <a:pPr algn="l" marL="453390" indent="-226695" lvl="1">
              <a:lnSpc>
                <a:spcPts val="3045"/>
              </a:lnSpc>
              <a:buFont typeface="Arial"/>
              <a:buChar char="•"/>
            </a:pPr>
            <a:r>
              <a:rPr lang="en-US" sz="2100">
                <a:solidFill>
                  <a:srgbClr val="12100E"/>
                </a:solidFill>
                <a:latin typeface="Arimo"/>
                <a:ea typeface="Arimo"/>
                <a:cs typeface="Arimo"/>
                <a:sym typeface="Arimo"/>
              </a:rPr>
              <a:t>Open questions to IMES: metric, annotation rule, image labels</a:t>
            </a:r>
          </a:p>
        </p:txBody>
      </p:sp>
      <p:sp>
        <p:nvSpPr>
          <p:cNvPr name="TextBox 25" id="25"/>
          <p:cNvSpPr txBox="true"/>
          <p:nvPr/>
        </p:nvSpPr>
        <p:spPr>
          <a:xfrm rot="0">
            <a:off x="12496800" y="4514850"/>
            <a:ext cx="4762500" cy="2276475"/>
          </a:xfrm>
          <a:prstGeom prst="rect">
            <a:avLst/>
          </a:prstGeom>
        </p:spPr>
        <p:txBody>
          <a:bodyPr anchor="t" rtlCol="false" tIns="0" lIns="0" bIns="0" rIns="0">
            <a:spAutoFit/>
          </a:bodyPr>
          <a:lstStyle/>
          <a:p>
            <a:pPr algn="l" marL="453390" indent="-226695" lvl="1">
              <a:lnSpc>
                <a:spcPts val="3045"/>
              </a:lnSpc>
              <a:buFont typeface="Arial"/>
              <a:buChar char="•"/>
            </a:pPr>
            <a:r>
              <a:rPr lang="en-US" sz="2100">
                <a:solidFill>
                  <a:srgbClr val="12100E"/>
                </a:solidFill>
                <a:latin typeface="Arimo"/>
                <a:ea typeface="Arimo"/>
                <a:cs typeface="Arimo"/>
                <a:sym typeface="Arimo"/>
              </a:rPr>
              <a:t>Other 3 image groups</a:t>
            </a:r>
          </a:p>
          <a:p>
            <a:pPr algn="l" marL="453390" indent="-226695" lvl="1">
              <a:lnSpc>
                <a:spcPts val="3045"/>
              </a:lnSpc>
              <a:buFont typeface="Arial"/>
              <a:buChar char="•"/>
            </a:pPr>
            <a:r>
              <a:rPr lang="en-US" sz="2100">
                <a:solidFill>
                  <a:srgbClr val="12100E"/>
                </a:solidFill>
                <a:latin typeface="Arimo"/>
                <a:ea typeface="Arimo"/>
                <a:cs typeface="Arimo"/>
                <a:sym typeface="Arimo"/>
              </a:rPr>
              <a:t>micro-SAM, DINOCell, CellSAM, SAM3 / Medical SAM3</a:t>
            </a:r>
          </a:p>
          <a:p>
            <a:pPr algn="l" marL="453390" indent="-226695" lvl="1">
              <a:lnSpc>
                <a:spcPts val="3045"/>
              </a:lnSpc>
              <a:buFont typeface="Arial"/>
              <a:buChar char="•"/>
            </a:pPr>
            <a:r>
              <a:rPr lang="en-US" sz="2100">
                <a:solidFill>
                  <a:srgbClr val="12100E"/>
                </a:solidFill>
                <a:latin typeface="Arimo"/>
                <a:ea typeface="Arimo"/>
                <a:cs typeface="Arimo"/>
                <a:sym typeface="Arimo"/>
              </a:rPr>
              <a:t>Leakage-free splits + fine-tuning</a:t>
            </a:r>
          </a:p>
          <a:p>
            <a:pPr algn="l" marL="453390" indent="-226695" lvl="1">
              <a:lnSpc>
                <a:spcPts val="3045"/>
              </a:lnSpc>
              <a:buFont typeface="Arial"/>
              <a:buChar char="•"/>
            </a:pPr>
            <a:r>
              <a:rPr lang="en-US" sz="2100">
                <a:solidFill>
                  <a:srgbClr val="12100E"/>
                </a:solidFill>
                <a:latin typeface="Arimo"/>
                <a:ea typeface="Arimo"/>
                <a:cs typeface="Arimo"/>
                <a:sym typeface="Arimo"/>
              </a:rPr>
              <a:t>Human cells</a:t>
            </a:r>
          </a:p>
          <a:p>
            <a:pPr algn="l" marL="453390" indent="-226695" lvl="1">
              <a:lnSpc>
                <a:spcPts val="3045"/>
              </a:lnSpc>
              <a:buFont typeface="Arial"/>
              <a:buChar char="•"/>
            </a:pPr>
            <a:r>
              <a:rPr lang="en-US" sz="2100">
                <a:solidFill>
                  <a:srgbClr val="12100E"/>
                </a:solidFill>
                <a:latin typeface="Arimo"/>
                <a:ea typeface="Arimo"/>
                <a:cs typeface="Arimo"/>
                <a:sym typeface="Arimo"/>
              </a:rPr>
              <a:t>Poster, paper, live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DAHXIP2CYgk</dc:identifier>
  <dcterms:modified xsi:type="dcterms:W3CDTF">2011-08-01T06:04:30Z</dcterms:modified>
  <cp:revision>1</cp:revision>
  <dc:title>Biweekly Meet - 1</dc:title>
</cp:coreProperties>
</file>