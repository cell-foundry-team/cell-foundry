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Open Sauce Heavy" charset="1" panose="00000A00000000000000"/>
      <p:regular r:id="rId30"/>
    </p:embeddedFont>
    <p:embeddedFont>
      <p:font typeface="Noto Serif" charset="1" panose="02020600060500020200"/>
      <p:regular r:id="rId31"/>
    </p:embeddedFont>
    <p:embeddedFont>
      <p:font typeface="Open Sauce Bold" charset="1" panose="00000800000000000000"/>
      <p:regular r:id="rId32"/>
    </p:embeddedFont>
    <p:embeddedFont>
      <p:font typeface="Canva Sans" charset="1" panose="020B0503030501040103"/>
      <p:regular r:id="rId33"/>
    </p:embeddedFont>
    <p:embeddedFont>
      <p:font typeface="Canva Sans Bold" charset="1" panose="020B0803030501040103"/>
      <p:regular r:id="rId34"/>
    </p:embeddedFont>
    <p:embeddedFont>
      <p:font typeface="Arimo Bold" charset="1" panose="020B0704020202020204"/>
      <p:regular r:id="rId38"/>
    </p:embeddedFont>
    <p:embeddedFont>
      <p:font typeface="Arimo" charset="1" panose="020B0604020202020204"/>
      <p:regular r:id="rId39"/>
    </p:embeddedFont>
    <p:embeddedFont>
      <p:font typeface="Open Sauce" charset="1" panose="00000500000000000000"/>
      <p:regular r:id="rId43"/>
    </p:embeddedFont>
    <p:embeddedFont>
      <p:font typeface="Arimo Italics" charset="1" panose="020B0604020202090204"/>
      <p:regular r:id="rId5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notesMasters/notesMaster1.xml" Type="http://schemas.openxmlformats.org/officeDocument/2006/relationships/notesMaster"/><Relationship Id="rId36" Target="theme/theme2.xml" Type="http://schemas.openxmlformats.org/officeDocument/2006/relationships/theme"/><Relationship Id="rId37" Target="notesSlides/notesSlide1.xml" Type="http://schemas.openxmlformats.org/officeDocument/2006/relationships/notesSlide"/><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notesSlides/notesSlide2.xml" Type="http://schemas.openxmlformats.org/officeDocument/2006/relationships/notesSlide"/><Relationship Id="rId41" Target="notesSlides/notesSlide3.xml" Type="http://schemas.openxmlformats.org/officeDocument/2006/relationships/notesSlide"/><Relationship Id="rId42" Target="notesSlides/notesSlide4.xml" Type="http://schemas.openxmlformats.org/officeDocument/2006/relationships/notesSlide"/><Relationship Id="rId43" Target="fonts/font43.fntdata" Type="http://schemas.openxmlformats.org/officeDocument/2006/relationships/font"/><Relationship Id="rId44" Target="notesSlides/notesSlide5.xml" Type="http://schemas.openxmlformats.org/officeDocument/2006/relationships/notesSlide"/><Relationship Id="rId45" Target="notesSlides/notesSlide6.xml" Type="http://schemas.openxmlformats.org/officeDocument/2006/relationships/notesSlide"/><Relationship Id="rId46" Target="notesSlides/notesSlide7.xml" Type="http://schemas.openxmlformats.org/officeDocument/2006/relationships/notesSlide"/><Relationship Id="rId47" Target="notesSlides/notesSlide8.xml" Type="http://schemas.openxmlformats.org/officeDocument/2006/relationships/notesSlide"/><Relationship Id="rId48" Target="notesSlides/notesSlide9.xml" Type="http://schemas.openxmlformats.org/officeDocument/2006/relationships/notesSlide"/><Relationship Id="rId49" Target="notesSlides/notesSlide10.xml" Type="http://schemas.openxmlformats.org/officeDocument/2006/relationships/notesSlide"/><Relationship Id="rId5" Target="tableStyles.xml" Type="http://schemas.openxmlformats.org/officeDocument/2006/relationships/tableStyles"/><Relationship Id="rId50" Target="notesSlides/notesSlide11.xml" Type="http://schemas.openxmlformats.org/officeDocument/2006/relationships/notesSlide"/><Relationship Id="rId51" Target="notesSlides/notesSlide12.xml" Type="http://schemas.openxmlformats.org/officeDocument/2006/relationships/notesSlide"/><Relationship Id="rId52" Target="fonts/font52.fntdata" Type="http://schemas.openxmlformats.org/officeDocument/2006/relationships/font"/><Relationship Id="rId53" Target="notesSlides/notesSlide13.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After the last meeting we wrote to Nicole and Jan with our open questions.</a:t>
            </a:r>
          </a:p>
          <a:p>
            <a:r>
              <a:rPr lang="en-US"/>
              <a:t/>
            </a:r>
          </a:p>
          <a:p>
            <a:r>
              <a:rPr lang="en-US"/>
              <a:t>The most important question: which number do the users actually need? Only the proportion of fat in the image, or also the number, size and shape of each cell? This decides our method: for the fat proportion alone we could measure the fat area directly; for count, size or shape we must separate every single cell.</a:t>
            </a:r>
          </a:p>
          <a:p>
            <a:r>
              <a:rPr lang="en-US"/>
              <a:t/>
            </a:r>
          </a:p>
          <a:p>
            <a:r>
              <a:rPr lang="en-US"/>
              <a:t>We also asked for their app and the exact DINOCell version, which images were used for training and testing (so our comparison is fair), the complete code package, what the file names mean, the microscope type, and whether more annotated images are possible.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After the last meeting we wrote to Nicole and Jan with our open questions.</a:t>
            </a:r>
          </a:p>
          <a:p>
            <a:r>
              <a:rPr lang="en-US"/>
              <a:t/>
            </a:r>
          </a:p>
          <a:p>
            <a:r>
              <a:rPr lang="en-US"/>
              <a:t>The most important question: which number do the users actually need? Only the proportion of fat in the image, or also the number, size and shape of each cell? This decides our method: for the fat proportion alone we could measure the fat area directly; for count, size or shape we must separate every single cell.</a:t>
            </a:r>
          </a:p>
          <a:p>
            <a:r>
              <a:rPr lang="en-US"/>
              <a:t/>
            </a:r>
          </a:p>
          <a:p>
            <a:r>
              <a:rPr lang="en-US"/>
              <a:t>We also asked for their app and the exact DINOCell version, which images were used for training and testing (so our comparison is fair), the complete code package, what the file names mean, the microscope type, and whether more annotated images are possible.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Nicole answered on 15 October.</a:t>
            </a:r>
          </a:p>
          <a:p>
            <a:r>
              <a:rPr lang="en-US"/>
              <a:t/>
            </a:r>
          </a:p>
          <a:p>
            <a:r>
              <a:rPr lang="en-US"/>
              <a:t>The key point: for the users, the most important number is the area covered by fat cells. The number of cells is also useful, but secondary. Today they get the area by segmenting every single cell. She is open to a different method if it works better.</a:t>
            </a:r>
          </a:p>
          <a:p>
            <a:r>
              <a:rPr lang="en-US"/>
              <a:t/>
            </a:r>
          </a:p>
          <a:p>
            <a:r>
              <a:rPr lang="en-US"/>
              <a:t>The app cannot be shared at the moment, because it is part of a larger platform in an EU project. Instead, her Colab notebook contains the complete pipeline: preprocessing, metrics and loading the DINOCell weights.</a:t>
            </a:r>
          </a:p>
          <a:p>
            <a:r>
              <a:rPr lang="en-US"/>
              <a:t/>
            </a:r>
          </a:p>
          <a:p>
            <a:r>
              <a:rPr lang="en-US"/>
              <a:t>Their baseline is DINOCell (not the DINO model inside Cellpose), fine-tuned by IMES. They are not satisfied with the results, and CellposeDINO would be interesting for them, which fits our zero-shot results.</a:t>
            </a:r>
          </a:p>
          <a:p>
            <a:r>
              <a:rPr lang="en-US"/>
              <a:t/>
            </a:r>
          </a:p>
          <a:p>
            <a:r>
              <a:rPr lang="en-US"/>
              <a:t>They trained on all images in the training folder and have no separate test images. They judged new images by eye. All images are brightfield. More annotations are not promised, and Nicole does not want to annotate herself, because the biologists annotated the existing ones.</a:t>
            </a:r>
          </a:p>
          <a:p>
            <a:r>
              <a:rPr lang="en-US"/>
              <a:t/>
            </a:r>
          </a:p>
          <a:p>
            <a:r>
              <a:rPr lang="en-US"/>
              <a:t>Consequence for us: fat-cell area becomes our primary metric, and we need our own held-out test images for a fair comparison.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Nicole answered on 15 October.</a:t>
            </a:r>
          </a:p>
          <a:p>
            <a:r>
              <a:rPr lang="en-US"/>
              <a:t/>
            </a:r>
          </a:p>
          <a:p>
            <a:r>
              <a:rPr lang="en-US"/>
              <a:t>The key point: for the users, the most important number is the area covered by fat cells. The number of cells is also useful, but secondary. Today they get the area by segmenting every single cell. She is open to a different method if it works better.</a:t>
            </a:r>
          </a:p>
          <a:p>
            <a:r>
              <a:rPr lang="en-US"/>
              <a:t/>
            </a:r>
          </a:p>
          <a:p>
            <a:r>
              <a:rPr lang="en-US"/>
              <a:t>The app cannot be shared at the moment, because it is part of a larger platform in an EU project. Instead, her Colab notebook contains the complete pipeline: preprocessing, metrics and loading the DINOCell weights.</a:t>
            </a:r>
          </a:p>
          <a:p>
            <a:r>
              <a:rPr lang="en-US"/>
              <a:t/>
            </a:r>
          </a:p>
          <a:p>
            <a:r>
              <a:rPr lang="en-US"/>
              <a:t>Their baseline is DINOCell (not the DINO model inside Cellpose), fine-tuned by IMES. They are not satisfied with the results, and CellposeDINO would be interesting for them, which fits our zero-shot results.</a:t>
            </a:r>
          </a:p>
          <a:p>
            <a:r>
              <a:rPr lang="en-US"/>
              <a:t/>
            </a:r>
          </a:p>
          <a:p>
            <a:r>
              <a:rPr lang="en-US"/>
              <a:t>They trained on all images in the training folder and have no separate test images. They judged new images by eye. All images are brightfield. More annotations are not promised, and Nicole does not want to annotate herself, because the biologists annotated the existing ones.</a:t>
            </a:r>
          </a:p>
          <a:p>
            <a:r>
              <a:rPr lang="en-US"/>
              <a:t/>
            </a:r>
          </a:p>
          <a:p>
            <a:r>
              <a:rPr lang="en-US"/>
              <a:t>Consequence for us: fat-cell area becomes our primary metric, and we need our own held-out test images for a fair comparison.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After the last meeting we wrote to Nicole and Jan with our open questions.</a:t>
            </a:r>
          </a:p>
          <a:p>
            <a:r>
              <a:rPr lang="en-US"/>
              <a:t/>
            </a:r>
          </a:p>
          <a:p>
            <a:r>
              <a:rPr lang="en-US"/>
              <a:t>The most important question: which number do the users actually need? Only the proportion of fat in the image, or also the number, size and shape of each cell? This decides our method: for the fat proportion alone we could measure the fat area directly; for count, size or shape we must separate every single cell.</a:t>
            </a:r>
          </a:p>
          <a:p>
            <a:r>
              <a:rPr lang="en-US"/>
              <a:t/>
            </a:r>
          </a:p>
          <a:p>
            <a:r>
              <a:rPr lang="en-US"/>
              <a:t>We also asked for their app and the exact DINOCell version, which images were used for training and testing (so our comparison is fair), the complete code package, what the file names mean, the microscope type, and whether more annotated images are possible.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Nicole answered on 15 October.</a:t>
            </a:r>
          </a:p>
          <a:p>
            <a:r>
              <a:rPr lang="en-US"/>
              <a:t/>
            </a:r>
          </a:p>
          <a:p>
            <a:r>
              <a:rPr lang="en-US"/>
              <a:t>The key point: for the users, the most important number is the area covered by fat cells. The number of cells is also useful, but secondary. Today they get the area by segmenting every single cell. She is open to a different method if it works better.</a:t>
            </a:r>
          </a:p>
          <a:p>
            <a:r>
              <a:rPr lang="en-US"/>
              <a:t/>
            </a:r>
          </a:p>
          <a:p>
            <a:r>
              <a:rPr lang="en-US"/>
              <a:t>The app cannot be shared at the moment, because it is part of a larger platform in an EU project. Instead, her Colab notebook contains the complete pipeline: preprocessing, metrics and loading the DINOCell weights.</a:t>
            </a:r>
          </a:p>
          <a:p>
            <a:r>
              <a:rPr lang="en-US"/>
              <a:t/>
            </a:r>
          </a:p>
          <a:p>
            <a:r>
              <a:rPr lang="en-US"/>
              <a:t>Their baseline is DINOCell (not the DINO model inside Cellpose), fine-tuned by IMES. They are not satisfied with the results, and CellposeDINO would be interesting for them, which fits our zero-shot results.</a:t>
            </a:r>
          </a:p>
          <a:p>
            <a:r>
              <a:rPr lang="en-US"/>
              <a:t/>
            </a:r>
          </a:p>
          <a:p>
            <a:r>
              <a:rPr lang="en-US"/>
              <a:t>They trained on all images in the training folder and have no separate test images. They judged new images by eye. All images are brightfield. More annotations are not promised, and Nicole does not want to annotate herself, because the biologists annotated the existing ones.</a:t>
            </a:r>
          </a:p>
          <a:p>
            <a:r>
              <a:rPr lang="en-US"/>
              <a:t/>
            </a:r>
          </a:p>
          <a:p>
            <a:r>
              <a:rPr lang="en-US"/>
              <a:t>Consequence for us: fat-cell area becomes our primary metric, and we need our own held-out test images for a fair comparison.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studied Nicole's notebook line by line and summarised it in eight steps.</a:t>
            </a:r>
          </a:p>
          <a:p>
            <a:r>
              <a:rPr lang="en-US"/>
              <a:t/>
            </a:r>
          </a:p>
          <a:p>
            <a:r>
              <a:rPr lang="en-US"/>
              <a:t>Prepare: the notebook loads the 28 annotated porcine images and keeps 6 aside to check progress. It evens out the contrast with CLAHE. The key trick, which comes from Cellpose: each mask is turned into arrows that point from every pixel to the centre of its cell. Where two cells touch, the arrows point in opposite directions, so the model can split them. Training starts from DINOCell, which was already trained on thousands of cell images. Most of it is frozen; only small add-ons called LoRA, about 3 % of the model, are trained, so 22 images cannot overwrite what it already knows.</a:t>
            </a:r>
          </a:p>
          <a:p>
            <a:r>
              <a:rPr lang="en-US"/>
              <a:t/>
            </a:r>
          </a:p>
          <a:p>
            <a:r>
              <a:rPr lang="en-US"/>
              <a:t>Train: 1000 rounds. Each round cuts one 512 by 512 piece around some cells, the model predicts the arrows and a fat-or-not map, and it is corrected a little. Every 50 rounds it is scored on the 6 check images, and the best version is kept.</a:t>
            </a:r>
          </a:p>
          <a:p>
            <a:r>
              <a:rPr lang="en-US"/>
              <a:t/>
            </a:r>
          </a:p>
          <a:p>
            <a:r>
              <a:rPr lang="en-US"/>
              <a:t>Finish: the add-ons are merged into the model and saved as one file, which is what the IMES app uses. At the end the notebook shows a few example predictions.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First the good news: the notebook is well engineered. We found about 30 good practices; here are the main ones in three groups.</a:t>
            </a:r>
          </a:p>
          <a:p>
            <a:r>
              <a:rPr lang="en-US"/>
              <a:t/>
            </a:r>
          </a:p>
          <a:p>
            <a:r>
              <a:rPr lang="en-US"/>
              <a:t>Reproducible: important packages are pinned to exact versions; all settings are in one place and saved with every run; random seeds are fixed; and every run gets its own folder, so old results are never overwritten.</a:t>
            </a:r>
          </a:p>
          <a:p>
            <a:r>
              <a:rPr lang="en-US"/>
              <a:t/>
            </a:r>
          </a:p>
          <a:p>
            <a:r>
              <a:rPr lang="en-US"/>
              <a:t>Correct data handling: the train/check split is done on whole images before cutting pieces, so no part of a check image is ever seen in training. When an image is mirrored, the arrows are mirrored too, which is a classic bug that they avoid. Contrast is computed on the full image, and the images are normalised exactly like the pretrained model expects.</a:t>
            </a:r>
          </a:p>
          <a:p>
            <a:r>
              <a:rPr lang="en-US"/>
              <a:t/>
            </a:r>
          </a:p>
          <a:p>
            <a:r>
              <a:rPr lang="en-US"/>
              <a:t>Sensible training: LoRA only allows small changes, which is the right choice for 22 images. Weights are loaded safely and strictly, so a wrong setting fails loudly. Training can resume after Colab disconnects, and at the end the add-ons are merged into one plain model file for the app.</a:t>
            </a:r>
          </a:p>
          <a:p>
            <a:r>
              <a:rPr lang="en-US"/>
              <a:t/>
            </a:r>
          </a:p>
          <a:p>
            <a:r>
              <a:rPr lang="en-US"/>
              <a:t>We will copy all of these practices into our own pipeline.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Two technical points we would look into. Both are proposals; IMES's baseline stays exactly as they built it, and each change becomes its own labelled test.</a:t>
            </a:r>
          </a:p>
          <a:p>
            <a:r>
              <a:rPr lang="en-US"/>
              <a:t/>
            </a:r>
          </a:p>
          <a:p>
            <a:r>
              <a:rPr lang="en-US"/>
              <a:t>Point 1, big fat cells get cut short. The model does not draw cells directly. It predicts, for every pixel, an arrow to the centre of its cell. A last step then lets every pixel walk along the arrows; pixels that meet at the same centre become one cell. With IMES's settings each step is only 0.2 pixels and there are 200 steps, so a pixel can travel at most about 40 pixels. Pixels further from the centre never arrive and are dropped, so big cells come out too small. That matters because fat area is the main readout. We measured the real cells: 8.9 % of the cells reach further than 40 pixels, but they hold 20.7 % of the fat area. The fix is one number: multiply the arrows by 5 (Cellpose's own convention), which gives a reach of 200 pixels, with no retraining. In a synthetic test with perfect arrows, a cell of radius 60 px kept only 59 % overlap with IMES's setting and 100 % with the fix.</a:t>
            </a:r>
          </a:p>
          <a:p>
            <a:r>
              <a:rPr lang="en-US"/>
              <a:t/>
            </a:r>
          </a:p>
          <a:p>
            <a:r>
              <a:rPr lang="en-US"/>
              <a:t>Point 2, colour channels. The original DINOCell turns the image grey first and then improves the contrast. Nicole's notebook improves the contrast on red, green and blue separately. If the images were grey, both would give the same result, but we checked: all 28 images contain colour. So the inputs differ from what DINOCell was trained on. We keep IMES's version for the baseline and test the grey-first version as a separate experiment.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biggest gap in the notebook is not in training but in how the model is checked.</a:t>
            </a:r>
          </a:p>
          <a:p>
            <a:r>
              <a:rPr lang="en-US"/>
              <a:t/>
            </a:r>
          </a:p>
          <a:p>
            <a:r>
              <a:rPr lang="en-US"/>
              <a:t>Point 1, patches. Every 50 rounds the notebook scores the model on 12 small 512 by 512 pieces, two from each of the 6 check images. Together that is only about a quarter of each image, and the pieces are centred on cells. Empty background is hardly ever checked, so false detections in empty areas are under-counted. That is fine for watching training, but not for reporting. Our proposal: report only whole-image results, with the same scoring code for every model.</a:t>
            </a:r>
          </a:p>
          <a:p>
            <a:r>
              <a:rPr lang="en-US"/>
              <a:t/>
            </a:r>
          </a:p>
          <a:p>
            <a:r>
              <a:rPr lang="en-US"/>
              <a:t>Point 2, no test images. The best checkpoint is chosen on the same 6 images whose score is then reported. If you pick the best of 20 noisy scores, you systematically pick a lucky one, so the reported number is optimistic. In addition, the model in the IMES app was trained on all 28 images, so testing it on any of them measures memory, not real performance.</a:t>
            </a:r>
          </a:p>
          <a:p>
            <a:r>
              <a:rPr lang="en-US"/>
              <a:t/>
            </a:r>
          </a:p>
          <a:p>
            <a:r>
              <a:rPr lang="en-US"/>
              <a:t>Our proposal: a fixed, stratified split, for example 18 training, 4 check and 6 test images, with at least one control and one difficult image in the test set. The test images are used once, at the end, for all models. The alternative is k-fold cross-validation, which uses every image for testing once but costs more training runs. Question for the mentor: which do you prefer?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Nicole told us that the area covered by fat cells is the most important number for the users. Until now our scoring only measured how well single cells are found. So we added the fat area to the evaluation.</a:t>
            </a:r>
          </a:p>
          <a:p>
            <a:r>
              <a:rPr lang="en-US"/>
              <a:t/>
            </a:r>
          </a:p>
          <a:p>
            <a:r>
              <a:rPr lang="en-US"/>
              <a:t>Fat percent is simply the share of the image covered by fat cells, for the true mask and for the prediction. The fat percent error is predicted minus true, in percentage points: plus means the model sees too much fat, minus too little. Foreground Dice measures how well the predicted and true fat areas overlap; 1 is perfect. We kept everything we had before: the cell count error and F1 at several overlap levels, now including 0.7, which the mentor minutes mention.</a:t>
            </a:r>
          </a:p>
          <a:p>
            <a:r>
              <a:rPr lang="en-US"/>
              <a:t/>
            </a:r>
          </a:p>
          <a:p>
            <a:r>
              <a:rPr lang="en-US"/>
              <a:t>We also built one set of scoring scripts that every model goes through: score_masks_v2 holds the single metric definition, run_batch_v2 runs the models on a whole folder and scores them. The maths is checked by an automatic test with hand-calculated answers, and a fresh run reproduces our earlier numbers from 18 October exactly. This is the baseline pipeline for the models the team chooses after reading the papers: same images, same code, same numbers. The pull request is open on GitHub and waiting for review.</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These are our four zero-shot Cellpose models, re-scored with the new metrics. Same masks as last time; only the scoring is new, and the old numbers are reproduced exactly.</a:t>
            </a:r>
          </a:p>
          <a:p>
            <a:r>
              <a:rPr lang="en-US"/>
              <a:t/>
            </a:r>
          </a:p>
          <a:p>
            <a:r>
              <a:rPr lang="en-US"/>
              <a:t>On average about 20 % of each differentiated image is fat.</a:t>
            </a:r>
          </a:p>
          <a:p>
            <a:r>
              <a:rPr lang="en-US"/>
              <a:t/>
            </a:r>
          </a:p>
          <a:p>
            <a:r>
              <a:rPr lang="en-US"/>
              <a:t>Fat percent error is the bias: cpsam_v2 sees 6.6 points too little fat, which is roughly a third of the fat. cpdino-vitb is almost perfect on average, minus 0.1 points.</a:t>
            </a:r>
          </a:p>
          <a:p>
            <a:r>
              <a:rPr lang="en-US"/>
              <a:t/>
            </a:r>
          </a:p>
          <a:p>
            <a:r>
              <a:rPr lang="en-US"/>
              <a:t>But the typical miss tells a different story: cpdino-vitb still misses by 4.5 points per image, because over- and under-estimates cancel in the average. cpdino has the smallest typical miss, 3.7 points, and the best overlap of fat area, Dice 0.76. So: cpdino is best on fat area, IMES's main readout, while cpdino-vitb is best at finding single cells (F1 0.65) and at the cell count (only 9 % too few). Which model is 'best' depends on the metric, which is why agreeing on the metric first matters. With 25 images the difference between cpdino and cpdino-vitb is small and not yet tested statistically.</a:t>
            </a:r>
          </a:p>
          <a:p>
            <a:r>
              <a:rPr lang="en-US"/>
              <a:t/>
            </a:r>
          </a:p>
          <a:p>
            <a:r>
              <a:rPr lang="en-US"/>
              <a:t>Six images, Positiv 21 to 26, break three of the four models: they predict up to 3,300 objects where about 400 cells are annotated; probably they outline single lipid droplets instead of whole cells. These images must be spread over train, check and test in our split.</a:t>
            </a:r>
          </a:p>
          <a:p>
            <a:r>
              <a:rPr lang="en-US"/>
              <a:t/>
            </a:r>
          </a:p>
          <a:p>
            <a:r>
              <a:rPr lang="en-US"/>
              <a:t>Next: run base DINOCell and the IMES fine-tuned baseline through exactly the same scoring.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As we discussed last time, we stopped writing a PDF report for every run and switched to Weights &amp; Biases.</a:t>
            </a:r>
          </a:p>
          <a:p>
            <a:r>
              <a:rPr lang="en-US"/>
              <a:t/>
            </a:r>
          </a:p>
          <a:p>
            <a:r>
              <a:rPr lang="en-US"/>
              <a:t>Before: after each run someone had to put the numbers into a PDF by hand. Comparing two runs meant opening two PDFs, and it was easy to lose which settings and which code version produced a number.</a:t>
            </a:r>
          </a:p>
          <a:p>
            <a:r>
              <a:rPr lang="en-US"/>
              <a:t/>
            </a:r>
          </a:p>
          <a:p>
            <a:r>
              <a:rPr lang="en-US"/>
              <a:t>Now: the scoring script logs each model as one W&amp;B run, automatically. The run summary is the average over all images (and separately for differentiated and control images), plus a per-image table. With every run W&amp;B stores the settings, the package versions and the git commit of our code, so every number can be traced back.</a:t>
            </a:r>
          </a:p>
          <a:p>
            <a:r>
              <a:rPr lang="en-US"/>
              <a:t/>
            </a:r>
          </a:p>
          <a:p>
            <a:r>
              <a:rPr lang="en-US"/>
              <a:t>Data safety: only numbers and tables leave the laptop. Images and masks stay local or on THWS storage.</a:t>
            </a:r>
          </a:p>
          <a:p>
            <a:r>
              <a:rPr lang="en-US"/>
              <a:t/>
            </a:r>
          </a:p>
          <a:p>
            <a:r>
              <a:rPr lang="en-US"/>
              <a:t>Right now we use a test project, cellfoundry-test, to check that everything works. When the scoring PR is merged into main, we re-run from the repository into a new, clean project, and those are the numbers we will report.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3.png" Type="http://schemas.openxmlformats.org/officeDocument/2006/relationships/image"/><Relationship Id="rId4" Target="../media/image2.png" Type="http://schemas.openxmlformats.org/officeDocument/2006/relationships/image"/><Relationship Id="rId5"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png" Type="http://schemas.openxmlformats.org/officeDocument/2006/relationships/image"/><Relationship Id="rId4" Target="../media/image2.png" Type="http://schemas.openxmlformats.org/officeDocument/2006/relationships/image"/><Relationship Id="rId5"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3.png" Type="http://schemas.openxmlformats.org/officeDocument/2006/relationships/image"/><Relationship Id="rId4" Target="../media/image2.png" Type="http://schemas.openxmlformats.org/officeDocument/2006/relationships/image"/><Relationship Id="rId5"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3.png" Type="http://schemas.openxmlformats.org/officeDocument/2006/relationships/image"/><Relationship Id="rId4" Target="../media/image2.png" Type="http://schemas.openxmlformats.org/officeDocument/2006/relationships/image"/><Relationship Id="rId5"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3.png" Type="http://schemas.openxmlformats.org/officeDocument/2006/relationships/image"/><Relationship Id="rId4" Target="../media/image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3.png" Type="http://schemas.openxmlformats.org/officeDocument/2006/relationships/image"/><Relationship Id="rId4" Target="../media/image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3.png" Type="http://schemas.openxmlformats.org/officeDocument/2006/relationships/image"/><Relationship Id="rId4" Target="../media/image2.png" Type="http://schemas.openxmlformats.org/officeDocument/2006/relationships/image"/><Relationship Id="rId5" Target="../media/image7.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3.png" Type="http://schemas.openxmlformats.org/officeDocument/2006/relationships/image"/><Relationship Id="rId4" Target="../media/image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3.png" Type="http://schemas.openxmlformats.org/officeDocument/2006/relationships/image"/><Relationship Id="rId4" Target="../media/image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3.png" Type="http://schemas.openxmlformats.org/officeDocument/2006/relationships/image"/><Relationship Id="rId4" Target="../media/image2.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3.png" Type="http://schemas.openxmlformats.org/officeDocument/2006/relationships/image"/><Relationship Id="rId4" Target="../media/image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3.png" Type="http://schemas.openxmlformats.org/officeDocument/2006/relationships/image"/><Relationship Id="rId4" Target="../media/image2.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3.png" Type="http://schemas.openxmlformats.org/officeDocument/2006/relationships/image"/><Relationship Id="rId4"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AutoShape 2" id="2"/>
          <p:cNvSpPr/>
          <p:nvPr/>
        </p:nvSpPr>
        <p:spPr>
          <a:xfrm>
            <a:off x="1028700" y="7952031"/>
            <a:ext cx="639585" cy="0"/>
          </a:xfrm>
          <a:prstGeom prst="line">
            <a:avLst/>
          </a:prstGeom>
          <a:ln cap="flat" w="114300">
            <a:solidFill>
              <a:srgbClr val="FE8213"/>
            </a:solidFill>
            <a:prstDash val="solid"/>
            <a:headEnd type="none" len="sm" w="sm"/>
            <a:tailEnd type="none" len="sm" w="sm"/>
          </a:ln>
        </p:spPr>
      </p:sp>
      <p:sp>
        <p:nvSpPr>
          <p:cNvPr name="Freeform 3" id="3"/>
          <p:cNvSpPr/>
          <p:nvPr/>
        </p:nvSpPr>
        <p:spPr>
          <a:xfrm flipH="false" flipV="false" rot="0">
            <a:off x="835255" y="708008"/>
            <a:ext cx="5017743" cy="1298710"/>
          </a:xfrm>
          <a:custGeom>
            <a:avLst/>
            <a:gdLst/>
            <a:ahLst/>
            <a:cxnLst/>
            <a:rect r="r" b="b" t="t" l="l"/>
            <a:pathLst>
              <a:path h="1298710" w="5017743">
                <a:moveTo>
                  <a:pt x="0" y="0"/>
                </a:moveTo>
                <a:lnTo>
                  <a:pt x="5017742" y="0"/>
                </a:lnTo>
                <a:lnTo>
                  <a:pt x="5017742" y="1298710"/>
                </a:lnTo>
                <a:lnTo>
                  <a:pt x="0" y="1298710"/>
                </a:lnTo>
                <a:lnTo>
                  <a:pt x="0" y="0"/>
                </a:lnTo>
                <a:close/>
              </a:path>
            </a:pathLst>
          </a:custGeom>
          <a:blipFill>
            <a:blip r:embed="rId2">
              <a:alphaModFix amt="90000"/>
            </a:blip>
            <a:stretch>
              <a:fillRect l="0" t="0" r="0" b="0"/>
            </a:stretch>
          </a:blipFill>
          <a:ln cap="sq">
            <a:noFill/>
            <a:prstDash val="solid"/>
            <a:miter/>
          </a:ln>
        </p:spPr>
      </p:sp>
      <p:sp>
        <p:nvSpPr>
          <p:cNvPr name="Freeform 4" id="4"/>
          <p:cNvSpPr/>
          <p:nvPr/>
        </p:nvSpPr>
        <p:spPr>
          <a:xfrm flipH="false" flipV="false" rot="0">
            <a:off x="13230990" y="8517946"/>
            <a:ext cx="4646228" cy="1171053"/>
          </a:xfrm>
          <a:custGeom>
            <a:avLst/>
            <a:gdLst/>
            <a:ahLst/>
            <a:cxnLst/>
            <a:rect r="r" b="b" t="t" l="l"/>
            <a:pathLst>
              <a:path h="1171053" w="4646228">
                <a:moveTo>
                  <a:pt x="0" y="0"/>
                </a:moveTo>
                <a:lnTo>
                  <a:pt x="4646228" y="0"/>
                </a:lnTo>
                <a:lnTo>
                  <a:pt x="4646228" y="1171053"/>
                </a:lnTo>
                <a:lnTo>
                  <a:pt x="0" y="1171053"/>
                </a:lnTo>
                <a:lnTo>
                  <a:pt x="0" y="0"/>
                </a:lnTo>
                <a:close/>
              </a:path>
            </a:pathLst>
          </a:custGeom>
          <a:blipFill>
            <a:blip r:embed="rId3"/>
            <a:stretch>
              <a:fillRect l="0" t="-1044" r="0" b="-79123"/>
            </a:stretch>
          </a:blipFill>
        </p:spPr>
      </p:sp>
      <p:sp>
        <p:nvSpPr>
          <p:cNvPr name="TextBox 5" id="5"/>
          <p:cNvSpPr txBox="true"/>
          <p:nvPr/>
        </p:nvSpPr>
        <p:spPr>
          <a:xfrm rot="0">
            <a:off x="835255" y="3692547"/>
            <a:ext cx="10607576" cy="1450953"/>
          </a:xfrm>
          <a:prstGeom prst="rect">
            <a:avLst/>
          </a:prstGeom>
        </p:spPr>
        <p:txBody>
          <a:bodyPr anchor="t" rtlCol="false" tIns="0" lIns="0" bIns="0" rIns="0">
            <a:spAutoFit/>
          </a:bodyPr>
          <a:lstStyle/>
          <a:p>
            <a:pPr algn="l">
              <a:lnSpc>
                <a:spcPts val="11901"/>
              </a:lnSpc>
            </a:pPr>
            <a:r>
              <a:rPr lang="en-US" b="true" sz="8500" spc="-340">
                <a:solidFill>
                  <a:srgbClr val="12100E"/>
                </a:solidFill>
                <a:latin typeface="Open Sauce Heavy"/>
                <a:ea typeface="Open Sauce Heavy"/>
                <a:cs typeface="Open Sauce Heavy"/>
                <a:sym typeface="Open Sauce Heavy"/>
              </a:rPr>
              <a:t>CELL FOUNDRY</a:t>
            </a:r>
          </a:p>
        </p:txBody>
      </p:sp>
      <p:sp>
        <p:nvSpPr>
          <p:cNvPr name="TextBox 6" id="6"/>
          <p:cNvSpPr txBox="true"/>
          <p:nvPr/>
        </p:nvSpPr>
        <p:spPr>
          <a:xfrm rot="0">
            <a:off x="934906" y="5376045"/>
            <a:ext cx="10034500" cy="555352"/>
          </a:xfrm>
          <a:prstGeom prst="rect">
            <a:avLst/>
          </a:prstGeom>
        </p:spPr>
        <p:txBody>
          <a:bodyPr anchor="t" rtlCol="false" tIns="0" lIns="0" bIns="0" rIns="0">
            <a:spAutoFit/>
          </a:bodyPr>
          <a:lstStyle/>
          <a:p>
            <a:pPr algn="l">
              <a:lnSpc>
                <a:spcPts val="4565"/>
              </a:lnSpc>
            </a:pPr>
            <a:r>
              <a:rPr lang="en-US" sz="3260" spc="-65">
                <a:solidFill>
                  <a:srgbClr val="12100E"/>
                </a:solidFill>
                <a:latin typeface="Noto Serif"/>
                <a:ea typeface="Noto Serif"/>
                <a:cs typeface="Noto Serif"/>
                <a:sym typeface="Noto Serif"/>
              </a:rPr>
              <a:t>Meeting Title: Biweekly meet - 2</a:t>
            </a:r>
          </a:p>
        </p:txBody>
      </p:sp>
      <p:sp>
        <p:nvSpPr>
          <p:cNvPr name="TextBox 7" id="7"/>
          <p:cNvSpPr txBox="true"/>
          <p:nvPr/>
        </p:nvSpPr>
        <p:spPr>
          <a:xfrm rot="0">
            <a:off x="1028700" y="8276011"/>
            <a:ext cx="2822929" cy="398145"/>
          </a:xfrm>
          <a:prstGeom prst="rect">
            <a:avLst/>
          </a:prstGeom>
        </p:spPr>
        <p:txBody>
          <a:bodyPr anchor="t" rtlCol="false" tIns="0" lIns="0" bIns="0" rIns="0">
            <a:spAutoFit/>
          </a:bodyPr>
          <a:lstStyle/>
          <a:p>
            <a:pPr algn="l">
              <a:lnSpc>
                <a:spcPts val="3360"/>
              </a:lnSpc>
            </a:pPr>
            <a:r>
              <a:rPr lang="en-US" sz="2100" b="true">
                <a:solidFill>
                  <a:srgbClr val="12100E"/>
                </a:solidFill>
                <a:latin typeface="Open Sauce Bold"/>
                <a:ea typeface="Open Sauce Bold"/>
                <a:cs typeface="Open Sauce Bold"/>
                <a:sym typeface="Open Sauce Bold"/>
              </a:rPr>
              <a:t>DATE: 22.10.2026</a:t>
            </a:r>
          </a:p>
        </p:txBody>
      </p:sp>
      <p:sp>
        <p:nvSpPr>
          <p:cNvPr name="TextBox 8" id="8"/>
          <p:cNvSpPr txBox="true"/>
          <p:nvPr/>
        </p:nvSpPr>
        <p:spPr>
          <a:xfrm rot="0">
            <a:off x="934906" y="6198097"/>
            <a:ext cx="7963793" cy="611822"/>
          </a:xfrm>
          <a:prstGeom prst="rect">
            <a:avLst/>
          </a:prstGeom>
        </p:spPr>
        <p:txBody>
          <a:bodyPr anchor="t" rtlCol="false" tIns="0" lIns="0" bIns="0" rIns="0">
            <a:spAutoFit/>
          </a:bodyPr>
          <a:lstStyle/>
          <a:p>
            <a:pPr algn="l">
              <a:lnSpc>
                <a:spcPts val="2502"/>
              </a:lnSpc>
              <a:spcBef>
                <a:spcPct val="0"/>
              </a:spcBef>
            </a:pPr>
            <a:r>
              <a:rPr lang="en-US" sz="1787" spc="-71">
                <a:solidFill>
                  <a:srgbClr val="12100E"/>
                </a:solidFill>
                <a:latin typeface="Canva Sans"/>
                <a:ea typeface="Canva Sans"/>
                <a:cs typeface="Canva Sans"/>
                <a:sym typeface="Canva Sans"/>
              </a:rPr>
              <a:t>PAVIN S</a:t>
            </a:r>
            <a:r>
              <a:rPr lang="en-US" sz="1787" spc="-71">
                <a:solidFill>
                  <a:srgbClr val="12100E"/>
                </a:solidFill>
                <a:latin typeface="Canva Sans"/>
                <a:ea typeface="Canva Sans"/>
                <a:cs typeface="Canva Sans"/>
                <a:sym typeface="Canva Sans"/>
              </a:rPr>
              <a:t>UMATHI PALANICHAMY · PRETHEBHA MUTHUKUMARAN · PRIYAM JHA</a:t>
            </a:r>
          </a:p>
          <a:p>
            <a:pPr algn="l">
              <a:lnSpc>
                <a:spcPts val="2502"/>
              </a:lnSpc>
              <a:spcBef>
                <a:spcPct val="0"/>
              </a:spcBef>
            </a:pPr>
            <a:r>
              <a:rPr lang="en-US" b="true" sz="1787" spc="-71">
                <a:solidFill>
                  <a:srgbClr val="12100E"/>
                </a:solidFill>
                <a:latin typeface="Canva Sans Bold"/>
                <a:ea typeface="Canva Sans Bold"/>
                <a:cs typeface="Canva Sans Bold"/>
                <a:sym typeface="Canva Sans Bold"/>
              </a:rPr>
              <a:t>MENTOR:</a:t>
            </a:r>
            <a:r>
              <a:rPr lang="en-US" sz="1787" spc="-71">
                <a:solidFill>
                  <a:srgbClr val="12100E"/>
                </a:solidFill>
                <a:latin typeface="Canva Sans"/>
                <a:ea typeface="Canva Sans"/>
                <a:cs typeface="Canva Sans"/>
                <a:sym typeface="Canva Sans"/>
              </a:rPr>
              <a:t> PROF. DR. MAGDA GREGOROVÁ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Freeform 2" id="2" descr="imes.thws logo"/>
          <p:cNvSpPr/>
          <p:nvPr/>
        </p:nvSpPr>
        <p:spPr>
          <a:xfrm flipH="false" flipV="false" rot="0">
            <a:off x="553022" y="707993"/>
            <a:ext cx="5017770" cy="1298734"/>
          </a:xfrm>
          <a:custGeom>
            <a:avLst/>
            <a:gdLst/>
            <a:ahLst/>
            <a:cxnLst/>
            <a:rect r="r" b="b" t="t" l="l"/>
            <a:pathLst>
              <a:path h="1298734" w="5017770">
                <a:moveTo>
                  <a:pt x="0" y="0"/>
                </a:moveTo>
                <a:lnTo>
                  <a:pt x="5017770" y="0"/>
                </a:lnTo>
                <a:lnTo>
                  <a:pt x="5017770" y="1298734"/>
                </a:lnTo>
                <a:lnTo>
                  <a:pt x="0" y="1298734"/>
                </a:lnTo>
                <a:lnTo>
                  <a:pt x="0" y="0"/>
                </a:lnTo>
                <a:close/>
              </a:path>
            </a:pathLst>
          </a:custGeom>
          <a:blipFill>
            <a:blip r:embed="rId3"/>
            <a:stretch>
              <a:fillRect l="-14" t="0" r="-14" b="0"/>
            </a:stretch>
          </a:blipFill>
        </p:spPr>
      </p:sp>
      <p:grpSp>
        <p:nvGrpSpPr>
          <p:cNvPr name="Group 3" id="3"/>
          <p:cNvGrpSpPr/>
          <p:nvPr/>
        </p:nvGrpSpPr>
        <p:grpSpPr>
          <a:xfrm rot="0">
            <a:off x="708660" y="9429750"/>
            <a:ext cx="639604" cy="114300"/>
            <a:chOff x="0" y="0"/>
            <a:chExt cx="852805" cy="152400"/>
          </a:xfrm>
        </p:grpSpPr>
        <p:sp>
          <p:nvSpPr>
            <p:cNvPr name="Freeform 4" id="4"/>
            <p:cNvSpPr/>
            <p:nvPr/>
          </p:nvSpPr>
          <p:spPr>
            <a:xfrm flipH="false" flipV="false" rot="0">
              <a:off x="0" y="0"/>
              <a:ext cx="852805" cy="152400"/>
            </a:xfrm>
            <a:custGeom>
              <a:avLst/>
              <a:gdLst/>
              <a:ahLst/>
              <a:cxnLst/>
              <a:rect r="r" b="b" t="t" l="l"/>
              <a:pathLst>
                <a:path h="152400" w="852805">
                  <a:moveTo>
                    <a:pt x="0" y="0"/>
                  </a:moveTo>
                  <a:lnTo>
                    <a:pt x="852805" y="0"/>
                  </a:lnTo>
                  <a:lnTo>
                    <a:pt x="852805" y="152400"/>
                  </a:lnTo>
                  <a:lnTo>
                    <a:pt x="0" y="152400"/>
                  </a:lnTo>
                  <a:close/>
                </a:path>
              </a:pathLst>
            </a:custGeom>
            <a:solidFill>
              <a:srgbClr val="FE8213"/>
            </a:solidFill>
          </p:spPr>
        </p:sp>
        <p:sp>
          <p:nvSpPr>
            <p:cNvPr name="TextBox 5" id="5"/>
            <p:cNvSpPr txBox="true"/>
            <p:nvPr/>
          </p:nvSpPr>
          <p:spPr>
            <a:xfrm>
              <a:off x="0" y="-38100"/>
              <a:ext cx="852805" cy="190500"/>
            </a:xfrm>
            <a:prstGeom prst="rect">
              <a:avLst/>
            </a:prstGeom>
          </p:spPr>
          <p:txBody>
            <a:bodyPr anchor="ctr" rtlCol="false" tIns="50800" lIns="50800" bIns="50800" rIns="50800"/>
            <a:lstStyle/>
            <a:p>
              <a:pPr algn="l">
                <a:lnSpc>
                  <a:spcPts val="1679"/>
                </a:lnSpc>
              </a:pPr>
            </a:p>
          </p:txBody>
        </p:sp>
      </p:grpSp>
      <p:sp>
        <p:nvSpPr>
          <p:cNvPr name="Freeform 6" id="6" descr="cairo.thws logo"/>
          <p:cNvSpPr/>
          <p:nvPr/>
        </p:nvSpPr>
        <p:spPr>
          <a:xfrm flipH="false" flipV="false" rot="0">
            <a:off x="13282708" y="835628"/>
            <a:ext cx="4646200" cy="1171099"/>
          </a:xfrm>
          <a:custGeom>
            <a:avLst/>
            <a:gdLst/>
            <a:ahLst/>
            <a:cxnLst/>
            <a:rect r="r" b="b" t="t" l="l"/>
            <a:pathLst>
              <a:path h="1171099" w="4646200">
                <a:moveTo>
                  <a:pt x="0" y="0"/>
                </a:moveTo>
                <a:lnTo>
                  <a:pt x="4646200" y="0"/>
                </a:lnTo>
                <a:lnTo>
                  <a:pt x="4646200" y="1171099"/>
                </a:lnTo>
                <a:lnTo>
                  <a:pt x="0" y="1171099"/>
                </a:lnTo>
                <a:lnTo>
                  <a:pt x="0" y="0"/>
                </a:lnTo>
                <a:close/>
              </a:path>
            </a:pathLst>
          </a:custGeom>
          <a:blipFill>
            <a:blip r:embed="rId4"/>
            <a:stretch>
              <a:fillRect l="-39" t="0" r="-39" b="-80162"/>
            </a:stretch>
          </a:blipFill>
        </p:spPr>
      </p:sp>
      <p:sp>
        <p:nvSpPr>
          <p:cNvPr name="Freeform 7" id="7"/>
          <p:cNvSpPr/>
          <p:nvPr/>
        </p:nvSpPr>
        <p:spPr>
          <a:xfrm flipH="false" flipV="false" rot="0">
            <a:off x="280199" y="1962278"/>
            <a:ext cx="17757484" cy="6677980"/>
          </a:xfrm>
          <a:custGeom>
            <a:avLst/>
            <a:gdLst/>
            <a:ahLst/>
            <a:cxnLst/>
            <a:rect r="r" b="b" t="t" l="l"/>
            <a:pathLst>
              <a:path h="6677980" w="17757484">
                <a:moveTo>
                  <a:pt x="0" y="0"/>
                </a:moveTo>
                <a:lnTo>
                  <a:pt x="17757484" y="0"/>
                </a:lnTo>
                <a:lnTo>
                  <a:pt x="17757484" y="6677980"/>
                </a:lnTo>
                <a:lnTo>
                  <a:pt x="0" y="6677980"/>
                </a:lnTo>
                <a:lnTo>
                  <a:pt x="0" y="0"/>
                </a:lnTo>
                <a:close/>
              </a:path>
            </a:pathLst>
          </a:custGeom>
          <a:blipFill>
            <a:blip r:embed="rId5"/>
            <a:stretch>
              <a:fillRect l="0" t="-1203" r="0" b="-95804"/>
            </a:stretch>
          </a:blipFill>
        </p:spPr>
      </p:sp>
      <p:sp>
        <p:nvSpPr>
          <p:cNvPr name="TextBox 8" id="8"/>
          <p:cNvSpPr txBox="true"/>
          <p:nvPr/>
        </p:nvSpPr>
        <p:spPr>
          <a:xfrm rot="0">
            <a:off x="553022" y="9704832"/>
            <a:ext cx="2476500" cy="325755"/>
          </a:xfrm>
          <a:prstGeom prst="rect">
            <a:avLst/>
          </a:prstGeom>
        </p:spPr>
        <p:txBody>
          <a:bodyPr anchor="t" rtlCol="false" tIns="0" lIns="0" bIns="0" rIns="0">
            <a:spAutoFit/>
          </a:bodyPr>
          <a:lstStyle/>
          <a:p>
            <a:pPr algn="l">
              <a:lnSpc>
                <a:spcPts val="2520"/>
              </a:lnSpc>
            </a:pPr>
            <a:r>
              <a:rPr lang="en-US" sz="1800" b="true">
                <a:solidFill>
                  <a:srgbClr val="12100E"/>
                </a:solidFill>
                <a:latin typeface="Arimo Bold"/>
                <a:ea typeface="Arimo Bold"/>
                <a:cs typeface="Arimo Bold"/>
                <a:sym typeface="Arimo Bold"/>
              </a:rPr>
              <a:t>CELL FOUNDRY</a:t>
            </a:r>
          </a:p>
        </p:txBody>
      </p:sp>
      <p:sp>
        <p:nvSpPr>
          <p:cNvPr name="TextBox 9" id="9"/>
          <p:cNvSpPr txBox="true"/>
          <p:nvPr/>
        </p:nvSpPr>
        <p:spPr>
          <a:xfrm rot="0">
            <a:off x="12894183" y="9551289"/>
            <a:ext cx="5143500" cy="365760"/>
          </a:xfrm>
          <a:prstGeom prst="rect">
            <a:avLst/>
          </a:prstGeom>
        </p:spPr>
        <p:txBody>
          <a:bodyPr anchor="t" rtlCol="false" tIns="0" lIns="0" bIns="0" rIns="0">
            <a:spAutoFit/>
          </a:bodyPr>
          <a:lstStyle/>
          <a:p>
            <a:pPr algn="l">
              <a:lnSpc>
                <a:spcPts val="2940"/>
              </a:lnSpc>
            </a:pPr>
            <a:r>
              <a:rPr lang="en-US" sz="2100">
                <a:solidFill>
                  <a:srgbClr val="12100E"/>
                </a:solidFill>
                <a:latin typeface="Arimo"/>
                <a:ea typeface="Arimo"/>
                <a:cs typeface="Arimo"/>
                <a:sym typeface="Arimo"/>
              </a:rPr>
              <a:t>Meeting Title: Biweekly meet - 2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Freeform 2" id="2" descr="imes.thws logo"/>
          <p:cNvSpPr/>
          <p:nvPr/>
        </p:nvSpPr>
        <p:spPr>
          <a:xfrm flipH="false" flipV="false" rot="0">
            <a:off x="553022" y="707993"/>
            <a:ext cx="5017770" cy="1298734"/>
          </a:xfrm>
          <a:custGeom>
            <a:avLst/>
            <a:gdLst/>
            <a:ahLst/>
            <a:cxnLst/>
            <a:rect r="r" b="b" t="t" l="l"/>
            <a:pathLst>
              <a:path h="1298734" w="5017770">
                <a:moveTo>
                  <a:pt x="0" y="0"/>
                </a:moveTo>
                <a:lnTo>
                  <a:pt x="5017770" y="0"/>
                </a:lnTo>
                <a:lnTo>
                  <a:pt x="5017770" y="1298734"/>
                </a:lnTo>
                <a:lnTo>
                  <a:pt x="0" y="1298734"/>
                </a:lnTo>
                <a:lnTo>
                  <a:pt x="0" y="0"/>
                </a:lnTo>
                <a:close/>
              </a:path>
            </a:pathLst>
          </a:custGeom>
          <a:blipFill>
            <a:blip r:embed="rId3"/>
            <a:stretch>
              <a:fillRect l="-14" t="0" r="-14" b="0"/>
            </a:stretch>
          </a:blipFill>
        </p:spPr>
      </p:sp>
      <p:grpSp>
        <p:nvGrpSpPr>
          <p:cNvPr name="Group 3" id="3"/>
          <p:cNvGrpSpPr/>
          <p:nvPr/>
        </p:nvGrpSpPr>
        <p:grpSpPr>
          <a:xfrm rot="0">
            <a:off x="708660" y="9429750"/>
            <a:ext cx="639604" cy="114300"/>
            <a:chOff x="0" y="0"/>
            <a:chExt cx="852805" cy="152400"/>
          </a:xfrm>
        </p:grpSpPr>
        <p:sp>
          <p:nvSpPr>
            <p:cNvPr name="Freeform 4" id="4"/>
            <p:cNvSpPr/>
            <p:nvPr/>
          </p:nvSpPr>
          <p:spPr>
            <a:xfrm flipH="false" flipV="false" rot="0">
              <a:off x="0" y="0"/>
              <a:ext cx="852805" cy="152400"/>
            </a:xfrm>
            <a:custGeom>
              <a:avLst/>
              <a:gdLst/>
              <a:ahLst/>
              <a:cxnLst/>
              <a:rect r="r" b="b" t="t" l="l"/>
              <a:pathLst>
                <a:path h="152400" w="852805">
                  <a:moveTo>
                    <a:pt x="0" y="0"/>
                  </a:moveTo>
                  <a:lnTo>
                    <a:pt x="852805" y="0"/>
                  </a:lnTo>
                  <a:lnTo>
                    <a:pt x="852805" y="152400"/>
                  </a:lnTo>
                  <a:lnTo>
                    <a:pt x="0" y="152400"/>
                  </a:lnTo>
                  <a:close/>
                </a:path>
              </a:pathLst>
            </a:custGeom>
            <a:solidFill>
              <a:srgbClr val="FE8213"/>
            </a:solidFill>
          </p:spPr>
        </p:sp>
        <p:sp>
          <p:nvSpPr>
            <p:cNvPr name="TextBox 5" id="5"/>
            <p:cNvSpPr txBox="true"/>
            <p:nvPr/>
          </p:nvSpPr>
          <p:spPr>
            <a:xfrm>
              <a:off x="0" y="-38100"/>
              <a:ext cx="852805" cy="190500"/>
            </a:xfrm>
            <a:prstGeom prst="rect">
              <a:avLst/>
            </a:prstGeom>
          </p:spPr>
          <p:txBody>
            <a:bodyPr anchor="ctr" rtlCol="false" tIns="50800" lIns="50800" bIns="50800" rIns="50800"/>
            <a:lstStyle/>
            <a:p>
              <a:pPr algn="l">
                <a:lnSpc>
                  <a:spcPts val="1679"/>
                </a:lnSpc>
              </a:pPr>
            </a:p>
          </p:txBody>
        </p:sp>
      </p:grpSp>
      <p:sp>
        <p:nvSpPr>
          <p:cNvPr name="Freeform 6" id="6" descr="cairo.thws logo"/>
          <p:cNvSpPr/>
          <p:nvPr/>
        </p:nvSpPr>
        <p:spPr>
          <a:xfrm flipH="false" flipV="false" rot="0">
            <a:off x="13282708" y="835628"/>
            <a:ext cx="4646200" cy="1171099"/>
          </a:xfrm>
          <a:custGeom>
            <a:avLst/>
            <a:gdLst/>
            <a:ahLst/>
            <a:cxnLst/>
            <a:rect r="r" b="b" t="t" l="l"/>
            <a:pathLst>
              <a:path h="1171099" w="4646200">
                <a:moveTo>
                  <a:pt x="0" y="0"/>
                </a:moveTo>
                <a:lnTo>
                  <a:pt x="4646200" y="0"/>
                </a:lnTo>
                <a:lnTo>
                  <a:pt x="4646200" y="1171099"/>
                </a:lnTo>
                <a:lnTo>
                  <a:pt x="0" y="1171099"/>
                </a:lnTo>
                <a:lnTo>
                  <a:pt x="0" y="0"/>
                </a:lnTo>
                <a:close/>
              </a:path>
            </a:pathLst>
          </a:custGeom>
          <a:blipFill>
            <a:blip r:embed="rId4"/>
            <a:stretch>
              <a:fillRect l="-39" t="0" r="-39" b="-80162"/>
            </a:stretch>
          </a:blipFill>
        </p:spPr>
      </p:sp>
      <p:sp>
        <p:nvSpPr>
          <p:cNvPr name="TextBox 7" id="7"/>
          <p:cNvSpPr txBox="true"/>
          <p:nvPr/>
        </p:nvSpPr>
        <p:spPr>
          <a:xfrm rot="0">
            <a:off x="553022" y="9704832"/>
            <a:ext cx="2476500" cy="325755"/>
          </a:xfrm>
          <a:prstGeom prst="rect">
            <a:avLst/>
          </a:prstGeom>
        </p:spPr>
        <p:txBody>
          <a:bodyPr anchor="t" rtlCol="false" tIns="0" lIns="0" bIns="0" rIns="0">
            <a:spAutoFit/>
          </a:bodyPr>
          <a:lstStyle/>
          <a:p>
            <a:pPr algn="l">
              <a:lnSpc>
                <a:spcPts val="2520"/>
              </a:lnSpc>
            </a:pPr>
            <a:r>
              <a:rPr lang="en-US" sz="1800" b="true">
                <a:solidFill>
                  <a:srgbClr val="12100E"/>
                </a:solidFill>
                <a:latin typeface="Arimo Bold"/>
                <a:ea typeface="Arimo Bold"/>
                <a:cs typeface="Arimo Bold"/>
                <a:sym typeface="Arimo Bold"/>
              </a:rPr>
              <a:t>CELL FOUNDRY</a:t>
            </a:r>
          </a:p>
        </p:txBody>
      </p:sp>
      <p:sp>
        <p:nvSpPr>
          <p:cNvPr name="TextBox 8" id="8"/>
          <p:cNvSpPr txBox="true"/>
          <p:nvPr/>
        </p:nvSpPr>
        <p:spPr>
          <a:xfrm rot="0">
            <a:off x="12894183" y="9551289"/>
            <a:ext cx="5143500" cy="365760"/>
          </a:xfrm>
          <a:prstGeom prst="rect">
            <a:avLst/>
          </a:prstGeom>
        </p:spPr>
        <p:txBody>
          <a:bodyPr anchor="t" rtlCol="false" tIns="0" lIns="0" bIns="0" rIns="0">
            <a:spAutoFit/>
          </a:bodyPr>
          <a:lstStyle/>
          <a:p>
            <a:pPr algn="l">
              <a:lnSpc>
                <a:spcPts val="2940"/>
              </a:lnSpc>
            </a:pPr>
            <a:r>
              <a:rPr lang="en-US" sz="2100">
                <a:solidFill>
                  <a:srgbClr val="12100E"/>
                </a:solidFill>
                <a:latin typeface="Arimo"/>
                <a:ea typeface="Arimo"/>
                <a:cs typeface="Arimo"/>
                <a:sym typeface="Arimo"/>
              </a:rPr>
              <a:t>Meeting Title: Biweekly meet - 2</a:t>
            </a:r>
          </a:p>
        </p:txBody>
      </p:sp>
      <p:sp>
        <p:nvSpPr>
          <p:cNvPr name="Freeform 9" id="9"/>
          <p:cNvSpPr/>
          <p:nvPr/>
        </p:nvSpPr>
        <p:spPr>
          <a:xfrm flipH="false" flipV="false" rot="0">
            <a:off x="553022" y="2205485"/>
            <a:ext cx="17484661" cy="6184774"/>
          </a:xfrm>
          <a:custGeom>
            <a:avLst/>
            <a:gdLst/>
            <a:ahLst/>
            <a:cxnLst/>
            <a:rect r="r" b="b" t="t" l="l"/>
            <a:pathLst>
              <a:path h="6184774" w="17484661">
                <a:moveTo>
                  <a:pt x="0" y="0"/>
                </a:moveTo>
                <a:lnTo>
                  <a:pt x="17484661" y="0"/>
                </a:lnTo>
                <a:lnTo>
                  <a:pt x="17484661" y="6184774"/>
                </a:lnTo>
                <a:lnTo>
                  <a:pt x="0" y="6184774"/>
                </a:lnTo>
                <a:lnTo>
                  <a:pt x="0" y="0"/>
                </a:lnTo>
                <a:close/>
              </a:path>
            </a:pathLst>
          </a:custGeom>
          <a:blipFill>
            <a:blip r:embed="rId5"/>
            <a:stretch>
              <a:fillRect l="0" t="-107508" r="-1070" b="-4183"/>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Freeform 2" id="2" descr="imes.thws logo"/>
          <p:cNvSpPr/>
          <p:nvPr/>
        </p:nvSpPr>
        <p:spPr>
          <a:xfrm flipH="false" flipV="false" rot="0">
            <a:off x="553022" y="707993"/>
            <a:ext cx="5017770" cy="1298734"/>
          </a:xfrm>
          <a:custGeom>
            <a:avLst/>
            <a:gdLst/>
            <a:ahLst/>
            <a:cxnLst/>
            <a:rect r="r" b="b" t="t" l="l"/>
            <a:pathLst>
              <a:path h="1298734" w="5017770">
                <a:moveTo>
                  <a:pt x="0" y="0"/>
                </a:moveTo>
                <a:lnTo>
                  <a:pt x="5017770" y="0"/>
                </a:lnTo>
                <a:lnTo>
                  <a:pt x="5017770" y="1298734"/>
                </a:lnTo>
                <a:lnTo>
                  <a:pt x="0" y="1298734"/>
                </a:lnTo>
                <a:lnTo>
                  <a:pt x="0" y="0"/>
                </a:lnTo>
                <a:close/>
              </a:path>
            </a:pathLst>
          </a:custGeom>
          <a:blipFill>
            <a:blip r:embed="rId3"/>
            <a:stretch>
              <a:fillRect l="-14" t="0" r="-14" b="0"/>
            </a:stretch>
          </a:blipFill>
        </p:spPr>
      </p:sp>
      <p:sp>
        <p:nvSpPr>
          <p:cNvPr name="Freeform 3" id="3" descr="cairo.thws logo"/>
          <p:cNvSpPr/>
          <p:nvPr/>
        </p:nvSpPr>
        <p:spPr>
          <a:xfrm flipH="false" flipV="false" rot="0">
            <a:off x="13282708" y="835628"/>
            <a:ext cx="4646200" cy="1171099"/>
          </a:xfrm>
          <a:custGeom>
            <a:avLst/>
            <a:gdLst/>
            <a:ahLst/>
            <a:cxnLst/>
            <a:rect r="r" b="b" t="t" l="l"/>
            <a:pathLst>
              <a:path h="1171099" w="4646200">
                <a:moveTo>
                  <a:pt x="0" y="0"/>
                </a:moveTo>
                <a:lnTo>
                  <a:pt x="4646200" y="0"/>
                </a:lnTo>
                <a:lnTo>
                  <a:pt x="4646200" y="1171099"/>
                </a:lnTo>
                <a:lnTo>
                  <a:pt x="0" y="1171099"/>
                </a:lnTo>
                <a:lnTo>
                  <a:pt x="0" y="0"/>
                </a:lnTo>
                <a:close/>
              </a:path>
            </a:pathLst>
          </a:custGeom>
          <a:blipFill>
            <a:blip r:embed="rId4"/>
            <a:stretch>
              <a:fillRect l="-39" t="0" r="-39" b="-80162"/>
            </a:stretch>
          </a:blipFill>
        </p:spPr>
      </p:sp>
      <p:grpSp>
        <p:nvGrpSpPr>
          <p:cNvPr name="Group 4" id="4"/>
          <p:cNvGrpSpPr/>
          <p:nvPr/>
        </p:nvGrpSpPr>
        <p:grpSpPr>
          <a:xfrm rot="0">
            <a:off x="708660" y="9429750"/>
            <a:ext cx="639604" cy="114300"/>
            <a:chOff x="0" y="0"/>
            <a:chExt cx="852805" cy="152400"/>
          </a:xfrm>
        </p:grpSpPr>
        <p:sp>
          <p:nvSpPr>
            <p:cNvPr name="Freeform 5" id="5"/>
            <p:cNvSpPr/>
            <p:nvPr/>
          </p:nvSpPr>
          <p:spPr>
            <a:xfrm flipH="false" flipV="false" rot="0">
              <a:off x="0" y="0"/>
              <a:ext cx="852805" cy="152400"/>
            </a:xfrm>
            <a:custGeom>
              <a:avLst/>
              <a:gdLst/>
              <a:ahLst/>
              <a:cxnLst/>
              <a:rect r="r" b="b" t="t" l="l"/>
              <a:pathLst>
                <a:path h="152400" w="852805">
                  <a:moveTo>
                    <a:pt x="0" y="0"/>
                  </a:moveTo>
                  <a:lnTo>
                    <a:pt x="852805" y="0"/>
                  </a:lnTo>
                  <a:lnTo>
                    <a:pt x="852805" y="152400"/>
                  </a:lnTo>
                  <a:lnTo>
                    <a:pt x="0" y="152400"/>
                  </a:lnTo>
                  <a:close/>
                </a:path>
              </a:pathLst>
            </a:custGeom>
            <a:solidFill>
              <a:srgbClr val="FE8213"/>
            </a:solidFill>
          </p:spPr>
        </p:sp>
        <p:sp>
          <p:nvSpPr>
            <p:cNvPr name="TextBox 6" id="6"/>
            <p:cNvSpPr txBox="true"/>
            <p:nvPr/>
          </p:nvSpPr>
          <p:spPr>
            <a:xfrm>
              <a:off x="0" y="-38100"/>
              <a:ext cx="852805" cy="190500"/>
            </a:xfrm>
            <a:prstGeom prst="rect">
              <a:avLst/>
            </a:prstGeom>
          </p:spPr>
          <p:txBody>
            <a:bodyPr anchor="ctr" rtlCol="false" tIns="50800" lIns="50800" bIns="50800" rIns="50800"/>
            <a:lstStyle/>
            <a:p>
              <a:pPr algn="l">
                <a:lnSpc>
                  <a:spcPts val="1679"/>
                </a:lnSpc>
              </a:pPr>
            </a:p>
          </p:txBody>
        </p:sp>
      </p:grpSp>
      <p:sp>
        <p:nvSpPr>
          <p:cNvPr name="Freeform 7" id="7"/>
          <p:cNvSpPr/>
          <p:nvPr/>
        </p:nvSpPr>
        <p:spPr>
          <a:xfrm flipH="false" flipV="false" rot="0">
            <a:off x="595605" y="3415747"/>
            <a:ext cx="16865946" cy="6183167"/>
          </a:xfrm>
          <a:custGeom>
            <a:avLst/>
            <a:gdLst/>
            <a:ahLst/>
            <a:cxnLst/>
            <a:rect r="r" b="b" t="t" l="l"/>
            <a:pathLst>
              <a:path h="6183167" w="16865946">
                <a:moveTo>
                  <a:pt x="0" y="0"/>
                </a:moveTo>
                <a:lnTo>
                  <a:pt x="16865946" y="0"/>
                </a:lnTo>
                <a:lnTo>
                  <a:pt x="16865946" y="6183167"/>
                </a:lnTo>
                <a:lnTo>
                  <a:pt x="0" y="6183167"/>
                </a:lnTo>
                <a:lnTo>
                  <a:pt x="0" y="0"/>
                </a:lnTo>
                <a:close/>
              </a:path>
            </a:pathLst>
          </a:custGeom>
          <a:blipFill>
            <a:blip r:embed="rId5"/>
            <a:stretch>
              <a:fillRect l="0" t="0" r="0" b="-100316"/>
            </a:stretch>
          </a:blipFill>
        </p:spPr>
      </p:sp>
      <p:sp>
        <p:nvSpPr>
          <p:cNvPr name="TextBox 8" id="8"/>
          <p:cNvSpPr txBox="true"/>
          <p:nvPr/>
        </p:nvSpPr>
        <p:spPr>
          <a:xfrm rot="0">
            <a:off x="553022" y="9704832"/>
            <a:ext cx="2476500" cy="325755"/>
          </a:xfrm>
          <a:prstGeom prst="rect">
            <a:avLst/>
          </a:prstGeom>
        </p:spPr>
        <p:txBody>
          <a:bodyPr anchor="t" rtlCol="false" tIns="0" lIns="0" bIns="0" rIns="0">
            <a:spAutoFit/>
          </a:bodyPr>
          <a:lstStyle/>
          <a:p>
            <a:pPr algn="l">
              <a:lnSpc>
                <a:spcPts val="2520"/>
              </a:lnSpc>
            </a:pPr>
            <a:r>
              <a:rPr lang="en-US" sz="1800" b="true">
                <a:solidFill>
                  <a:srgbClr val="12100E"/>
                </a:solidFill>
                <a:latin typeface="Arimo Bold"/>
                <a:ea typeface="Arimo Bold"/>
                <a:cs typeface="Arimo Bold"/>
                <a:sym typeface="Arimo Bold"/>
              </a:rPr>
              <a:t>CELL FOUNDRY</a:t>
            </a:r>
          </a:p>
        </p:txBody>
      </p:sp>
      <p:sp>
        <p:nvSpPr>
          <p:cNvPr name="TextBox 9" id="9"/>
          <p:cNvSpPr txBox="true"/>
          <p:nvPr/>
        </p:nvSpPr>
        <p:spPr>
          <a:xfrm rot="0">
            <a:off x="12894183" y="9551289"/>
            <a:ext cx="5143500" cy="365760"/>
          </a:xfrm>
          <a:prstGeom prst="rect">
            <a:avLst/>
          </a:prstGeom>
        </p:spPr>
        <p:txBody>
          <a:bodyPr anchor="t" rtlCol="false" tIns="0" lIns="0" bIns="0" rIns="0">
            <a:spAutoFit/>
          </a:bodyPr>
          <a:lstStyle/>
          <a:p>
            <a:pPr algn="l">
              <a:lnSpc>
                <a:spcPts val="2940"/>
              </a:lnSpc>
            </a:pPr>
            <a:r>
              <a:rPr lang="en-US" sz="2100">
                <a:solidFill>
                  <a:srgbClr val="12100E"/>
                </a:solidFill>
                <a:latin typeface="Arimo"/>
                <a:ea typeface="Arimo"/>
                <a:cs typeface="Arimo"/>
                <a:sym typeface="Arimo"/>
              </a:rPr>
              <a:t>Meeting Title: Biweekly meet - 2</a:t>
            </a:r>
          </a:p>
        </p:txBody>
      </p:sp>
      <p:sp>
        <p:nvSpPr>
          <p:cNvPr name="TextBox 10" id="10"/>
          <p:cNvSpPr txBox="true"/>
          <p:nvPr/>
        </p:nvSpPr>
        <p:spPr>
          <a:xfrm rot="0">
            <a:off x="939070" y="2095500"/>
            <a:ext cx="11430000" cy="365760"/>
          </a:xfrm>
          <a:prstGeom prst="rect">
            <a:avLst/>
          </a:prstGeom>
        </p:spPr>
        <p:txBody>
          <a:bodyPr anchor="t" rtlCol="false" tIns="0" lIns="0" bIns="0" rIns="0">
            <a:spAutoFit/>
          </a:bodyPr>
          <a:lstStyle/>
          <a:p>
            <a:pPr algn="l">
              <a:lnSpc>
                <a:spcPts val="2940"/>
              </a:lnSpc>
            </a:pPr>
            <a:r>
              <a:rPr lang="en-US" sz="2100" b="true">
                <a:solidFill>
                  <a:srgbClr val="FE8213"/>
                </a:solidFill>
                <a:latin typeface="Arimo Bold"/>
                <a:ea typeface="Arimo Bold"/>
                <a:cs typeface="Arimo Bold"/>
                <a:sym typeface="Arimo Bold"/>
              </a:rPr>
              <a:t>6 · UPDATE SINCE 8 OCTOBER</a:t>
            </a:r>
          </a:p>
        </p:txBody>
      </p:sp>
      <p:sp>
        <p:nvSpPr>
          <p:cNvPr name="TextBox 11" id="11"/>
          <p:cNvSpPr txBox="true"/>
          <p:nvPr/>
        </p:nvSpPr>
        <p:spPr>
          <a:xfrm rot="0">
            <a:off x="939070" y="2390775"/>
            <a:ext cx="11906250" cy="948690"/>
          </a:xfrm>
          <a:prstGeom prst="rect">
            <a:avLst/>
          </a:prstGeom>
        </p:spPr>
        <p:txBody>
          <a:bodyPr anchor="t" rtlCol="false" tIns="0" lIns="0" bIns="0" rIns="0">
            <a:spAutoFit/>
          </a:bodyPr>
          <a:lstStyle/>
          <a:p>
            <a:pPr algn="l">
              <a:lnSpc>
                <a:spcPts val="7559"/>
              </a:lnSpc>
            </a:pPr>
            <a:r>
              <a:rPr lang="en-US" sz="5400" b="true">
                <a:solidFill>
                  <a:srgbClr val="12100E"/>
                </a:solidFill>
                <a:latin typeface="Arimo Bold"/>
                <a:ea typeface="Arimo Bold"/>
                <a:cs typeface="Arimo Bold"/>
                <a:sym typeface="Arimo Bold"/>
              </a:rPr>
              <a:t>Nicole’s Answer (15 October)</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Freeform 2" id="2" descr="imes.thws logo"/>
          <p:cNvSpPr/>
          <p:nvPr/>
        </p:nvSpPr>
        <p:spPr>
          <a:xfrm flipH="false" flipV="false" rot="0">
            <a:off x="553022" y="707993"/>
            <a:ext cx="5017770" cy="1298734"/>
          </a:xfrm>
          <a:custGeom>
            <a:avLst/>
            <a:gdLst/>
            <a:ahLst/>
            <a:cxnLst/>
            <a:rect r="r" b="b" t="t" l="l"/>
            <a:pathLst>
              <a:path h="1298734" w="5017770">
                <a:moveTo>
                  <a:pt x="0" y="0"/>
                </a:moveTo>
                <a:lnTo>
                  <a:pt x="5017770" y="0"/>
                </a:lnTo>
                <a:lnTo>
                  <a:pt x="5017770" y="1298734"/>
                </a:lnTo>
                <a:lnTo>
                  <a:pt x="0" y="1298734"/>
                </a:lnTo>
                <a:lnTo>
                  <a:pt x="0" y="0"/>
                </a:lnTo>
                <a:close/>
              </a:path>
            </a:pathLst>
          </a:custGeom>
          <a:blipFill>
            <a:blip r:embed="rId3"/>
            <a:stretch>
              <a:fillRect l="-14" t="0" r="-14" b="0"/>
            </a:stretch>
          </a:blipFill>
        </p:spPr>
      </p:sp>
      <p:sp>
        <p:nvSpPr>
          <p:cNvPr name="Freeform 3" id="3" descr="cairo.thws logo"/>
          <p:cNvSpPr/>
          <p:nvPr/>
        </p:nvSpPr>
        <p:spPr>
          <a:xfrm flipH="false" flipV="false" rot="0">
            <a:off x="13282708" y="835628"/>
            <a:ext cx="4646200" cy="1171099"/>
          </a:xfrm>
          <a:custGeom>
            <a:avLst/>
            <a:gdLst/>
            <a:ahLst/>
            <a:cxnLst/>
            <a:rect r="r" b="b" t="t" l="l"/>
            <a:pathLst>
              <a:path h="1171099" w="4646200">
                <a:moveTo>
                  <a:pt x="0" y="0"/>
                </a:moveTo>
                <a:lnTo>
                  <a:pt x="4646200" y="0"/>
                </a:lnTo>
                <a:lnTo>
                  <a:pt x="4646200" y="1171099"/>
                </a:lnTo>
                <a:lnTo>
                  <a:pt x="0" y="1171099"/>
                </a:lnTo>
                <a:lnTo>
                  <a:pt x="0" y="0"/>
                </a:lnTo>
                <a:close/>
              </a:path>
            </a:pathLst>
          </a:custGeom>
          <a:blipFill>
            <a:blip r:embed="rId4"/>
            <a:stretch>
              <a:fillRect l="-39" t="0" r="-39" b="-80162"/>
            </a:stretch>
          </a:blipFill>
        </p:spPr>
      </p:sp>
      <p:grpSp>
        <p:nvGrpSpPr>
          <p:cNvPr name="Group 4" id="4"/>
          <p:cNvGrpSpPr/>
          <p:nvPr/>
        </p:nvGrpSpPr>
        <p:grpSpPr>
          <a:xfrm rot="0">
            <a:off x="708660" y="9429750"/>
            <a:ext cx="639604" cy="114300"/>
            <a:chOff x="0" y="0"/>
            <a:chExt cx="852805" cy="152400"/>
          </a:xfrm>
        </p:grpSpPr>
        <p:sp>
          <p:nvSpPr>
            <p:cNvPr name="Freeform 5" id="5"/>
            <p:cNvSpPr/>
            <p:nvPr/>
          </p:nvSpPr>
          <p:spPr>
            <a:xfrm flipH="false" flipV="false" rot="0">
              <a:off x="0" y="0"/>
              <a:ext cx="852805" cy="152400"/>
            </a:xfrm>
            <a:custGeom>
              <a:avLst/>
              <a:gdLst/>
              <a:ahLst/>
              <a:cxnLst/>
              <a:rect r="r" b="b" t="t" l="l"/>
              <a:pathLst>
                <a:path h="152400" w="852805">
                  <a:moveTo>
                    <a:pt x="0" y="0"/>
                  </a:moveTo>
                  <a:lnTo>
                    <a:pt x="852805" y="0"/>
                  </a:lnTo>
                  <a:lnTo>
                    <a:pt x="852805" y="152400"/>
                  </a:lnTo>
                  <a:lnTo>
                    <a:pt x="0" y="152400"/>
                  </a:lnTo>
                  <a:close/>
                </a:path>
              </a:pathLst>
            </a:custGeom>
            <a:solidFill>
              <a:srgbClr val="FE8213"/>
            </a:solidFill>
          </p:spPr>
        </p:sp>
        <p:sp>
          <p:nvSpPr>
            <p:cNvPr name="TextBox 6" id="6"/>
            <p:cNvSpPr txBox="true"/>
            <p:nvPr/>
          </p:nvSpPr>
          <p:spPr>
            <a:xfrm>
              <a:off x="0" y="-38100"/>
              <a:ext cx="852805" cy="190500"/>
            </a:xfrm>
            <a:prstGeom prst="rect">
              <a:avLst/>
            </a:prstGeom>
          </p:spPr>
          <p:txBody>
            <a:bodyPr anchor="ctr" rtlCol="false" tIns="50800" lIns="50800" bIns="50800" rIns="50800"/>
            <a:lstStyle/>
            <a:p>
              <a:pPr algn="l">
                <a:lnSpc>
                  <a:spcPts val="1679"/>
                </a:lnSpc>
              </a:pPr>
            </a:p>
          </p:txBody>
        </p:sp>
      </p:grpSp>
      <p:sp>
        <p:nvSpPr>
          <p:cNvPr name="Freeform 7" id="7"/>
          <p:cNvSpPr/>
          <p:nvPr/>
        </p:nvSpPr>
        <p:spPr>
          <a:xfrm flipH="false" flipV="false" rot="0">
            <a:off x="456731" y="3472815"/>
            <a:ext cx="16897665" cy="6206000"/>
          </a:xfrm>
          <a:custGeom>
            <a:avLst/>
            <a:gdLst/>
            <a:ahLst/>
            <a:cxnLst/>
            <a:rect r="r" b="b" t="t" l="l"/>
            <a:pathLst>
              <a:path h="6206000" w="16897665">
                <a:moveTo>
                  <a:pt x="0" y="0"/>
                </a:moveTo>
                <a:lnTo>
                  <a:pt x="16897665" y="0"/>
                </a:lnTo>
                <a:lnTo>
                  <a:pt x="16897665" y="6206000"/>
                </a:lnTo>
                <a:lnTo>
                  <a:pt x="0" y="6206000"/>
                </a:lnTo>
                <a:lnTo>
                  <a:pt x="0" y="0"/>
                </a:lnTo>
                <a:close/>
              </a:path>
            </a:pathLst>
          </a:custGeom>
          <a:blipFill>
            <a:blip r:embed="rId5"/>
            <a:stretch>
              <a:fillRect l="0" t="-99511" r="0" b="-443"/>
            </a:stretch>
          </a:blipFill>
        </p:spPr>
      </p:sp>
      <p:sp>
        <p:nvSpPr>
          <p:cNvPr name="TextBox 8" id="8"/>
          <p:cNvSpPr txBox="true"/>
          <p:nvPr/>
        </p:nvSpPr>
        <p:spPr>
          <a:xfrm rot="0">
            <a:off x="553022" y="9704832"/>
            <a:ext cx="2476500" cy="325755"/>
          </a:xfrm>
          <a:prstGeom prst="rect">
            <a:avLst/>
          </a:prstGeom>
        </p:spPr>
        <p:txBody>
          <a:bodyPr anchor="t" rtlCol="false" tIns="0" lIns="0" bIns="0" rIns="0">
            <a:spAutoFit/>
          </a:bodyPr>
          <a:lstStyle/>
          <a:p>
            <a:pPr algn="l">
              <a:lnSpc>
                <a:spcPts val="2520"/>
              </a:lnSpc>
            </a:pPr>
            <a:r>
              <a:rPr lang="en-US" sz="1800" b="true">
                <a:solidFill>
                  <a:srgbClr val="12100E"/>
                </a:solidFill>
                <a:latin typeface="Arimo Bold"/>
                <a:ea typeface="Arimo Bold"/>
                <a:cs typeface="Arimo Bold"/>
                <a:sym typeface="Arimo Bold"/>
              </a:rPr>
              <a:t>CELL FOUNDRY</a:t>
            </a:r>
          </a:p>
        </p:txBody>
      </p:sp>
      <p:sp>
        <p:nvSpPr>
          <p:cNvPr name="TextBox 9" id="9"/>
          <p:cNvSpPr txBox="true"/>
          <p:nvPr/>
        </p:nvSpPr>
        <p:spPr>
          <a:xfrm rot="0">
            <a:off x="12894183" y="9551289"/>
            <a:ext cx="5143500" cy="365760"/>
          </a:xfrm>
          <a:prstGeom prst="rect">
            <a:avLst/>
          </a:prstGeom>
        </p:spPr>
        <p:txBody>
          <a:bodyPr anchor="t" rtlCol="false" tIns="0" lIns="0" bIns="0" rIns="0">
            <a:spAutoFit/>
          </a:bodyPr>
          <a:lstStyle/>
          <a:p>
            <a:pPr algn="l">
              <a:lnSpc>
                <a:spcPts val="2940"/>
              </a:lnSpc>
            </a:pPr>
            <a:r>
              <a:rPr lang="en-US" sz="2100">
                <a:solidFill>
                  <a:srgbClr val="12100E"/>
                </a:solidFill>
                <a:latin typeface="Arimo"/>
                <a:ea typeface="Arimo"/>
                <a:cs typeface="Arimo"/>
                <a:sym typeface="Arimo"/>
              </a:rPr>
              <a:t>Meeting Title: Biweekly meet - 2</a:t>
            </a:r>
          </a:p>
        </p:txBody>
      </p:sp>
      <p:sp>
        <p:nvSpPr>
          <p:cNvPr name="TextBox 10" id="10"/>
          <p:cNvSpPr txBox="true"/>
          <p:nvPr/>
        </p:nvSpPr>
        <p:spPr>
          <a:xfrm rot="0">
            <a:off x="939070" y="2095500"/>
            <a:ext cx="11430000" cy="365760"/>
          </a:xfrm>
          <a:prstGeom prst="rect">
            <a:avLst/>
          </a:prstGeom>
        </p:spPr>
        <p:txBody>
          <a:bodyPr anchor="t" rtlCol="false" tIns="0" lIns="0" bIns="0" rIns="0">
            <a:spAutoFit/>
          </a:bodyPr>
          <a:lstStyle/>
          <a:p>
            <a:pPr algn="l">
              <a:lnSpc>
                <a:spcPts val="2940"/>
              </a:lnSpc>
            </a:pPr>
            <a:r>
              <a:rPr lang="en-US" sz="2100" b="true">
                <a:solidFill>
                  <a:srgbClr val="FE8213"/>
                </a:solidFill>
                <a:latin typeface="Arimo Bold"/>
                <a:ea typeface="Arimo Bold"/>
                <a:cs typeface="Arimo Bold"/>
                <a:sym typeface="Arimo Bold"/>
              </a:rPr>
              <a:t>6 · UPDATE SINCE 8 OCTOBER</a:t>
            </a:r>
          </a:p>
        </p:txBody>
      </p:sp>
      <p:sp>
        <p:nvSpPr>
          <p:cNvPr name="TextBox 11" id="11"/>
          <p:cNvSpPr txBox="true"/>
          <p:nvPr/>
        </p:nvSpPr>
        <p:spPr>
          <a:xfrm rot="0">
            <a:off x="939070" y="2390775"/>
            <a:ext cx="11906250" cy="948690"/>
          </a:xfrm>
          <a:prstGeom prst="rect">
            <a:avLst/>
          </a:prstGeom>
        </p:spPr>
        <p:txBody>
          <a:bodyPr anchor="t" rtlCol="false" tIns="0" lIns="0" bIns="0" rIns="0">
            <a:spAutoFit/>
          </a:bodyPr>
          <a:lstStyle/>
          <a:p>
            <a:pPr algn="l">
              <a:lnSpc>
                <a:spcPts val="7559"/>
              </a:lnSpc>
            </a:pPr>
            <a:r>
              <a:rPr lang="en-US" sz="5400" b="true">
                <a:solidFill>
                  <a:srgbClr val="12100E"/>
                </a:solidFill>
                <a:latin typeface="Arimo Bold"/>
                <a:ea typeface="Arimo Bold"/>
                <a:cs typeface="Arimo Bold"/>
                <a:sym typeface="Arimo Bold"/>
              </a:rPr>
              <a:t>Nicole’s Answer (15 October)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08907" y="9487211"/>
            <a:ext cx="639585" cy="0"/>
          </a:xfrm>
          <a:prstGeom prst="line">
            <a:avLst/>
          </a:prstGeom>
          <a:ln cap="flat" w="114300">
            <a:solidFill>
              <a:srgbClr val="FE8213"/>
            </a:solidFill>
            <a:prstDash val="solid"/>
            <a:headEnd type="none" len="sm" w="sm"/>
            <a:tailEnd type="none" len="sm" w="sm"/>
          </a:ln>
        </p:spPr>
      </p:sp>
      <p:sp>
        <p:nvSpPr>
          <p:cNvPr name="Freeform 3" id="3"/>
          <p:cNvSpPr/>
          <p:nvPr/>
        </p:nvSpPr>
        <p:spPr>
          <a:xfrm flipH="false" flipV="false" rot="0">
            <a:off x="553031" y="708008"/>
            <a:ext cx="5017743" cy="1298710"/>
          </a:xfrm>
          <a:custGeom>
            <a:avLst/>
            <a:gdLst/>
            <a:ahLst/>
            <a:cxnLst/>
            <a:rect r="r" b="b" t="t" l="l"/>
            <a:pathLst>
              <a:path h="1298710" w="5017743">
                <a:moveTo>
                  <a:pt x="0" y="0"/>
                </a:moveTo>
                <a:lnTo>
                  <a:pt x="5017743" y="0"/>
                </a:lnTo>
                <a:lnTo>
                  <a:pt x="5017743" y="1298710"/>
                </a:lnTo>
                <a:lnTo>
                  <a:pt x="0" y="1298710"/>
                </a:lnTo>
                <a:lnTo>
                  <a:pt x="0" y="0"/>
                </a:lnTo>
                <a:close/>
              </a:path>
            </a:pathLst>
          </a:custGeom>
          <a:blipFill>
            <a:blip r:embed="rId2"/>
            <a:stretch>
              <a:fillRect l="0" t="0" r="0" b="0"/>
            </a:stretch>
          </a:blipFill>
        </p:spPr>
      </p:sp>
      <p:sp>
        <p:nvSpPr>
          <p:cNvPr name="TextBox 4" id="4"/>
          <p:cNvSpPr txBox="true"/>
          <p:nvPr/>
        </p:nvSpPr>
        <p:spPr>
          <a:xfrm rot="0">
            <a:off x="553031" y="9723887"/>
            <a:ext cx="2230508" cy="309150"/>
          </a:xfrm>
          <a:prstGeom prst="rect">
            <a:avLst/>
          </a:prstGeom>
        </p:spPr>
        <p:txBody>
          <a:bodyPr anchor="t" rtlCol="false" tIns="0" lIns="0" bIns="0" rIns="0">
            <a:spAutoFit/>
          </a:bodyPr>
          <a:lstStyle/>
          <a:p>
            <a:pPr algn="l">
              <a:lnSpc>
                <a:spcPts val="2502"/>
              </a:lnSpc>
            </a:pPr>
            <a:r>
              <a:rPr lang="en-US" b="true" sz="1787" spc="-71">
                <a:solidFill>
                  <a:srgbClr val="12100E"/>
                </a:solidFill>
                <a:latin typeface="Open Sauce Heavy"/>
                <a:ea typeface="Open Sauce Heavy"/>
                <a:cs typeface="Open Sauce Heavy"/>
                <a:sym typeface="Open Sauce Heavy"/>
              </a:rPr>
              <a:t>CELL FOUNDRY</a:t>
            </a:r>
          </a:p>
        </p:txBody>
      </p:sp>
      <p:sp>
        <p:nvSpPr>
          <p:cNvPr name="TextBox 5" id="5"/>
          <p:cNvSpPr txBox="true"/>
          <p:nvPr/>
        </p:nvSpPr>
        <p:spPr>
          <a:xfrm rot="0">
            <a:off x="12894229" y="9560829"/>
            <a:ext cx="5034688" cy="364216"/>
          </a:xfrm>
          <a:prstGeom prst="rect">
            <a:avLst/>
          </a:prstGeom>
        </p:spPr>
        <p:txBody>
          <a:bodyPr anchor="t" rtlCol="false" tIns="0" lIns="0" bIns="0" rIns="0">
            <a:spAutoFit/>
          </a:bodyPr>
          <a:lstStyle/>
          <a:p>
            <a:pPr algn="l">
              <a:lnSpc>
                <a:spcPts val="3025"/>
              </a:lnSpc>
            </a:pPr>
            <a:r>
              <a:rPr lang="en-US" sz="2160" spc="-43">
                <a:solidFill>
                  <a:srgbClr val="12100E"/>
                </a:solidFill>
                <a:latin typeface="Noto Serif"/>
                <a:ea typeface="Noto Serif"/>
                <a:cs typeface="Noto Serif"/>
                <a:sym typeface="Noto Serif"/>
              </a:rPr>
              <a:t>Meeting Title: BiWeekly Meet - 2</a:t>
            </a:r>
          </a:p>
        </p:txBody>
      </p:sp>
      <p:sp>
        <p:nvSpPr>
          <p:cNvPr name="Freeform 6" id="6"/>
          <p:cNvSpPr/>
          <p:nvPr/>
        </p:nvSpPr>
        <p:spPr>
          <a:xfrm flipH="false" flipV="false" rot="0">
            <a:off x="13282690" y="835665"/>
            <a:ext cx="4646228" cy="1171053"/>
          </a:xfrm>
          <a:custGeom>
            <a:avLst/>
            <a:gdLst/>
            <a:ahLst/>
            <a:cxnLst/>
            <a:rect r="r" b="b" t="t" l="l"/>
            <a:pathLst>
              <a:path h="1171053" w="4646228">
                <a:moveTo>
                  <a:pt x="0" y="0"/>
                </a:moveTo>
                <a:lnTo>
                  <a:pt x="4646228" y="0"/>
                </a:lnTo>
                <a:lnTo>
                  <a:pt x="4646228" y="1171053"/>
                </a:lnTo>
                <a:lnTo>
                  <a:pt x="0" y="1171053"/>
                </a:lnTo>
                <a:lnTo>
                  <a:pt x="0" y="0"/>
                </a:lnTo>
                <a:close/>
              </a:path>
            </a:pathLst>
          </a:custGeom>
          <a:blipFill>
            <a:blip r:embed="rId3"/>
            <a:stretch>
              <a:fillRect l="0" t="-1044" r="0" b="-79123"/>
            </a:stretch>
          </a:blipFill>
        </p:spPr>
      </p:sp>
      <p:sp>
        <p:nvSpPr>
          <p:cNvPr name="TextBox 7" id="7"/>
          <p:cNvSpPr txBox="true"/>
          <p:nvPr/>
        </p:nvSpPr>
        <p:spPr>
          <a:xfrm rot="0">
            <a:off x="887748" y="1931402"/>
            <a:ext cx="11259406" cy="679450"/>
          </a:xfrm>
          <a:prstGeom prst="rect">
            <a:avLst/>
          </a:prstGeom>
        </p:spPr>
        <p:txBody>
          <a:bodyPr anchor="t" rtlCol="false" tIns="0" lIns="0" bIns="0" rIns="0">
            <a:spAutoFit/>
          </a:bodyPr>
          <a:lstStyle/>
          <a:p>
            <a:pPr algn="l">
              <a:lnSpc>
                <a:spcPts val="5599"/>
              </a:lnSpc>
            </a:pPr>
            <a:r>
              <a:rPr lang="en-US" sz="3999" b="true">
                <a:solidFill>
                  <a:srgbClr val="12100E"/>
                </a:solidFill>
                <a:latin typeface="Canva Sans Bold"/>
                <a:ea typeface="Canva Sans Bold"/>
                <a:cs typeface="Canva Sans Bold"/>
                <a:sym typeface="Canva Sans Bold"/>
              </a:rPr>
              <a:t>Communication with the IMES (Nicole)</a:t>
            </a:r>
          </a:p>
        </p:txBody>
      </p:sp>
      <p:sp>
        <p:nvSpPr>
          <p:cNvPr name="TextBox 8" id="8"/>
          <p:cNvSpPr txBox="true"/>
          <p:nvPr/>
        </p:nvSpPr>
        <p:spPr>
          <a:xfrm rot="0">
            <a:off x="887748" y="2858502"/>
            <a:ext cx="9109218" cy="763270"/>
          </a:xfrm>
          <a:prstGeom prst="rect">
            <a:avLst/>
          </a:prstGeom>
        </p:spPr>
        <p:txBody>
          <a:bodyPr anchor="t" rtlCol="false" tIns="0" lIns="0" bIns="0" rIns="0">
            <a:spAutoFit/>
          </a:bodyPr>
          <a:lstStyle/>
          <a:p>
            <a:pPr algn="l">
              <a:lnSpc>
                <a:spcPts val="3079"/>
              </a:lnSpc>
            </a:pPr>
            <a:r>
              <a:rPr lang="en-US" sz="2199" spc="-87">
                <a:solidFill>
                  <a:srgbClr val="12100E"/>
                </a:solidFill>
                <a:latin typeface="Open Sauce"/>
                <a:ea typeface="Open Sauce"/>
                <a:cs typeface="Open Sauce"/>
                <a:sym typeface="Open Sauce"/>
              </a:rPr>
              <a:t>PRIORITY: FAT PROPORTION (AREA)</a:t>
            </a:r>
          </a:p>
          <a:p>
            <a:pPr algn="l">
              <a:lnSpc>
                <a:spcPts val="3079"/>
              </a:lnSpc>
              <a:spcBef>
                <a:spcPct val="0"/>
              </a:spcBef>
            </a:pPr>
            <a:r>
              <a:rPr lang="en-US" sz="2199" spc="-87">
                <a:solidFill>
                  <a:srgbClr val="12100E"/>
                </a:solidFill>
                <a:latin typeface="Open Sauce"/>
                <a:ea typeface="Open Sauce"/>
                <a:cs typeface="Open Sauce"/>
                <a:sym typeface="Open Sauce"/>
              </a:rPr>
              <a:t>SECOND PRIORITY (CELL COUNTS)</a:t>
            </a:r>
          </a:p>
        </p:txBody>
      </p:sp>
      <p:sp>
        <p:nvSpPr>
          <p:cNvPr name="TextBox 9" id="9"/>
          <p:cNvSpPr txBox="true"/>
          <p:nvPr/>
        </p:nvSpPr>
        <p:spPr>
          <a:xfrm rot="0">
            <a:off x="887748" y="3869422"/>
            <a:ext cx="15854755" cy="1544320"/>
          </a:xfrm>
          <a:prstGeom prst="rect">
            <a:avLst/>
          </a:prstGeom>
        </p:spPr>
        <p:txBody>
          <a:bodyPr anchor="t" rtlCol="false" tIns="0" lIns="0" bIns="0" rIns="0">
            <a:spAutoFit/>
          </a:bodyPr>
          <a:lstStyle/>
          <a:p>
            <a:pPr algn="just">
              <a:lnSpc>
                <a:spcPts val="3079"/>
              </a:lnSpc>
              <a:spcBef>
                <a:spcPct val="0"/>
              </a:spcBef>
            </a:pPr>
            <a:r>
              <a:rPr lang="en-US" sz="2199" spc="-87">
                <a:solidFill>
                  <a:srgbClr val="12100E"/>
                </a:solidFill>
                <a:latin typeface="Open Sauce"/>
                <a:ea typeface="Open Sauce"/>
                <a:cs typeface="Open Sauce"/>
                <a:sym typeface="Open Sauce"/>
              </a:rPr>
              <a:t>M</a:t>
            </a:r>
            <a:r>
              <a:rPr lang="en-US" sz="2199" spc="-87">
                <a:solidFill>
                  <a:srgbClr val="12100E"/>
                </a:solidFill>
                <a:latin typeface="Open Sauce"/>
                <a:ea typeface="Open Sauce"/>
                <a:cs typeface="Open Sauce"/>
                <a:sym typeface="Open Sauce"/>
              </a:rPr>
              <a:t>OST IMPORTANT FOR USERS: THE AREA OCCUPIED BY FAT CELLS; COUNT IS SECONDARY.</a:t>
            </a:r>
          </a:p>
          <a:p>
            <a:pPr algn="just">
              <a:lnSpc>
                <a:spcPts val="3079"/>
              </a:lnSpc>
              <a:spcBef>
                <a:spcPct val="0"/>
              </a:spcBef>
            </a:pPr>
            <a:r>
              <a:rPr lang="en-US" sz="2199" spc="-87">
                <a:solidFill>
                  <a:srgbClr val="12100E"/>
                </a:solidFill>
                <a:latin typeface="Open Sauce"/>
                <a:ea typeface="Open Sauce"/>
                <a:cs typeface="Open Sauce"/>
                <a:sym typeface="Open Sauce"/>
              </a:rPr>
              <a:t>VERY OPEN TO SOMETHING NEW IF AREA CAN BE MEASURED BETTER THAN FROM SEGMENTED CELLS.</a:t>
            </a:r>
          </a:p>
          <a:p>
            <a:pPr algn="just">
              <a:lnSpc>
                <a:spcPts val="3079"/>
              </a:lnSpc>
              <a:spcBef>
                <a:spcPct val="0"/>
              </a:spcBef>
            </a:pPr>
            <a:r>
              <a:rPr lang="en-US" sz="2199" spc="-87">
                <a:solidFill>
                  <a:srgbClr val="12100E"/>
                </a:solidFill>
                <a:latin typeface="Open Sauce"/>
                <a:ea typeface="Open Sauce"/>
                <a:cs typeface="Open Sauce"/>
                <a:sym typeface="Open Sauce"/>
              </a:rPr>
              <a:t>ANY OPEN-SOURCE MODEL, IF IT CAN GO INTO THEIR APP (THE APP ITSELF CANNOT BE SHARED).</a:t>
            </a:r>
          </a:p>
          <a:p>
            <a:pPr algn="just">
              <a:lnSpc>
                <a:spcPts val="3079"/>
              </a:lnSpc>
              <a:spcBef>
                <a:spcPct val="0"/>
              </a:spcBef>
            </a:pPr>
            <a:r>
              <a:rPr lang="en-US" sz="2199" spc="-87">
                <a:solidFill>
                  <a:srgbClr val="12100E"/>
                </a:solidFill>
                <a:latin typeface="Open Sauce"/>
                <a:ea typeface="Open Sauce"/>
                <a:cs typeface="Open Sauce"/>
                <a:sym typeface="Open Sauce"/>
              </a:rPr>
              <a:t>NO HELD-OUT TEST SET EXISTS; RESULTS CHECKED BY EYE AND JUDGED 'STILL NOT VERY GOOD'</a:t>
            </a:r>
          </a:p>
        </p:txBody>
      </p:sp>
      <p:sp>
        <p:nvSpPr>
          <p:cNvPr name="TextBox 10" id="10"/>
          <p:cNvSpPr txBox="true"/>
          <p:nvPr/>
        </p:nvSpPr>
        <p:spPr>
          <a:xfrm rot="0">
            <a:off x="887748" y="6013859"/>
            <a:ext cx="4236839" cy="307022"/>
          </a:xfrm>
          <a:prstGeom prst="rect">
            <a:avLst/>
          </a:prstGeom>
        </p:spPr>
        <p:txBody>
          <a:bodyPr anchor="t" rtlCol="false" tIns="0" lIns="0" bIns="0" rIns="0">
            <a:spAutoFit/>
          </a:bodyPr>
          <a:lstStyle/>
          <a:p>
            <a:pPr algn="ctr">
              <a:lnSpc>
                <a:spcPts val="2502"/>
              </a:lnSpc>
              <a:spcBef>
                <a:spcPct val="0"/>
              </a:spcBef>
            </a:pPr>
            <a:r>
              <a:rPr lang="en-US" b="true" sz="1787" spc="-71">
                <a:solidFill>
                  <a:srgbClr val="12100E"/>
                </a:solidFill>
                <a:latin typeface="Open Sauce Heavy"/>
                <a:ea typeface="Open Sauce Heavy"/>
                <a:cs typeface="Open Sauce Heavy"/>
                <a:sym typeface="Open Sauce Heavy"/>
              </a:rPr>
              <a:t>NO TEST-SET NUMBER TO REPRODUCE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AutoShape 2" id="2"/>
          <p:cNvSpPr/>
          <p:nvPr/>
        </p:nvSpPr>
        <p:spPr>
          <a:xfrm>
            <a:off x="708907" y="9487211"/>
            <a:ext cx="639585" cy="0"/>
          </a:xfrm>
          <a:prstGeom prst="line">
            <a:avLst/>
          </a:prstGeom>
          <a:ln cap="flat" w="114300">
            <a:solidFill>
              <a:srgbClr val="FE8213"/>
            </a:solidFill>
            <a:prstDash val="solid"/>
            <a:headEnd type="none" len="sm" w="sm"/>
            <a:tailEnd type="none" len="sm" w="sm"/>
          </a:ln>
        </p:spPr>
      </p:sp>
      <p:sp>
        <p:nvSpPr>
          <p:cNvPr name="Freeform 3" id="3"/>
          <p:cNvSpPr/>
          <p:nvPr/>
        </p:nvSpPr>
        <p:spPr>
          <a:xfrm flipH="false" flipV="false" rot="0">
            <a:off x="553031" y="708008"/>
            <a:ext cx="5017743" cy="1298710"/>
          </a:xfrm>
          <a:custGeom>
            <a:avLst/>
            <a:gdLst/>
            <a:ahLst/>
            <a:cxnLst/>
            <a:rect r="r" b="b" t="t" l="l"/>
            <a:pathLst>
              <a:path h="1298710" w="5017743">
                <a:moveTo>
                  <a:pt x="0" y="0"/>
                </a:moveTo>
                <a:lnTo>
                  <a:pt x="5017743" y="0"/>
                </a:lnTo>
                <a:lnTo>
                  <a:pt x="5017743" y="1298710"/>
                </a:lnTo>
                <a:lnTo>
                  <a:pt x="0" y="1298710"/>
                </a:lnTo>
                <a:lnTo>
                  <a:pt x="0" y="0"/>
                </a:lnTo>
                <a:close/>
              </a:path>
            </a:pathLst>
          </a:custGeom>
          <a:blipFill>
            <a:blip r:embed="rId2"/>
            <a:stretch>
              <a:fillRect l="0" t="0" r="0" b="0"/>
            </a:stretch>
          </a:blipFill>
        </p:spPr>
      </p:sp>
      <p:sp>
        <p:nvSpPr>
          <p:cNvPr name="TextBox 4" id="4"/>
          <p:cNvSpPr txBox="true"/>
          <p:nvPr/>
        </p:nvSpPr>
        <p:spPr>
          <a:xfrm rot="0">
            <a:off x="553031" y="9723887"/>
            <a:ext cx="2230508" cy="309150"/>
          </a:xfrm>
          <a:prstGeom prst="rect">
            <a:avLst/>
          </a:prstGeom>
        </p:spPr>
        <p:txBody>
          <a:bodyPr anchor="t" rtlCol="false" tIns="0" lIns="0" bIns="0" rIns="0">
            <a:spAutoFit/>
          </a:bodyPr>
          <a:lstStyle/>
          <a:p>
            <a:pPr algn="l">
              <a:lnSpc>
                <a:spcPts val="2502"/>
              </a:lnSpc>
            </a:pPr>
            <a:r>
              <a:rPr lang="en-US" b="true" sz="1787" spc="-71">
                <a:solidFill>
                  <a:srgbClr val="12100E"/>
                </a:solidFill>
                <a:latin typeface="Open Sauce Heavy"/>
                <a:ea typeface="Open Sauce Heavy"/>
                <a:cs typeface="Open Sauce Heavy"/>
                <a:sym typeface="Open Sauce Heavy"/>
              </a:rPr>
              <a:t>CELL FOUNDRY</a:t>
            </a:r>
          </a:p>
        </p:txBody>
      </p:sp>
      <p:sp>
        <p:nvSpPr>
          <p:cNvPr name="TextBox 5" id="5"/>
          <p:cNvSpPr txBox="true"/>
          <p:nvPr/>
        </p:nvSpPr>
        <p:spPr>
          <a:xfrm rot="0">
            <a:off x="12894229" y="9560829"/>
            <a:ext cx="5034688" cy="364216"/>
          </a:xfrm>
          <a:prstGeom prst="rect">
            <a:avLst/>
          </a:prstGeom>
        </p:spPr>
        <p:txBody>
          <a:bodyPr anchor="t" rtlCol="false" tIns="0" lIns="0" bIns="0" rIns="0">
            <a:spAutoFit/>
          </a:bodyPr>
          <a:lstStyle/>
          <a:p>
            <a:pPr algn="l">
              <a:lnSpc>
                <a:spcPts val="3025"/>
              </a:lnSpc>
            </a:pPr>
            <a:r>
              <a:rPr lang="en-US" sz="2160" spc="-43">
                <a:solidFill>
                  <a:srgbClr val="12100E"/>
                </a:solidFill>
                <a:latin typeface="Noto Serif"/>
                <a:ea typeface="Noto Serif"/>
                <a:cs typeface="Noto Serif"/>
                <a:sym typeface="Noto Serif"/>
              </a:rPr>
              <a:t>Meeting Title: BiWeekly Meet - 2</a:t>
            </a:r>
          </a:p>
        </p:txBody>
      </p:sp>
      <p:sp>
        <p:nvSpPr>
          <p:cNvPr name="Freeform 6" id="6"/>
          <p:cNvSpPr/>
          <p:nvPr/>
        </p:nvSpPr>
        <p:spPr>
          <a:xfrm flipH="false" flipV="false" rot="0">
            <a:off x="13282690" y="835665"/>
            <a:ext cx="4646228" cy="1171053"/>
          </a:xfrm>
          <a:custGeom>
            <a:avLst/>
            <a:gdLst/>
            <a:ahLst/>
            <a:cxnLst/>
            <a:rect r="r" b="b" t="t" l="l"/>
            <a:pathLst>
              <a:path h="1171053" w="4646228">
                <a:moveTo>
                  <a:pt x="0" y="0"/>
                </a:moveTo>
                <a:lnTo>
                  <a:pt x="4646228" y="0"/>
                </a:lnTo>
                <a:lnTo>
                  <a:pt x="4646228" y="1171053"/>
                </a:lnTo>
                <a:lnTo>
                  <a:pt x="0" y="1171053"/>
                </a:lnTo>
                <a:lnTo>
                  <a:pt x="0" y="0"/>
                </a:lnTo>
                <a:close/>
              </a:path>
            </a:pathLst>
          </a:custGeom>
          <a:blipFill>
            <a:blip r:embed="rId3"/>
            <a:stretch>
              <a:fillRect l="0" t="-1044" r="0" b="-79123"/>
            </a:stretch>
          </a:blipFill>
        </p:spPr>
      </p:sp>
      <p:sp>
        <p:nvSpPr>
          <p:cNvPr name="TextBox 7" id="7"/>
          <p:cNvSpPr txBox="true"/>
          <p:nvPr/>
        </p:nvSpPr>
        <p:spPr>
          <a:xfrm rot="0">
            <a:off x="3291860" y="2317962"/>
            <a:ext cx="9525" cy="307022"/>
          </a:xfrm>
          <a:prstGeom prst="rect">
            <a:avLst/>
          </a:prstGeom>
        </p:spPr>
        <p:txBody>
          <a:bodyPr anchor="t" rtlCol="false" tIns="0" lIns="0" bIns="0" rIns="0">
            <a:spAutoFit/>
          </a:bodyPr>
          <a:lstStyle/>
          <a:p>
            <a:pPr algn="ctr">
              <a:lnSpc>
                <a:spcPts val="2502"/>
              </a:lnSpc>
              <a:spcBef>
                <a:spcPct val="0"/>
              </a:spcBef>
            </a:pPr>
          </a:p>
        </p:txBody>
      </p:sp>
      <p:sp>
        <p:nvSpPr>
          <p:cNvPr name="TextBox 8" id="8"/>
          <p:cNvSpPr txBox="true"/>
          <p:nvPr/>
        </p:nvSpPr>
        <p:spPr>
          <a:xfrm rot="0">
            <a:off x="831636" y="1919023"/>
            <a:ext cx="8614916" cy="1028700"/>
          </a:xfrm>
          <a:prstGeom prst="rect">
            <a:avLst/>
          </a:prstGeom>
        </p:spPr>
        <p:txBody>
          <a:bodyPr anchor="t" rtlCol="false" tIns="0" lIns="0" bIns="0" rIns="0">
            <a:spAutoFit/>
          </a:bodyPr>
          <a:lstStyle/>
          <a:p>
            <a:pPr algn="ctr">
              <a:lnSpc>
                <a:spcPts val="8400"/>
              </a:lnSpc>
            </a:pPr>
            <a:r>
              <a:rPr lang="en-US" sz="6000" b="true">
                <a:solidFill>
                  <a:srgbClr val="12100E"/>
                </a:solidFill>
                <a:latin typeface="Canva Sans Bold"/>
                <a:ea typeface="Canva Sans Bold"/>
                <a:cs typeface="Canva Sans Bold"/>
                <a:sym typeface="Canva Sans Bold"/>
              </a:rPr>
              <a:t>Metrics</a:t>
            </a:r>
            <a:r>
              <a:rPr lang="en-US" b="true" sz="6000">
                <a:solidFill>
                  <a:srgbClr val="12100E"/>
                </a:solidFill>
                <a:latin typeface="Canva Sans Bold"/>
                <a:ea typeface="Canva Sans Bold"/>
                <a:cs typeface="Canva Sans Bold"/>
                <a:sym typeface="Canva Sans Bold"/>
              </a:rPr>
              <a:t> : what is known</a:t>
            </a:r>
          </a:p>
        </p:txBody>
      </p:sp>
      <p:sp>
        <p:nvSpPr>
          <p:cNvPr name="TextBox 9" id="9"/>
          <p:cNvSpPr txBox="true"/>
          <p:nvPr/>
        </p:nvSpPr>
        <p:spPr>
          <a:xfrm rot="0">
            <a:off x="831636" y="3025034"/>
            <a:ext cx="10208344" cy="763270"/>
          </a:xfrm>
          <a:prstGeom prst="rect">
            <a:avLst/>
          </a:prstGeom>
        </p:spPr>
        <p:txBody>
          <a:bodyPr anchor="t" rtlCol="false" tIns="0" lIns="0" bIns="0" rIns="0">
            <a:spAutoFit/>
          </a:bodyPr>
          <a:lstStyle/>
          <a:p>
            <a:pPr algn="just">
              <a:lnSpc>
                <a:spcPts val="3079"/>
              </a:lnSpc>
            </a:pPr>
            <a:r>
              <a:rPr lang="en-US" sz="2199" spc="-87">
                <a:solidFill>
                  <a:srgbClr val="12100E"/>
                </a:solidFill>
                <a:latin typeface="Open Sauce"/>
                <a:ea typeface="Open Sauce"/>
                <a:cs typeface="Open Sauce"/>
                <a:sym typeface="Open Sauce"/>
              </a:rPr>
              <a:t>PIXEL LEVEL: DICE, IOU, PRECISION, RECALL. (FAT REGION)</a:t>
            </a:r>
          </a:p>
          <a:p>
            <a:pPr algn="just">
              <a:lnSpc>
                <a:spcPts val="3079"/>
              </a:lnSpc>
              <a:spcBef>
                <a:spcPct val="0"/>
              </a:spcBef>
            </a:pPr>
            <a:r>
              <a:rPr lang="en-US" sz="2199" spc="-87">
                <a:solidFill>
                  <a:srgbClr val="12100E"/>
                </a:solidFill>
                <a:latin typeface="Open Sauce"/>
                <a:ea typeface="Open Sauce"/>
                <a:cs typeface="Open Sauce"/>
                <a:sym typeface="Open Sauce"/>
              </a:rPr>
              <a:t>INSTANCE LEVEL: PRECISION, RECALL AND F1 AT IOU 0.5. (INDIVIDUAL FAT CELLS)</a:t>
            </a:r>
          </a:p>
        </p:txBody>
      </p:sp>
      <p:sp>
        <p:nvSpPr>
          <p:cNvPr name="TextBox 10" id="10"/>
          <p:cNvSpPr txBox="true"/>
          <p:nvPr/>
        </p:nvSpPr>
        <p:spPr>
          <a:xfrm rot="0">
            <a:off x="811023" y="3864504"/>
            <a:ext cx="8635529" cy="372745"/>
          </a:xfrm>
          <a:prstGeom prst="rect">
            <a:avLst/>
          </a:prstGeom>
        </p:spPr>
        <p:txBody>
          <a:bodyPr anchor="t" rtlCol="false" tIns="0" lIns="0" bIns="0" rIns="0">
            <a:spAutoFit/>
          </a:bodyPr>
          <a:lstStyle/>
          <a:p>
            <a:pPr algn="ctr">
              <a:lnSpc>
                <a:spcPts val="3079"/>
              </a:lnSpc>
              <a:spcBef>
                <a:spcPct val="0"/>
              </a:spcBef>
            </a:pPr>
            <a:r>
              <a:rPr lang="en-US" b="true" sz="2199" spc="-87">
                <a:solidFill>
                  <a:srgbClr val="12100E"/>
                </a:solidFill>
                <a:latin typeface="Open Sauce Bold"/>
                <a:ea typeface="Open Sauce Bold"/>
                <a:cs typeface="Open Sauce Bold"/>
                <a:sym typeface="Open Sauce Bold"/>
              </a:rPr>
              <a:t>COULD BE ADDED: RELATIVE AREA ERROR, THE PRIMARY OUTPUT.</a:t>
            </a:r>
          </a:p>
        </p:txBody>
      </p:sp>
      <p:sp>
        <p:nvSpPr>
          <p:cNvPr name="TextBox 11" id="11"/>
          <p:cNvSpPr txBox="true"/>
          <p:nvPr/>
        </p:nvSpPr>
        <p:spPr>
          <a:xfrm rot="0">
            <a:off x="811023" y="4381500"/>
            <a:ext cx="6869534" cy="1028700"/>
          </a:xfrm>
          <a:prstGeom prst="rect">
            <a:avLst/>
          </a:prstGeom>
        </p:spPr>
        <p:txBody>
          <a:bodyPr anchor="t" rtlCol="false" tIns="0" lIns="0" bIns="0" rIns="0">
            <a:spAutoFit/>
          </a:bodyPr>
          <a:lstStyle/>
          <a:p>
            <a:pPr algn="ctr">
              <a:lnSpc>
                <a:spcPts val="8400"/>
              </a:lnSpc>
            </a:pPr>
            <a:r>
              <a:rPr lang="en-US" sz="6000" b="true">
                <a:solidFill>
                  <a:srgbClr val="12100E"/>
                </a:solidFill>
                <a:latin typeface="Canva Sans Bold"/>
                <a:ea typeface="Canva Sans Bold"/>
                <a:cs typeface="Canva Sans Bold"/>
                <a:sym typeface="Canva Sans Bold"/>
              </a:rPr>
              <a:t>No Benchmark yet</a:t>
            </a:r>
          </a:p>
        </p:txBody>
      </p:sp>
      <p:sp>
        <p:nvSpPr>
          <p:cNvPr name="TextBox 12" id="12"/>
          <p:cNvSpPr txBox="true"/>
          <p:nvPr/>
        </p:nvSpPr>
        <p:spPr>
          <a:xfrm rot="0">
            <a:off x="867731" y="5392653"/>
            <a:ext cx="11844048" cy="763270"/>
          </a:xfrm>
          <a:prstGeom prst="rect">
            <a:avLst/>
          </a:prstGeom>
        </p:spPr>
        <p:txBody>
          <a:bodyPr anchor="t" rtlCol="false" tIns="0" lIns="0" bIns="0" rIns="0">
            <a:spAutoFit/>
          </a:bodyPr>
          <a:lstStyle/>
          <a:p>
            <a:pPr algn="l">
              <a:lnSpc>
                <a:spcPts val="3079"/>
              </a:lnSpc>
              <a:spcBef>
                <a:spcPct val="0"/>
              </a:spcBef>
            </a:pPr>
            <a:r>
              <a:rPr lang="en-US" sz="2199" spc="-87">
                <a:solidFill>
                  <a:srgbClr val="12100E"/>
                </a:solidFill>
                <a:latin typeface="Open Sauce"/>
                <a:ea typeface="Open Sauce"/>
                <a:cs typeface="Open Sauce"/>
                <a:sym typeface="Open Sauce"/>
              </a:rPr>
              <a:t>N</a:t>
            </a:r>
            <a:r>
              <a:rPr lang="en-US" sz="2199" spc="-87">
                <a:solidFill>
                  <a:srgbClr val="12100E"/>
                </a:solidFill>
                <a:latin typeface="Open Sauce"/>
                <a:ea typeface="Open Sauce"/>
                <a:cs typeface="Open Sauce"/>
                <a:sym typeface="Open Sauce"/>
              </a:rPr>
              <a:t>O TEST SET. NO NUMBER FOR THEIR APP GIVEN</a:t>
            </a:r>
          </a:p>
          <a:p>
            <a:pPr algn="l">
              <a:lnSpc>
                <a:spcPts val="3079"/>
              </a:lnSpc>
              <a:spcBef>
                <a:spcPct val="0"/>
              </a:spcBef>
            </a:pPr>
            <a:r>
              <a:rPr lang="en-US" sz="2199" spc="-87">
                <a:solidFill>
                  <a:srgbClr val="12100E"/>
                </a:solidFill>
                <a:latin typeface="Open Sauce"/>
                <a:ea typeface="Open Sauce"/>
                <a:cs typeface="Open Sauce"/>
                <a:sym typeface="Open Sauce"/>
              </a:rPr>
              <a:t>VALIDATION ON 12 RANDOM PATCHES FROM 6 HELD-OUT IMAGES (22 TRAIN, 6 VALIDATION).</a:t>
            </a:r>
          </a:p>
        </p:txBody>
      </p:sp>
      <p:sp>
        <p:nvSpPr>
          <p:cNvPr name="TextBox 13" id="13"/>
          <p:cNvSpPr txBox="true"/>
          <p:nvPr/>
        </p:nvSpPr>
        <p:spPr>
          <a:xfrm rot="0">
            <a:off x="811023" y="6262155"/>
            <a:ext cx="12071449" cy="1028700"/>
          </a:xfrm>
          <a:prstGeom prst="rect">
            <a:avLst/>
          </a:prstGeom>
        </p:spPr>
        <p:txBody>
          <a:bodyPr anchor="t" rtlCol="false" tIns="0" lIns="0" bIns="0" rIns="0">
            <a:spAutoFit/>
          </a:bodyPr>
          <a:lstStyle/>
          <a:p>
            <a:pPr algn="ctr">
              <a:lnSpc>
                <a:spcPts val="8400"/>
              </a:lnSpc>
            </a:pPr>
            <a:r>
              <a:rPr lang="en-US" sz="6000" b="true">
                <a:solidFill>
                  <a:srgbClr val="12100E"/>
                </a:solidFill>
                <a:latin typeface="Canva Sans Bold"/>
                <a:ea typeface="Canva Sans Bold"/>
                <a:cs typeface="Canva Sans Bold"/>
                <a:sym typeface="Canva Sans Bold"/>
              </a:rPr>
              <a:t>No Explanation on the filenames</a:t>
            </a:r>
          </a:p>
        </p:txBody>
      </p:sp>
      <p:sp>
        <p:nvSpPr>
          <p:cNvPr name="TextBox 14" id="14"/>
          <p:cNvSpPr txBox="true"/>
          <p:nvPr/>
        </p:nvSpPr>
        <p:spPr>
          <a:xfrm rot="0">
            <a:off x="9139238" y="4970939"/>
            <a:ext cx="9525" cy="307022"/>
          </a:xfrm>
          <a:prstGeom prst="rect">
            <a:avLst/>
          </a:prstGeom>
        </p:spPr>
        <p:txBody>
          <a:bodyPr anchor="t" rtlCol="false" tIns="0" lIns="0" bIns="0" rIns="0">
            <a:spAutoFit/>
          </a:bodyPr>
          <a:lstStyle/>
          <a:p>
            <a:pPr algn="ctr">
              <a:lnSpc>
                <a:spcPts val="2502"/>
              </a:lnSpc>
              <a:spcBef>
                <a:spcPct val="0"/>
              </a:spcBef>
            </a:pPr>
          </a:p>
        </p:txBody>
      </p:sp>
      <p:sp>
        <p:nvSpPr>
          <p:cNvPr name="TextBox 15" id="15"/>
          <p:cNvSpPr txBox="true"/>
          <p:nvPr/>
        </p:nvSpPr>
        <p:spPr>
          <a:xfrm rot="0">
            <a:off x="867731" y="7605180"/>
            <a:ext cx="18288000" cy="763270"/>
          </a:xfrm>
          <a:prstGeom prst="rect">
            <a:avLst/>
          </a:prstGeom>
        </p:spPr>
        <p:txBody>
          <a:bodyPr anchor="t" rtlCol="false" tIns="0" lIns="0" bIns="0" rIns="0">
            <a:spAutoFit/>
          </a:bodyPr>
          <a:lstStyle/>
          <a:p>
            <a:pPr algn="just">
              <a:lnSpc>
                <a:spcPts val="3079"/>
              </a:lnSpc>
            </a:pPr>
            <a:r>
              <a:rPr lang="en-US" sz="2199" spc="-87">
                <a:solidFill>
                  <a:srgbClr val="12100E"/>
                </a:solidFill>
                <a:latin typeface="Open Sauce"/>
                <a:ea typeface="Open Sauce"/>
                <a:cs typeface="Open Sauce"/>
                <a:sym typeface="Open Sauce"/>
              </a:rPr>
              <a:t>OUR INFERENCE:  POSITIV / DIFF HAVE 182 TO427 ANNOTATED CELLS AND 11–27% AREA </a:t>
            </a:r>
          </a:p>
          <a:p>
            <a:pPr algn="just">
              <a:lnSpc>
                <a:spcPts val="3079"/>
              </a:lnSpc>
              <a:spcBef>
                <a:spcPct val="0"/>
              </a:spcBef>
            </a:pPr>
            <a:r>
              <a:rPr lang="en-US" sz="2199" spc="-87">
                <a:solidFill>
                  <a:srgbClr val="12100E"/>
                </a:solidFill>
                <a:latin typeface="Open Sauce"/>
                <a:ea typeface="Open Sauce"/>
                <a:cs typeface="Open Sauce"/>
                <a:sym typeface="Open Sauce"/>
              </a:rPr>
              <a:t>NEGATIV / CTRL HAVE 2–5 CELLS AND ABOUT 0.1–0.3% AREA.</a:t>
            </a:r>
          </a:p>
        </p:txBody>
      </p:sp>
      <p:sp>
        <p:nvSpPr>
          <p:cNvPr name="TextBox 16" id="16"/>
          <p:cNvSpPr txBox="true"/>
          <p:nvPr/>
        </p:nvSpPr>
        <p:spPr>
          <a:xfrm rot="0">
            <a:off x="896041" y="8358925"/>
            <a:ext cx="16363259" cy="372745"/>
          </a:xfrm>
          <a:prstGeom prst="rect">
            <a:avLst/>
          </a:prstGeom>
        </p:spPr>
        <p:txBody>
          <a:bodyPr anchor="t" rtlCol="false" tIns="0" lIns="0" bIns="0" rIns="0">
            <a:spAutoFit/>
          </a:bodyPr>
          <a:lstStyle/>
          <a:p>
            <a:pPr algn="l">
              <a:lnSpc>
                <a:spcPts val="3079"/>
              </a:lnSpc>
              <a:spcBef>
                <a:spcPct val="0"/>
              </a:spcBef>
            </a:pPr>
            <a:r>
              <a:rPr lang="en-US" sz="2199" spc="-87">
                <a:solidFill>
                  <a:srgbClr val="12100E"/>
                </a:solidFill>
                <a:latin typeface="Open Sauce"/>
                <a:ea typeface="Open Sauce"/>
                <a:cs typeface="Open Sauce"/>
                <a:sym typeface="Open Sauce"/>
              </a:rPr>
              <a:t>HOWEVER, IMES RESULTS DON’T DEPEND ON THE TYPE, BUT COULD BE USEFUL TO FIND DIFFERENTIATION STATES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AutoShape 2" id="2"/>
          <p:cNvSpPr/>
          <p:nvPr/>
        </p:nvSpPr>
        <p:spPr>
          <a:xfrm>
            <a:off x="708907" y="9487211"/>
            <a:ext cx="639585" cy="0"/>
          </a:xfrm>
          <a:prstGeom prst="line">
            <a:avLst/>
          </a:prstGeom>
          <a:ln cap="flat" w="114300">
            <a:solidFill>
              <a:srgbClr val="FE8213"/>
            </a:solidFill>
            <a:prstDash val="solid"/>
            <a:headEnd type="none" len="sm" w="sm"/>
            <a:tailEnd type="none" len="sm" w="sm"/>
          </a:ln>
        </p:spPr>
      </p:sp>
      <p:sp>
        <p:nvSpPr>
          <p:cNvPr name="Freeform 3" id="3"/>
          <p:cNvSpPr/>
          <p:nvPr/>
        </p:nvSpPr>
        <p:spPr>
          <a:xfrm flipH="false" flipV="false" rot="0">
            <a:off x="553031" y="708008"/>
            <a:ext cx="5017743" cy="1298710"/>
          </a:xfrm>
          <a:custGeom>
            <a:avLst/>
            <a:gdLst/>
            <a:ahLst/>
            <a:cxnLst/>
            <a:rect r="r" b="b" t="t" l="l"/>
            <a:pathLst>
              <a:path h="1298710" w="5017743">
                <a:moveTo>
                  <a:pt x="0" y="0"/>
                </a:moveTo>
                <a:lnTo>
                  <a:pt x="5017743" y="0"/>
                </a:lnTo>
                <a:lnTo>
                  <a:pt x="5017743" y="1298710"/>
                </a:lnTo>
                <a:lnTo>
                  <a:pt x="0" y="1298710"/>
                </a:lnTo>
                <a:lnTo>
                  <a:pt x="0" y="0"/>
                </a:lnTo>
                <a:close/>
              </a:path>
            </a:pathLst>
          </a:custGeom>
          <a:blipFill>
            <a:blip r:embed="rId2"/>
            <a:stretch>
              <a:fillRect l="0" t="0" r="0" b="0"/>
            </a:stretch>
          </a:blipFill>
        </p:spPr>
      </p:sp>
      <p:sp>
        <p:nvSpPr>
          <p:cNvPr name="Freeform 4" id="4"/>
          <p:cNvSpPr/>
          <p:nvPr/>
        </p:nvSpPr>
        <p:spPr>
          <a:xfrm flipH="false" flipV="false" rot="0">
            <a:off x="13282690" y="835665"/>
            <a:ext cx="4646228" cy="1171053"/>
          </a:xfrm>
          <a:custGeom>
            <a:avLst/>
            <a:gdLst/>
            <a:ahLst/>
            <a:cxnLst/>
            <a:rect r="r" b="b" t="t" l="l"/>
            <a:pathLst>
              <a:path h="1171053" w="4646228">
                <a:moveTo>
                  <a:pt x="0" y="0"/>
                </a:moveTo>
                <a:lnTo>
                  <a:pt x="4646228" y="0"/>
                </a:lnTo>
                <a:lnTo>
                  <a:pt x="4646228" y="1171053"/>
                </a:lnTo>
                <a:lnTo>
                  <a:pt x="0" y="1171053"/>
                </a:lnTo>
                <a:lnTo>
                  <a:pt x="0" y="0"/>
                </a:lnTo>
                <a:close/>
              </a:path>
            </a:pathLst>
          </a:custGeom>
          <a:blipFill>
            <a:blip r:embed="rId3"/>
            <a:stretch>
              <a:fillRect l="0" t="-1044" r="0" b="-79123"/>
            </a:stretch>
          </a:blipFill>
        </p:spPr>
      </p:sp>
      <p:sp>
        <p:nvSpPr>
          <p:cNvPr name="Freeform 5" id="5"/>
          <p:cNvSpPr/>
          <p:nvPr/>
        </p:nvSpPr>
        <p:spPr>
          <a:xfrm flipH="false" flipV="false" rot="0">
            <a:off x="708907" y="4369158"/>
            <a:ext cx="8973899" cy="4889142"/>
          </a:xfrm>
          <a:custGeom>
            <a:avLst/>
            <a:gdLst/>
            <a:ahLst/>
            <a:cxnLst/>
            <a:rect r="r" b="b" t="t" l="l"/>
            <a:pathLst>
              <a:path h="4889142" w="8973899">
                <a:moveTo>
                  <a:pt x="0" y="0"/>
                </a:moveTo>
                <a:lnTo>
                  <a:pt x="8973900" y="0"/>
                </a:lnTo>
                <a:lnTo>
                  <a:pt x="8973900" y="4889142"/>
                </a:lnTo>
                <a:lnTo>
                  <a:pt x="0" y="4889142"/>
                </a:lnTo>
                <a:lnTo>
                  <a:pt x="0" y="0"/>
                </a:lnTo>
                <a:close/>
              </a:path>
            </a:pathLst>
          </a:custGeom>
          <a:blipFill>
            <a:blip r:embed="rId4"/>
            <a:stretch>
              <a:fillRect l="0" t="-303" r="0" b="-303"/>
            </a:stretch>
          </a:blipFill>
        </p:spPr>
      </p:sp>
      <p:sp>
        <p:nvSpPr>
          <p:cNvPr name="TextBox 6" id="6"/>
          <p:cNvSpPr txBox="true"/>
          <p:nvPr/>
        </p:nvSpPr>
        <p:spPr>
          <a:xfrm rot="0">
            <a:off x="553031" y="9723887"/>
            <a:ext cx="2230508" cy="309150"/>
          </a:xfrm>
          <a:prstGeom prst="rect">
            <a:avLst/>
          </a:prstGeom>
        </p:spPr>
        <p:txBody>
          <a:bodyPr anchor="t" rtlCol="false" tIns="0" lIns="0" bIns="0" rIns="0">
            <a:spAutoFit/>
          </a:bodyPr>
          <a:lstStyle/>
          <a:p>
            <a:pPr algn="l">
              <a:lnSpc>
                <a:spcPts val="2502"/>
              </a:lnSpc>
            </a:pPr>
            <a:r>
              <a:rPr lang="en-US" b="true" sz="1787" spc="-71">
                <a:solidFill>
                  <a:srgbClr val="12100E"/>
                </a:solidFill>
                <a:latin typeface="Open Sauce Heavy"/>
                <a:ea typeface="Open Sauce Heavy"/>
                <a:cs typeface="Open Sauce Heavy"/>
                <a:sym typeface="Open Sauce Heavy"/>
              </a:rPr>
              <a:t>CELL FOUNDRY</a:t>
            </a:r>
          </a:p>
        </p:txBody>
      </p:sp>
      <p:sp>
        <p:nvSpPr>
          <p:cNvPr name="TextBox 7" id="7"/>
          <p:cNvSpPr txBox="true"/>
          <p:nvPr/>
        </p:nvSpPr>
        <p:spPr>
          <a:xfrm rot="0">
            <a:off x="12894229" y="9560829"/>
            <a:ext cx="5034688" cy="364216"/>
          </a:xfrm>
          <a:prstGeom prst="rect">
            <a:avLst/>
          </a:prstGeom>
        </p:spPr>
        <p:txBody>
          <a:bodyPr anchor="t" rtlCol="false" tIns="0" lIns="0" bIns="0" rIns="0">
            <a:spAutoFit/>
          </a:bodyPr>
          <a:lstStyle/>
          <a:p>
            <a:pPr algn="l">
              <a:lnSpc>
                <a:spcPts val="3025"/>
              </a:lnSpc>
            </a:pPr>
            <a:r>
              <a:rPr lang="en-US" sz="2160" spc="-43">
                <a:solidFill>
                  <a:srgbClr val="12100E"/>
                </a:solidFill>
                <a:latin typeface="Noto Serif"/>
                <a:ea typeface="Noto Serif"/>
                <a:cs typeface="Noto Serif"/>
                <a:sym typeface="Noto Serif"/>
              </a:rPr>
              <a:t>Meeting Title: BiWeekly Meet - 2</a:t>
            </a:r>
          </a:p>
        </p:txBody>
      </p:sp>
      <p:sp>
        <p:nvSpPr>
          <p:cNvPr name="TextBox 8" id="8"/>
          <p:cNvSpPr txBox="true"/>
          <p:nvPr/>
        </p:nvSpPr>
        <p:spPr>
          <a:xfrm rot="0">
            <a:off x="9139238" y="4970939"/>
            <a:ext cx="9525" cy="307022"/>
          </a:xfrm>
          <a:prstGeom prst="rect">
            <a:avLst/>
          </a:prstGeom>
        </p:spPr>
        <p:txBody>
          <a:bodyPr anchor="t" rtlCol="false" tIns="0" lIns="0" bIns="0" rIns="0">
            <a:spAutoFit/>
          </a:bodyPr>
          <a:lstStyle/>
          <a:p>
            <a:pPr algn="ctr">
              <a:lnSpc>
                <a:spcPts val="2502"/>
              </a:lnSpc>
              <a:spcBef>
                <a:spcPct val="0"/>
              </a:spcBef>
            </a:pPr>
          </a:p>
        </p:txBody>
      </p:sp>
      <p:grpSp>
        <p:nvGrpSpPr>
          <p:cNvPr name="Group 9" id="9"/>
          <p:cNvGrpSpPr/>
          <p:nvPr/>
        </p:nvGrpSpPr>
        <p:grpSpPr>
          <a:xfrm rot="0">
            <a:off x="708907" y="2006718"/>
            <a:ext cx="11872964" cy="2599419"/>
            <a:chOff x="0" y="0"/>
            <a:chExt cx="15830618" cy="3465892"/>
          </a:xfrm>
        </p:grpSpPr>
        <p:sp>
          <p:nvSpPr>
            <p:cNvPr name="TextBox 10" id="10"/>
            <p:cNvSpPr txBox="true"/>
            <p:nvPr/>
          </p:nvSpPr>
          <p:spPr>
            <a:xfrm rot="0">
              <a:off x="0" y="-114300"/>
              <a:ext cx="15830618" cy="1360267"/>
            </a:xfrm>
            <a:prstGeom prst="rect">
              <a:avLst/>
            </a:prstGeom>
          </p:spPr>
          <p:txBody>
            <a:bodyPr anchor="t" rtlCol="false" tIns="0" lIns="0" bIns="0" rIns="0">
              <a:spAutoFit/>
            </a:bodyPr>
            <a:lstStyle/>
            <a:p>
              <a:pPr algn="ctr">
                <a:lnSpc>
                  <a:spcPts val="8584"/>
                </a:lnSpc>
              </a:pPr>
              <a:r>
                <a:rPr lang="en-US" sz="6131" b="true">
                  <a:solidFill>
                    <a:srgbClr val="12100E"/>
                  </a:solidFill>
                  <a:latin typeface="Canva Sans Bold"/>
                  <a:ea typeface="Canva Sans Bold"/>
                  <a:cs typeface="Canva Sans Bold"/>
                  <a:sym typeface="Canva Sans Bold"/>
                </a:rPr>
                <a:t>Experimental Tracking (WandB)</a:t>
              </a:r>
            </a:p>
          </p:txBody>
        </p:sp>
        <p:sp>
          <p:nvSpPr>
            <p:cNvPr name="TextBox 11" id="11"/>
            <p:cNvSpPr txBox="true"/>
            <p:nvPr/>
          </p:nvSpPr>
          <p:spPr>
            <a:xfrm rot="0">
              <a:off x="46186" y="1375407"/>
              <a:ext cx="11401391" cy="2090485"/>
            </a:xfrm>
            <a:prstGeom prst="rect">
              <a:avLst/>
            </a:prstGeom>
          </p:spPr>
          <p:txBody>
            <a:bodyPr anchor="t" rtlCol="false" tIns="0" lIns="0" bIns="0" rIns="0">
              <a:spAutoFit/>
            </a:bodyPr>
            <a:lstStyle/>
            <a:p>
              <a:pPr algn="l">
                <a:lnSpc>
                  <a:spcPts val="3147"/>
                </a:lnSpc>
              </a:pPr>
              <a:r>
                <a:rPr lang="en-US" sz="2248" spc="-89">
                  <a:solidFill>
                    <a:srgbClr val="12100E"/>
                  </a:solidFill>
                  <a:latin typeface="Open Sauce"/>
                  <a:ea typeface="Open Sauce"/>
                  <a:cs typeface="Open Sauce"/>
                  <a:sym typeface="Open Sauce"/>
                </a:rPr>
                <a:t>KEEPS A RECORD OF EVERY EXPERIMENTS RUN</a:t>
              </a:r>
            </a:p>
            <a:p>
              <a:pPr algn="l">
                <a:lnSpc>
                  <a:spcPts val="3147"/>
                </a:lnSpc>
              </a:pPr>
              <a:r>
                <a:rPr lang="en-US" sz="2248" spc="-89">
                  <a:solidFill>
                    <a:srgbClr val="12100E"/>
                  </a:solidFill>
                  <a:latin typeface="Open Sauce"/>
                  <a:ea typeface="Open Sauce"/>
                  <a:cs typeface="Open Sauce"/>
                  <a:sym typeface="Open Sauce"/>
                </a:rPr>
                <a:t>IMES DATA IS NEVER UPLOADED TO THE SITE’S CLOUD</a:t>
              </a:r>
            </a:p>
            <a:p>
              <a:pPr algn="l">
                <a:lnSpc>
                  <a:spcPts val="3147"/>
                </a:lnSpc>
              </a:pPr>
              <a:r>
                <a:rPr lang="en-US" sz="2248" spc="-89">
                  <a:solidFill>
                    <a:srgbClr val="12100E"/>
                  </a:solidFill>
                  <a:latin typeface="Open Sauce"/>
                  <a:ea typeface="Open Sauce"/>
                  <a:cs typeface="Open Sauce"/>
                  <a:sym typeface="Open Sauce"/>
                </a:rPr>
                <a:t>EACH RUN - TIMESTAMPED FOLDERS, NOTHING IS OVERWRITTEN</a:t>
              </a:r>
            </a:p>
            <a:p>
              <a:pPr algn="l">
                <a:lnSpc>
                  <a:spcPts val="3147"/>
                </a:lnSpc>
                <a:spcBef>
                  <a:spcPct val="0"/>
                </a:spcBef>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AutoShape 2" id="2"/>
          <p:cNvSpPr/>
          <p:nvPr/>
        </p:nvSpPr>
        <p:spPr>
          <a:xfrm>
            <a:off x="708907" y="9487211"/>
            <a:ext cx="639585" cy="0"/>
          </a:xfrm>
          <a:prstGeom prst="line">
            <a:avLst/>
          </a:prstGeom>
          <a:ln cap="flat" w="114300">
            <a:solidFill>
              <a:srgbClr val="FE8213"/>
            </a:solidFill>
            <a:prstDash val="solid"/>
            <a:headEnd type="none" len="sm" w="sm"/>
            <a:tailEnd type="none" len="sm" w="sm"/>
          </a:ln>
        </p:spPr>
      </p:sp>
      <p:sp>
        <p:nvSpPr>
          <p:cNvPr name="Freeform 3" id="3"/>
          <p:cNvSpPr/>
          <p:nvPr/>
        </p:nvSpPr>
        <p:spPr>
          <a:xfrm flipH="false" flipV="false" rot="0">
            <a:off x="553031" y="708008"/>
            <a:ext cx="5017743" cy="1298710"/>
          </a:xfrm>
          <a:custGeom>
            <a:avLst/>
            <a:gdLst/>
            <a:ahLst/>
            <a:cxnLst/>
            <a:rect r="r" b="b" t="t" l="l"/>
            <a:pathLst>
              <a:path h="1298710" w="5017743">
                <a:moveTo>
                  <a:pt x="0" y="0"/>
                </a:moveTo>
                <a:lnTo>
                  <a:pt x="5017743" y="0"/>
                </a:lnTo>
                <a:lnTo>
                  <a:pt x="5017743" y="1298710"/>
                </a:lnTo>
                <a:lnTo>
                  <a:pt x="0" y="1298710"/>
                </a:lnTo>
                <a:lnTo>
                  <a:pt x="0" y="0"/>
                </a:lnTo>
                <a:close/>
              </a:path>
            </a:pathLst>
          </a:custGeom>
          <a:blipFill>
            <a:blip r:embed="rId2"/>
            <a:stretch>
              <a:fillRect l="0" t="0" r="0" b="0"/>
            </a:stretch>
          </a:blipFill>
        </p:spPr>
      </p:sp>
      <p:sp>
        <p:nvSpPr>
          <p:cNvPr name="Freeform 4" id="4"/>
          <p:cNvSpPr/>
          <p:nvPr/>
        </p:nvSpPr>
        <p:spPr>
          <a:xfrm flipH="false" flipV="false" rot="0">
            <a:off x="13282690" y="835665"/>
            <a:ext cx="4646228" cy="1171053"/>
          </a:xfrm>
          <a:custGeom>
            <a:avLst/>
            <a:gdLst/>
            <a:ahLst/>
            <a:cxnLst/>
            <a:rect r="r" b="b" t="t" l="l"/>
            <a:pathLst>
              <a:path h="1171053" w="4646228">
                <a:moveTo>
                  <a:pt x="0" y="0"/>
                </a:moveTo>
                <a:lnTo>
                  <a:pt x="4646228" y="0"/>
                </a:lnTo>
                <a:lnTo>
                  <a:pt x="4646228" y="1171053"/>
                </a:lnTo>
                <a:lnTo>
                  <a:pt x="0" y="1171053"/>
                </a:lnTo>
                <a:lnTo>
                  <a:pt x="0" y="0"/>
                </a:lnTo>
                <a:close/>
              </a:path>
            </a:pathLst>
          </a:custGeom>
          <a:blipFill>
            <a:blip r:embed="rId3"/>
            <a:stretch>
              <a:fillRect l="0" t="-1044" r="0" b="-79123"/>
            </a:stretch>
          </a:blipFill>
        </p:spPr>
      </p:sp>
      <p:sp>
        <p:nvSpPr>
          <p:cNvPr name="TextBox 5" id="5"/>
          <p:cNvSpPr txBox="true"/>
          <p:nvPr/>
        </p:nvSpPr>
        <p:spPr>
          <a:xfrm rot="0">
            <a:off x="553031" y="9723887"/>
            <a:ext cx="2230508" cy="309150"/>
          </a:xfrm>
          <a:prstGeom prst="rect">
            <a:avLst/>
          </a:prstGeom>
        </p:spPr>
        <p:txBody>
          <a:bodyPr anchor="t" rtlCol="false" tIns="0" lIns="0" bIns="0" rIns="0">
            <a:spAutoFit/>
          </a:bodyPr>
          <a:lstStyle/>
          <a:p>
            <a:pPr algn="l">
              <a:lnSpc>
                <a:spcPts val="2502"/>
              </a:lnSpc>
            </a:pPr>
            <a:r>
              <a:rPr lang="en-US" b="true" sz="1787" spc="-71">
                <a:solidFill>
                  <a:srgbClr val="12100E"/>
                </a:solidFill>
                <a:latin typeface="Open Sauce Heavy"/>
                <a:ea typeface="Open Sauce Heavy"/>
                <a:cs typeface="Open Sauce Heavy"/>
                <a:sym typeface="Open Sauce Heavy"/>
              </a:rPr>
              <a:t>CELL FOUNDRY</a:t>
            </a:r>
          </a:p>
        </p:txBody>
      </p:sp>
      <p:sp>
        <p:nvSpPr>
          <p:cNvPr name="TextBox 6" id="6"/>
          <p:cNvSpPr txBox="true"/>
          <p:nvPr/>
        </p:nvSpPr>
        <p:spPr>
          <a:xfrm rot="0">
            <a:off x="12894229" y="9560829"/>
            <a:ext cx="5034688" cy="364216"/>
          </a:xfrm>
          <a:prstGeom prst="rect">
            <a:avLst/>
          </a:prstGeom>
        </p:spPr>
        <p:txBody>
          <a:bodyPr anchor="t" rtlCol="false" tIns="0" lIns="0" bIns="0" rIns="0">
            <a:spAutoFit/>
          </a:bodyPr>
          <a:lstStyle/>
          <a:p>
            <a:pPr algn="l">
              <a:lnSpc>
                <a:spcPts val="3025"/>
              </a:lnSpc>
            </a:pPr>
            <a:r>
              <a:rPr lang="en-US" sz="2160" spc="-43">
                <a:solidFill>
                  <a:srgbClr val="12100E"/>
                </a:solidFill>
                <a:latin typeface="Noto Serif"/>
                <a:ea typeface="Noto Serif"/>
                <a:cs typeface="Noto Serif"/>
                <a:sym typeface="Noto Serif"/>
              </a:rPr>
              <a:t>Meeting Title: BiWeekly Meet - 2</a:t>
            </a:r>
          </a:p>
        </p:txBody>
      </p:sp>
      <p:grpSp>
        <p:nvGrpSpPr>
          <p:cNvPr name="Group 7" id="7"/>
          <p:cNvGrpSpPr/>
          <p:nvPr/>
        </p:nvGrpSpPr>
        <p:grpSpPr>
          <a:xfrm rot="0">
            <a:off x="844995" y="2161771"/>
            <a:ext cx="17221628" cy="5047850"/>
            <a:chOff x="0" y="0"/>
            <a:chExt cx="22962171" cy="6730466"/>
          </a:xfrm>
        </p:grpSpPr>
        <p:sp>
          <p:nvSpPr>
            <p:cNvPr name="TextBox 9" id="9"/>
            <p:cNvSpPr txBox="true"/>
            <p:nvPr/>
          </p:nvSpPr>
          <p:spPr>
            <a:xfrm rot="0">
              <a:off x="11083053" y="822537"/>
              <a:ext cx="12700" cy="396663"/>
            </a:xfrm>
            <a:prstGeom prst="rect">
              <a:avLst/>
            </a:prstGeom>
          </p:spPr>
          <p:txBody>
            <a:bodyPr anchor="t" rtlCol="false" tIns="0" lIns="0" bIns="0" rIns="0">
              <a:spAutoFit/>
            </a:bodyPr>
            <a:lstStyle/>
            <a:p>
              <a:pPr algn="ctr">
                <a:lnSpc>
                  <a:spcPts val="2502"/>
                </a:lnSpc>
                <a:spcBef>
                  <a:spcPct val="0"/>
                </a:spcBef>
              </a:pPr>
            </a:p>
          </p:txBody>
        </p:sp>
        <p:sp>
          <p:nvSpPr>
            <p:cNvPr name="TextBox 10" id="10"/>
            <p:cNvSpPr txBox="true"/>
            <p:nvPr/>
          </p:nvSpPr>
          <p:spPr>
            <a:xfrm rot="0">
              <a:off x="0" y="-114300"/>
              <a:ext cx="19545102" cy="1333500"/>
            </a:xfrm>
            <a:prstGeom prst="rect">
              <a:avLst/>
            </a:prstGeom>
          </p:spPr>
          <p:txBody>
            <a:bodyPr anchor="t" rtlCol="false" tIns="0" lIns="0" bIns="0" rIns="0">
              <a:spAutoFit/>
            </a:bodyPr>
            <a:lstStyle/>
            <a:p>
              <a:pPr algn="ctr">
                <a:lnSpc>
                  <a:spcPts val="8400"/>
                </a:lnSpc>
              </a:pPr>
              <a:r>
                <a:rPr lang="en-US" sz="6000" b="true">
                  <a:solidFill>
                    <a:srgbClr val="12100E"/>
                  </a:solidFill>
                  <a:latin typeface="Canva Sans Bold"/>
                  <a:ea typeface="Canva Sans Bold"/>
                  <a:cs typeface="Canva Sans Bold"/>
                  <a:sym typeface="Canva Sans Bold"/>
                </a:rPr>
                <a:t>Zero-s</a:t>
              </a:r>
              <a:r>
                <a:rPr lang="en-US" b="true" sz="6000">
                  <a:solidFill>
                    <a:srgbClr val="12100E"/>
                  </a:solidFill>
                  <a:latin typeface="Canva Sans Bold"/>
                  <a:ea typeface="Canva Sans Bold"/>
                  <a:cs typeface="Canva Sans Bold"/>
                  <a:sym typeface="Canva Sans Bold"/>
                </a:rPr>
                <a:t>hot results on porcine brightfield</a:t>
              </a:r>
            </a:p>
          </p:txBody>
        </p:sp>
        <p:sp>
          <p:nvSpPr>
            <p:cNvPr name="TextBox 11" id="11"/>
            <p:cNvSpPr txBox="true"/>
            <p:nvPr/>
          </p:nvSpPr>
          <p:spPr>
            <a:xfrm rot="0">
              <a:off x="10253142" y="1701635"/>
              <a:ext cx="12709029" cy="396663"/>
            </a:xfrm>
            <a:prstGeom prst="rect">
              <a:avLst/>
            </a:prstGeom>
          </p:spPr>
          <p:txBody>
            <a:bodyPr anchor="t" rtlCol="false" tIns="0" lIns="0" bIns="0" rIns="0">
              <a:spAutoFit/>
            </a:bodyPr>
            <a:lstStyle/>
            <a:p>
              <a:pPr algn="ctr">
                <a:lnSpc>
                  <a:spcPts val="2502"/>
                </a:lnSpc>
                <a:spcBef>
                  <a:spcPct val="0"/>
                </a:spcBef>
              </a:pPr>
              <a:r>
                <a:rPr lang="en-US" sz="1787" spc="-71">
                  <a:solidFill>
                    <a:srgbClr val="12100E"/>
                  </a:solidFill>
                  <a:latin typeface="Open Sauce"/>
                  <a:ea typeface="Open Sauce"/>
                  <a:cs typeface="Open Sauce"/>
                  <a:sym typeface="Open Sauce"/>
                </a:rPr>
                <a:t>FOR NOW: CPDINO-VITB BEST ZERO-SHOT OF THE FOUR WE TRIED, ON ONE IMAGE GROUP</a:t>
              </a:r>
            </a:p>
          </p:txBody>
        </p:sp>
      </p:grpSp>
      <p:graphicFrame>
        <p:nvGraphicFramePr>
          <p:cNvPr name="Table 8" id="8"/>
          <p:cNvGraphicFramePr>
            <a:graphicFrameLocks noGrp="true"/>
          </p:cNvGraphicFramePr>
          <p:nvPr/>
        </p:nvGraphicFramePr>
        <p:xfrm>
          <a:off x="14213" y="933050"/>
          <a:ext cx="7315200" cy="4114800"/>
        </p:xfrm>
        <a:graphic>
          <a:graphicData uri="http://schemas.openxmlformats.org/drawingml/2006/table">
            <a:tbl>
              <a:tblPr/>
              <a:tblGrid>
                <a:gridCol w="2438400"/>
                <a:gridCol w="2438400"/>
                <a:gridCol w="2438400"/>
              </a:tblGrid>
              <a:tr h="1028700">
                <a:tc>
                  <a:txBody>
                    <a:bodyPr anchor="t" rtlCol="false"/>
                    <a:lstStyle/>
                    <a:p>
                      <a:pPr algn="ctr">
                        <a:lnSpc>
                          <a:spcPts val="3202"/>
                        </a:lnSpc>
                        <a:defRPr/>
                      </a:pPr>
                      <a:r>
                        <a:rPr lang="en-US" sz="2287" b="true">
                          <a:solidFill>
                            <a:srgbClr val="000000"/>
                          </a:solidFill>
                          <a:latin typeface="Canva Sans Bold"/>
                          <a:ea typeface="Canva Sans Bold"/>
                          <a:cs typeface="Canva Sans Bold"/>
                          <a:sym typeface="Canva Sans Bold"/>
                        </a:rPr>
                        <a:t>Metric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02"/>
                        </a:lnSpc>
                        <a:defRPr/>
                      </a:pPr>
                      <a:r>
                        <a:rPr lang="en-US" sz="2287" b="true">
                          <a:solidFill>
                            <a:srgbClr val="000000"/>
                          </a:solidFill>
                          <a:latin typeface="Canva Sans Bold"/>
                          <a:ea typeface="Canva Sans Bold"/>
                          <a:cs typeface="Canva Sans Bold"/>
                          <a:sym typeface="Canva Sans Bold"/>
                        </a:rPr>
                        <a:t>cpdino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02"/>
                        </a:lnSpc>
                        <a:defRPr/>
                      </a:pPr>
                      <a:r>
                        <a:rPr lang="en-US" sz="2287" b="true">
                          <a:solidFill>
                            <a:srgbClr val="000000"/>
                          </a:solidFill>
                          <a:latin typeface="Canva Sans Bold"/>
                          <a:ea typeface="Canva Sans Bold"/>
                          <a:cs typeface="Canva Sans Bold"/>
                          <a:sym typeface="Canva Sans Bold"/>
                        </a:rPr>
                        <a:t>cpdino-vitb</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8700">
                <a:tc>
                  <a:txBody>
                    <a:bodyPr anchor="t" rtlCol="false"/>
                    <a:lstStyle/>
                    <a:p>
                      <a:pPr algn="l">
                        <a:lnSpc>
                          <a:spcPts val="2379"/>
                        </a:lnSpc>
                        <a:defRPr/>
                      </a:pPr>
                      <a:r>
                        <a:rPr lang="en-US" sz="1699">
                          <a:solidFill>
                            <a:srgbClr val="3B4455"/>
                          </a:solidFill>
                          <a:latin typeface="Canva Sans"/>
                          <a:ea typeface="Canva Sans"/>
                          <a:cs typeface="Canva Sans"/>
                          <a:sym typeface="Canva Sans"/>
                        </a:rPr>
                        <a:t>F1@0.5 (mean)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379"/>
                        </a:lnSpc>
                        <a:defRPr/>
                      </a:pPr>
                      <a:r>
                        <a:rPr lang="en-US" sz="1699">
                          <a:solidFill>
                            <a:srgbClr val="3B4455"/>
                          </a:solidFill>
                          <a:latin typeface="Canva Sans"/>
                          <a:ea typeface="Canva Sans"/>
                          <a:cs typeface="Canva Sans"/>
                          <a:sym typeface="Canva Sans"/>
                        </a:rPr>
                        <a:t>0.62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379"/>
                        </a:lnSpc>
                        <a:defRPr/>
                      </a:pPr>
                      <a:r>
                        <a:rPr lang="en-US" sz="1699">
                          <a:solidFill>
                            <a:srgbClr val="3B4455"/>
                          </a:solidFill>
                          <a:latin typeface="Canva Sans"/>
                          <a:ea typeface="Canva Sans"/>
                          <a:cs typeface="Canva Sans"/>
                          <a:sym typeface="Canva Sans"/>
                        </a:rPr>
                        <a:t>0.65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8700">
                <a:tc>
                  <a:txBody>
                    <a:bodyPr anchor="t" rtlCol="false"/>
                    <a:lstStyle/>
                    <a:p>
                      <a:pPr algn="l">
                        <a:lnSpc>
                          <a:spcPts val="2379"/>
                        </a:lnSpc>
                        <a:defRPr/>
                      </a:pPr>
                      <a:r>
                        <a:rPr lang="en-US" sz="1699">
                          <a:solidFill>
                            <a:srgbClr val="3B4455"/>
                          </a:solidFill>
                          <a:latin typeface="Canva Sans"/>
                          <a:ea typeface="Canva Sans"/>
                          <a:cs typeface="Canva Sans"/>
                          <a:sym typeface="Canva Sans"/>
                        </a:rPr>
                        <a:t>F1@0.75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379"/>
                        </a:lnSpc>
                        <a:defRPr/>
                      </a:pPr>
                      <a:r>
                        <a:rPr lang="en-US" sz="1699">
                          <a:solidFill>
                            <a:srgbClr val="3B4455"/>
                          </a:solidFill>
                          <a:latin typeface="Canva Sans"/>
                          <a:ea typeface="Canva Sans"/>
                          <a:cs typeface="Canva Sans"/>
                          <a:sym typeface="Canva Sans"/>
                        </a:rPr>
                        <a:t>0.38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379"/>
                        </a:lnSpc>
                        <a:defRPr/>
                      </a:pPr>
                      <a:r>
                        <a:rPr lang="en-US" sz="1699">
                          <a:solidFill>
                            <a:srgbClr val="3B4455"/>
                          </a:solidFill>
                          <a:latin typeface="Canva Sans"/>
                          <a:ea typeface="Canva Sans"/>
                          <a:cs typeface="Canva Sans"/>
                          <a:sym typeface="Canva Sans"/>
                        </a:rPr>
                        <a:t>0.37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8700">
                <a:tc>
                  <a:txBody>
                    <a:bodyPr anchor="t" rtlCol="false"/>
                    <a:lstStyle/>
                    <a:p>
                      <a:pPr algn="l">
                        <a:lnSpc>
                          <a:spcPts val="2379"/>
                        </a:lnSpc>
                        <a:defRPr/>
                      </a:pPr>
                      <a:r>
                        <a:rPr lang="en-US" sz="1699">
                          <a:solidFill>
                            <a:srgbClr val="3B4455"/>
                          </a:solidFill>
                          <a:latin typeface="Canva Sans"/>
                          <a:ea typeface="Canva Sans"/>
                          <a:cs typeface="Canva Sans"/>
                          <a:sym typeface="Canva Sans"/>
                        </a:rPr>
                        <a:t>Count error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379"/>
                        </a:lnSpc>
                        <a:defRPr/>
                      </a:pPr>
                      <a:r>
                        <a:rPr lang="en-US" sz="1699">
                          <a:solidFill>
                            <a:srgbClr val="3B4455"/>
                          </a:solidFill>
                          <a:latin typeface="Canva Sans"/>
                          <a:ea typeface="Canva Sans"/>
                          <a:cs typeface="Canva Sans"/>
                          <a:sym typeface="Canva Sans"/>
                        </a:rPr>
                        <a:t>+58%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379"/>
                        </a:lnSpc>
                        <a:defRPr/>
                      </a:pPr>
                      <a:r>
                        <a:rPr lang="en-US" sz="1699">
                          <a:solidFill>
                            <a:srgbClr val="3B4455"/>
                          </a:solidFill>
                          <a:latin typeface="Canva Sans"/>
                          <a:ea typeface="Canva Sans"/>
                          <a:cs typeface="Canva Sans"/>
                          <a:sym typeface="Canva Sans"/>
                        </a:rPr>
                        <a:t>−9%</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AutoShape 2" id="2"/>
          <p:cNvSpPr/>
          <p:nvPr/>
        </p:nvSpPr>
        <p:spPr>
          <a:xfrm>
            <a:off x="708907" y="9487211"/>
            <a:ext cx="639585" cy="0"/>
          </a:xfrm>
          <a:prstGeom prst="line">
            <a:avLst/>
          </a:prstGeom>
          <a:ln cap="flat" w="114300">
            <a:solidFill>
              <a:srgbClr val="FE8213"/>
            </a:solidFill>
            <a:prstDash val="solid"/>
            <a:headEnd type="none" len="sm" w="sm"/>
            <a:tailEnd type="none" len="sm" w="sm"/>
          </a:ln>
        </p:spPr>
      </p:sp>
      <p:sp>
        <p:nvSpPr>
          <p:cNvPr name="Freeform 3" id="3"/>
          <p:cNvSpPr/>
          <p:nvPr/>
        </p:nvSpPr>
        <p:spPr>
          <a:xfrm flipH="false" flipV="false" rot="0">
            <a:off x="553031" y="708008"/>
            <a:ext cx="5017743" cy="1298710"/>
          </a:xfrm>
          <a:custGeom>
            <a:avLst/>
            <a:gdLst/>
            <a:ahLst/>
            <a:cxnLst/>
            <a:rect r="r" b="b" t="t" l="l"/>
            <a:pathLst>
              <a:path h="1298710" w="5017743">
                <a:moveTo>
                  <a:pt x="0" y="0"/>
                </a:moveTo>
                <a:lnTo>
                  <a:pt x="5017743" y="0"/>
                </a:lnTo>
                <a:lnTo>
                  <a:pt x="5017743" y="1298710"/>
                </a:lnTo>
                <a:lnTo>
                  <a:pt x="0" y="1298710"/>
                </a:lnTo>
                <a:lnTo>
                  <a:pt x="0" y="0"/>
                </a:lnTo>
                <a:close/>
              </a:path>
            </a:pathLst>
          </a:custGeom>
          <a:blipFill>
            <a:blip r:embed="rId2"/>
            <a:stretch>
              <a:fillRect l="0" t="0" r="0" b="0"/>
            </a:stretch>
          </a:blipFill>
        </p:spPr>
      </p:sp>
      <p:sp>
        <p:nvSpPr>
          <p:cNvPr name="TextBox 4" id="4"/>
          <p:cNvSpPr txBox="true"/>
          <p:nvPr/>
        </p:nvSpPr>
        <p:spPr>
          <a:xfrm rot="0">
            <a:off x="553031" y="9723887"/>
            <a:ext cx="2230508" cy="309150"/>
          </a:xfrm>
          <a:prstGeom prst="rect">
            <a:avLst/>
          </a:prstGeom>
        </p:spPr>
        <p:txBody>
          <a:bodyPr anchor="t" rtlCol="false" tIns="0" lIns="0" bIns="0" rIns="0">
            <a:spAutoFit/>
          </a:bodyPr>
          <a:lstStyle/>
          <a:p>
            <a:pPr algn="l">
              <a:lnSpc>
                <a:spcPts val="2502"/>
              </a:lnSpc>
            </a:pPr>
            <a:r>
              <a:rPr lang="en-US" b="true" sz="1787" spc="-71">
                <a:solidFill>
                  <a:srgbClr val="12100E"/>
                </a:solidFill>
                <a:latin typeface="Open Sauce Heavy"/>
                <a:ea typeface="Open Sauce Heavy"/>
                <a:cs typeface="Open Sauce Heavy"/>
                <a:sym typeface="Open Sauce Heavy"/>
              </a:rPr>
              <a:t>CELL FOUNDRY</a:t>
            </a:r>
          </a:p>
        </p:txBody>
      </p:sp>
      <p:sp>
        <p:nvSpPr>
          <p:cNvPr name="TextBox 5" id="5"/>
          <p:cNvSpPr txBox="true"/>
          <p:nvPr/>
        </p:nvSpPr>
        <p:spPr>
          <a:xfrm rot="0">
            <a:off x="12894229" y="9560829"/>
            <a:ext cx="5034688" cy="364216"/>
          </a:xfrm>
          <a:prstGeom prst="rect">
            <a:avLst/>
          </a:prstGeom>
        </p:spPr>
        <p:txBody>
          <a:bodyPr anchor="t" rtlCol="false" tIns="0" lIns="0" bIns="0" rIns="0">
            <a:spAutoFit/>
          </a:bodyPr>
          <a:lstStyle/>
          <a:p>
            <a:pPr algn="l">
              <a:lnSpc>
                <a:spcPts val="3025"/>
              </a:lnSpc>
            </a:pPr>
            <a:r>
              <a:rPr lang="en-US" sz="2160" spc="-43">
                <a:solidFill>
                  <a:srgbClr val="12100E"/>
                </a:solidFill>
                <a:latin typeface="Noto Serif"/>
                <a:ea typeface="Noto Serif"/>
                <a:cs typeface="Noto Serif"/>
                <a:sym typeface="Noto Serif"/>
              </a:rPr>
              <a:t>Meeting Title: BiWeekly Meet - 2</a:t>
            </a:r>
          </a:p>
        </p:txBody>
      </p:sp>
      <p:sp>
        <p:nvSpPr>
          <p:cNvPr name="Freeform 6" id="6"/>
          <p:cNvSpPr/>
          <p:nvPr/>
        </p:nvSpPr>
        <p:spPr>
          <a:xfrm flipH="false" flipV="false" rot="0">
            <a:off x="13282690" y="835665"/>
            <a:ext cx="4646228" cy="1171053"/>
          </a:xfrm>
          <a:custGeom>
            <a:avLst/>
            <a:gdLst/>
            <a:ahLst/>
            <a:cxnLst/>
            <a:rect r="r" b="b" t="t" l="l"/>
            <a:pathLst>
              <a:path h="1171053" w="4646228">
                <a:moveTo>
                  <a:pt x="0" y="0"/>
                </a:moveTo>
                <a:lnTo>
                  <a:pt x="4646228" y="0"/>
                </a:lnTo>
                <a:lnTo>
                  <a:pt x="4646228" y="1171053"/>
                </a:lnTo>
                <a:lnTo>
                  <a:pt x="0" y="1171053"/>
                </a:lnTo>
                <a:lnTo>
                  <a:pt x="0" y="0"/>
                </a:lnTo>
                <a:close/>
              </a:path>
            </a:pathLst>
          </a:custGeom>
          <a:blipFill>
            <a:blip r:embed="rId3"/>
            <a:stretch>
              <a:fillRect l="0" t="-1044" r="0" b="-79123"/>
            </a:stretch>
          </a:blipFill>
        </p:spPr>
      </p:sp>
      <p:sp>
        <p:nvSpPr>
          <p:cNvPr name="TextBox 7" id="7"/>
          <p:cNvSpPr txBox="true"/>
          <p:nvPr/>
        </p:nvSpPr>
        <p:spPr>
          <a:xfrm rot="0">
            <a:off x="708907" y="1892418"/>
            <a:ext cx="16251659" cy="1028700"/>
          </a:xfrm>
          <a:prstGeom prst="rect">
            <a:avLst/>
          </a:prstGeom>
        </p:spPr>
        <p:txBody>
          <a:bodyPr anchor="t" rtlCol="false" tIns="0" lIns="0" bIns="0" rIns="0">
            <a:spAutoFit/>
          </a:bodyPr>
          <a:lstStyle/>
          <a:p>
            <a:pPr algn="ctr">
              <a:lnSpc>
                <a:spcPts val="8400"/>
              </a:lnSpc>
            </a:pPr>
            <a:r>
              <a:rPr lang="en-US" sz="6000" b="true">
                <a:solidFill>
                  <a:srgbClr val="12100E"/>
                </a:solidFill>
                <a:latin typeface="Canva Sans Bold"/>
                <a:ea typeface="Canva Sans Bold"/>
                <a:cs typeface="Canva Sans Bold"/>
                <a:sym typeface="Canva Sans Bold"/>
              </a:rPr>
              <a:t>If</a:t>
            </a:r>
            <a:r>
              <a:rPr lang="en-US" b="true" sz="6000">
                <a:solidFill>
                  <a:srgbClr val="12100E"/>
                </a:solidFill>
                <a:latin typeface="Canva Sans Bold"/>
                <a:ea typeface="Canva Sans Bold"/>
                <a:cs typeface="Canva Sans Bold"/>
                <a:sym typeface="Canva Sans Bold"/>
              </a:rPr>
              <a:t> area is the goal, why segment single cells?</a:t>
            </a:r>
          </a:p>
        </p:txBody>
      </p:sp>
      <p:sp>
        <p:nvSpPr>
          <p:cNvPr name="TextBox 8" id="8"/>
          <p:cNvSpPr txBox="true"/>
          <p:nvPr/>
        </p:nvSpPr>
        <p:spPr>
          <a:xfrm rot="0">
            <a:off x="708907" y="3292525"/>
            <a:ext cx="12513963" cy="763270"/>
          </a:xfrm>
          <a:prstGeom prst="rect">
            <a:avLst/>
          </a:prstGeom>
        </p:spPr>
        <p:txBody>
          <a:bodyPr anchor="t" rtlCol="false" tIns="0" lIns="0" bIns="0" rIns="0">
            <a:spAutoFit/>
          </a:bodyPr>
          <a:lstStyle/>
          <a:p>
            <a:pPr algn="l">
              <a:lnSpc>
                <a:spcPts val="3079"/>
              </a:lnSpc>
              <a:spcBef>
                <a:spcPct val="0"/>
              </a:spcBef>
            </a:pPr>
            <a:r>
              <a:rPr lang="en-US" sz="2199" spc="-87">
                <a:solidFill>
                  <a:srgbClr val="12100E"/>
                </a:solidFill>
                <a:latin typeface="Open Sauce"/>
                <a:ea typeface="Open Sauce"/>
                <a:cs typeface="Open Sauce"/>
                <a:sym typeface="Open Sauce"/>
              </a:rPr>
              <a:t>A</a:t>
            </a:r>
            <a:r>
              <a:rPr lang="en-US" sz="2199" spc="-87">
                <a:solidFill>
                  <a:srgbClr val="12100E"/>
                </a:solidFill>
                <a:latin typeface="Open Sauce"/>
                <a:ea typeface="Open Sauce"/>
                <a:cs typeface="Open Sauce"/>
                <a:sym typeface="Open Sauce"/>
              </a:rPr>
              <a:t> SEMANTIC TRACK FOR THE AREA METRIC</a:t>
            </a:r>
          </a:p>
          <a:p>
            <a:pPr algn="l">
              <a:lnSpc>
                <a:spcPts val="3079"/>
              </a:lnSpc>
              <a:spcBef>
                <a:spcPct val="0"/>
              </a:spcBef>
            </a:pPr>
            <a:r>
              <a:rPr lang="en-US" sz="2199" spc="-87">
                <a:solidFill>
                  <a:srgbClr val="12100E"/>
                </a:solidFill>
                <a:latin typeface="Open Sauce"/>
                <a:ea typeface="Open Sauce"/>
                <a:cs typeface="Open Sauce"/>
                <a:sym typeface="Open Sauce"/>
              </a:rPr>
              <a:t>LABEL EVERY PIXEL FAT OR NOT FAT; AREA PROPORTION COMES DIRECTLY.</a:t>
            </a:r>
          </a:p>
        </p:txBody>
      </p:sp>
      <p:sp>
        <p:nvSpPr>
          <p:cNvPr name="TextBox 9" id="9"/>
          <p:cNvSpPr txBox="true"/>
          <p:nvPr/>
        </p:nvSpPr>
        <p:spPr>
          <a:xfrm rot="0">
            <a:off x="708907" y="4267300"/>
            <a:ext cx="14142095" cy="372745"/>
          </a:xfrm>
          <a:prstGeom prst="rect">
            <a:avLst/>
          </a:prstGeom>
        </p:spPr>
        <p:txBody>
          <a:bodyPr anchor="t" rtlCol="false" tIns="0" lIns="0" bIns="0" rIns="0">
            <a:spAutoFit/>
          </a:bodyPr>
          <a:lstStyle/>
          <a:p>
            <a:pPr algn="l">
              <a:lnSpc>
                <a:spcPts val="3079"/>
              </a:lnSpc>
              <a:spcBef>
                <a:spcPct val="0"/>
              </a:spcBef>
            </a:pPr>
            <a:r>
              <a:rPr lang="en-US" sz="2199" spc="-87">
                <a:solidFill>
                  <a:srgbClr val="12100E"/>
                </a:solidFill>
                <a:latin typeface="Open Sauce"/>
                <a:ea typeface="Open Sauce"/>
                <a:cs typeface="Open Sauce"/>
                <a:sym typeface="Open Sauce"/>
              </a:rPr>
              <a:t>INSTANCE MASKS CAN BE TURNED INTO BINARY RESULTS → ANY PIXEL WITH A CELL NUMBER BECOMES "FAT"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08907" y="9487211"/>
            <a:ext cx="639585" cy="0"/>
          </a:xfrm>
          <a:prstGeom prst="line">
            <a:avLst/>
          </a:prstGeom>
          <a:ln cap="flat" w="114300">
            <a:solidFill>
              <a:srgbClr val="FE8213"/>
            </a:solidFill>
            <a:prstDash val="solid"/>
            <a:headEnd type="none" len="sm" w="sm"/>
            <a:tailEnd type="none" len="sm" w="sm"/>
          </a:ln>
        </p:spPr>
      </p:sp>
      <p:sp>
        <p:nvSpPr>
          <p:cNvPr name="Freeform 3" id="3"/>
          <p:cNvSpPr/>
          <p:nvPr/>
        </p:nvSpPr>
        <p:spPr>
          <a:xfrm flipH="false" flipV="false" rot="0">
            <a:off x="553031" y="708008"/>
            <a:ext cx="5017743" cy="1298710"/>
          </a:xfrm>
          <a:custGeom>
            <a:avLst/>
            <a:gdLst/>
            <a:ahLst/>
            <a:cxnLst/>
            <a:rect r="r" b="b" t="t" l="l"/>
            <a:pathLst>
              <a:path h="1298710" w="5017743">
                <a:moveTo>
                  <a:pt x="0" y="0"/>
                </a:moveTo>
                <a:lnTo>
                  <a:pt x="5017743" y="0"/>
                </a:lnTo>
                <a:lnTo>
                  <a:pt x="5017743" y="1298710"/>
                </a:lnTo>
                <a:lnTo>
                  <a:pt x="0" y="1298710"/>
                </a:lnTo>
                <a:lnTo>
                  <a:pt x="0" y="0"/>
                </a:lnTo>
                <a:close/>
              </a:path>
            </a:pathLst>
          </a:custGeom>
          <a:blipFill>
            <a:blip r:embed="rId2"/>
            <a:stretch>
              <a:fillRect l="0" t="0" r="0" b="0"/>
            </a:stretch>
          </a:blipFill>
        </p:spPr>
      </p:sp>
      <p:sp>
        <p:nvSpPr>
          <p:cNvPr name="TextBox 4" id="4"/>
          <p:cNvSpPr txBox="true"/>
          <p:nvPr/>
        </p:nvSpPr>
        <p:spPr>
          <a:xfrm rot="0">
            <a:off x="553031" y="9723887"/>
            <a:ext cx="2230508" cy="309150"/>
          </a:xfrm>
          <a:prstGeom prst="rect">
            <a:avLst/>
          </a:prstGeom>
        </p:spPr>
        <p:txBody>
          <a:bodyPr anchor="t" rtlCol="false" tIns="0" lIns="0" bIns="0" rIns="0">
            <a:spAutoFit/>
          </a:bodyPr>
          <a:lstStyle/>
          <a:p>
            <a:pPr algn="l">
              <a:lnSpc>
                <a:spcPts val="2502"/>
              </a:lnSpc>
            </a:pPr>
            <a:r>
              <a:rPr lang="en-US" b="true" sz="1787" spc="-71">
                <a:solidFill>
                  <a:srgbClr val="12100E"/>
                </a:solidFill>
                <a:latin typeface="Open Sauce Heavy"/>
                <a:ea typeface="Open Sauce Heavy"/>
                <a:cs typeface="Open Sauce Heavy"/>
                <a:sym typeface="Open Sauce Heavy"/>
              </a:rPr>
              <a:t>CELL FOUNDRY</a:t>
            </a:r>
          </a:p>
        </p:txBody>
      </p:sp>
      <p:sp>
        <p:nvSpPr>
          <p:cNvPr name="TextBox 5" id="5"/>
          <p:cNvSpPr txBox="true"/>
          <p:nvPr/>
        </p:nvSpPr>
        <p:spPr>
          <a:xfrm rot="0">
            <a:off x="12894229" y="9560829"/>
            <a:ext cx="5034688" cy="364216"/>
          </a:xfrm>
          <a:prstGeom prst="rect">
            <a:avLst/>
          </a:prstGeom>
        </p:spPr>
        <p:txBody>
          <a:bodyPr anchor="t" rtlCol="false" tIns="0" lIns="0" bIns="0" rIns="0">
            <a:spAutoFit/>
          </a:bodyPr>
          <a:lstStyle/>
          <a:p>
            <a:pPr algn="l">
              <a:lnSpc>
                <a:spcPts val="3025"/>
              </a:lnSpc>
            </a:pPr>
            <a:r>
              <a:rPr lang="en-US" sz="2160" spc="-43">
                <a:solidFill>
                  <a:srgbClr val="12100E"/>
                </a:solidFill>
                <a:latin typeface="Noto Serif"/>
                <a:ea typeface="Noto Serif"/>
                <a:cs typeface="Noto Serif"/>
                <a:sym typeface="Noto Serif"/>
              </a:rPr>
              <a:t>Meeting Title: BiWeekly Meet - 2</a:t>
            </a:r>
          </a:p>
        </p:txBody>
      </p:sp>
      <p:sp>
        <p:nvSpPr>
          <p:cNvPr name="Freeform 6" id="6"/>
          <p:cNvSpPr/>
          <p:nvPr/>
        </p:nvSpPr>
        <p:spPr>
          <a:xfrm flipH="false" flipV="false" rot="0">
            <a:off x="13282690" y="835665"/>
            <a:ext cx="4646228" cy="1171053"/>
          </a:xfrm>
          <a:custGeom>
            <a:avLst/>
            <a:gdLst/>
            <a:ahLst/>
            <a:cxnLst/>
            <a:rect r="r" b="b" t="t" l="l"/>
            <a:pathLst>
              <a:path h="1171053" w="4646228">
                <a:moveTo>
                  <a:pt x="0" y="0"/>
                </a:moveTo>
                <a:lnTo>
                  <a:pt x="4646228" y="0"/>
                </a:lnTo>
                <a:lnTo>
                  <a:pt x="4646228" y="1171053"/>
                </a:lnTo>
                <a:lnTo>
                  <a:pt x="0" y="1171053"/>
                </a:lnTo>
                <a:lnTo>
                  <a:pt x="0" y="0"/>
                </a:lnTo>
                <a:close/>
              </a:path>
            </a:pathLst>
          </a:custGeom>
          <a:blipFill>
            <a:blip r:embed="rId3"/>
            <a:stretch>
              <a:fillRect l="0" t="-1044" r="0" b="-79123"/>
            </a:stretch>
          </a:blipFill>
        </p:spPr>
      </p:sp>
      <p:grpSp>
        <p:nvGrpSpPr>
          <p:cNvPr name="Group 7" id="7"/>
          <p:cNvGrpSpPr/>
          <p:nvPr/>
        </p:nvGrpSpPr>
        <p:grpSpPr>
          <a:xfrm rot="0">
            <a:off x="708907" y="1860396"/>
            <a:ext cx="11625489" cy="5938482"/>
            <a:chOff x="0" y="0"/>
            <a:chExt cx="15500652" cy="7917975"/>
          </a:xfrm>
        </p:grpSpPr>
        <p:sp>
          <p:nvSpPr>
            <p:cNvPr name="TextBox 8" id="8"/>
            <p:cNvSpPr txBox="true"/>
            <p:nvPr/>
          </p:nvSpPr>
          <p:spPr>
            <a:xfrm rot="0">
              <a:off x="0" y="-114300"/>
              <a:ext cx="8941098" cy="1333500"/>
            </a:xfrm>
            <a:prstGeom prst="rect">
              <a:avLst/>
            </a:prstGeom>
          </p:spPr>
          <p:txBody>
            <a:bodyPr anchor="t" rtlCol="false" tIns="0" lIns="0" bIns="0" rIns="0">
              <a:spAutoFit/>
            </a:bodyPr>
            <a:lstStyle/>
            <a:p>
              <a:pPr algn="ctr">
                <a:lnSpc>
                  <a:spcPts val="8400"/>
                </a:lnSpc>
              </a:pPr>
              <a:r>
                <a:rPr lang="en-US" sz="6000" b="true">
                  <a:solidFill>
                    <a:srgbClr val="12100E"/>
                  </a:solidFill>
                  <a:latin typeface="Canva Sans Bold"/>
                  <a:ea typeface="Canva Sans Bold"/>
                  <a:cs typeface="Canva Sans Bold"/>
                  <a:sym typeface="Canva Sans Bold"/>
                </a:rPr>
                <a:t>Models to Explore</a:t>
              </a:r>
            </a:p>
          </p:txBody>
        </p:sp>
        <p:sp>
          <p:nvSpPr>
            <p:cNvPr name="TextBox 9" id="9"/>
            <p:cNvSpPr txBox="true"/>
            <p:nvPr/>
          </p:nvSpPr>
          <p:spPr>
            <a:xfrm rot="0">
              <a:off x="0" y="1273218"/>
              <a:ext cx="8550870" cy="1151043"/>
            </a:xfrm>
            <a:prstGeom prst="rect">
              <a:avLst/>
            </a:prstGeom>
          </p:spPr>
          <p:txBody>
            <a:bodyPr anchor="t" rtlCol="false" tIns="0" lIns="0" bIns="0" rIns="0">
              <a:spAutoFit/>
            </a:bodyPr>
            <a:lstStyle/>
            <a:p>
              <a:pPr algn="ctr">
                <a:lnSpc>
                  <a:spcPts val="7279"/>
                </a:lnSpc>
              </a:pPr>
              <a:r>
                <a:rPr lang="en-US" sz="5199" b="true">
                  <a:solidFill>
                    <a:srgbClr val="12100E"/>
                  </a:solidFill>
                  <a:latin typeface="Canva Sans Bold"/>
                  <a:ea typeface="Canva Sans Bold"/>
                  <a:cs typeface="Canva Sans Bold"/>
                  <a:sym typeface="Canva Sans Bold"/>
                </a:rPr>
                <a:t>If its Semantic track</a:t>
              </a:r>
            </a:p>
          </p:txBody>
        </p:sp>
        <p:sp>
          <p:nvSpPr>
            <p:cNvPr name="TextBox 10" id="10"/>
            <p:cNvSpPr txBox="true"/>
            <p:nvPr/>
          </p:nvSpPr>
          <p:spPr>
            <a:xfrm rot="0">
              <a:off x="0" y="2666313"/>
              <a:ext cx="1787922" cy="751628"/>
            </a:xfrm>
            <a:prstGeom prst="rect">
              <a:avLst/>
            </a:prstGeom>
          </p:spPr>
          <p:txBody>
            <a:bodyPr anchor="t" rtlCol="false" tIns="0" lIns="0" bIns="0" rIns="0">
              <a:spAutoFit/>
            </a:bodyPr>
            <a:lstStyle/>
            <a:p>
              <a:pPr algn="ctr">
                <a:lnSpc>
                  <a:spcPts val="4759"/>
                </a:lnSpc>
              </a:pPr>
              <a:r>
                <a:rPr lang="en-US" sz="3399">
                  <a:solidFill>
                    <a:srgbClr val="12100E"/>
                  </a:solidFill>
                  <a:latin typeface="Canva Sans"/>
                  <a:ea typeface="Canva Sans"/>
                  <a:cs typeface="Canva Sans"/>
                  <a:sym typeface="Canva Sans"/>
                </a:rPr>
                <a:t>U-N</a:t>
              </a:r>
              <a:r>
                <a:rPr lang="en-US" sz="3399">
                  <a:solidFill>
                    <a:srgbClr val="12100E"/>
                  </a:solidFill>
                  <a:latin typeface="Canva Sans"/>
                  <a:ea typeface="Canva Sans"/>
                  <a:cs typeface="Canva Sans"/>
                  <a:sym typeface="Canva Sans"/>
                </a:rPr>
                <a:t>et </a:t>
              </a:r>
            </a:p>
          </p:txBody>
        </p:sp>
        <p:sp>
          <p:nvSpPr>
            <p:cNvPr name="TextBox 11" id="11"/>
            <p:cNvSpPr txBox="true"/>
            <p:nvPr/>
          </p:nvSpPr>
          <p:spPr>
            <a:xfrm rot="0">
              <a:off x="0" y="3684642"/>
              <a:ext cx="15500652" cy="1004993"/>
            </a:xfrm>
            <a:prstGeom prst="rect">
              <a:avLst/>
            </a:prstGeom>
          </p:spPr>
          <p:txBody>
            <a:bodyPr anchor="t" rtlCol="false" tIns="0" lIns="0" bIns="0" rIns="0">
              <a:spAutoFit/>
            </a:bodyPr>
            <a:lstStyle/>
            <a:p>
              <a:pPr algn="l">
                <a:lnSpc>
                  <a:spcPts val="3079"/>
                </a:lnSpc>
                <a:spcBef>
                  <a:spcPct val="0"/>
                </a:spcBef>
              </a:pPr>
              <a:r>
                <a:rPr lang="en-US" sz="2199" spc="-87">
                  <a:solidFill>
                    <a:srgbClr val="12100E"/>
                  </a:solidFill>
                  <a:latin typeface="Open Sauce"/>
                  <a:ea typeface="Open Sauce"/>
                  <a:cs typeface="Open Sauce"/>
                  <a:sym typeface="Open Sauce"/>
                </a:rPr>
                <a:t>IT LABELS EVE</a:t>
              </a:r>
              <a:r>
                <a:rPr lang="en-US" sz="2199" spc="-87">
                  <a:solidFill>
                    <a:srgbClr val="12100E"/>
                  </a:solidFill>
                  <a:latin typeface="Open Sauce"/>
                  <a:ea typeface="Open Sauce"/>
                  <a:cs typeface="Open Sauce"/>
                  <a:sym typeface="Open Sauce"/>
                </a:rPr>
                <a:t>RY PIXEL (SEMANTIC). IT WAS MADE FOR BIOLOGY IMAGES WITH VERY FEW ANNOTATIONS.</a:t>
              </a:r>
            </a:p>
          </p:txBody>
        </p:sp>
        <p:sp>
          <p:nvSpPr>
            <p:cNvPr name="TextBox 12" id="12"/>
            <p:cNvSpPr txBox="true"/>
            <p:nvPr/>
          </p:nvSpPr>
          <p:spPr>
            <a:xfrm rot="0">
              <a:off x="0" y="4927760"/>
              <a:ext cx="2360712" cy="751628"/>
            </a:xfrm>
            <a:prstGeom prst="rect">
              <a:avLst/>
            </a:prstGeom>
          </p:spPr>
          <p:txBody>
            <a:bodyPr anchor="t" rtlCol="false" tIns="0" lIns="0" bIns="0" rIns="0">
              <a:spAutoFit/>
            </a:bodyPr>
            <a:lstStyle/>
            <a:p>
              <a:pPr algn="ctr">
                <a:lnSpc>
                  <a:spcPts val="4759"/>
                </a:lnSpc>
              </a:pPr>
              <a:r>
                <a:rPr lang="en-US" sz="3399">
                  <a:solidFill>
                    <a:srgbClr val="12100E"/>
                  </a:solidFill>
                  <a:latin typeface="Canva Sans"/>
                  <a:ea typeface="Canva Sans"/>
                  <a:cs typeface="Canva Sans"/>
                  <a:sym typeface="Canva Sans"/>
                </a:rPr>
                <a:t>nnU-N</a:t>
              </a:r>
              <a:r>
                <a:rPr lang="en-US" sz="3399">
                  <a:solidFill>
                    <a:srgbClr val="12100E"/>
                  </a:solidFill>
                  <a:latin typeface="Canva Sans"/>
                  <a:ea typeface="Canva Sans"/>
                  <a:cs typeface="Canva Sans"/>
                  <a:sym typeface="Canva Sans"/>
                </a:rPr>
                <a:t>et</a:t>
              </a:r>
            </a:p>
          </p:txBody>
        </p:sp>
        <p:sp>
          <p:nvSpPr>
            <p:cNvPr name="TextBox 13" id="13"/>
            <p:cNvSpPr txBox="true"/>
            <p:nvPr/>
          </p:nvSpPr>
          <p:spPr>
            <a:xfrm rot="0">
              <a:off x="0" y="5793689"/>
              <a:ext cx="11661661" cy="1525693"/>
            </a:xfrm>
            <a:prstGeom prst="rect">
              <a:avLst/>
            </a:prstGeom>
          </p:spPr>
          <p:txBody>
            <a:bodyPr anchor="t" rtlCol="false" tIns="0" lIns="0" bIns="0" rIns="0">
              <a:spAutoFit/>
            </a:bodyPr>
            <a:lstStyle/>
            <a:p>
              <a:pPr algn="l">
                <a:lnSpc>
                  <a:spcPts val="3079"/>
                </a:lnSpc>
                <a:spcBef>
                  <a:spcPct val="0"/>
                </a:spcBef>
              </a:pPr>
              <a:r>
                <a:rPr lang="en-US" sz="2199" spc="-87">
                  <a:solidFill>
                    <a:srgbClr val="12100E"/>
                  </a:solidFill>
                  <a:latin typeface="Open Sauce"/>
                  <a:ea typeface="Open Sauce"/>
                  <a:cs typeface="Open Sauce"/>
                  <a:sym typeface="Open Sauce"/>
                </a:rPr>
                <a:t>SETS</a:t>
              </a:r>
              <a:r>
                <a:rPr lang="en-US" sz="2199" spc="-87">
                  <a:solidFill>
                    <a:srgbClr val="12100E"/>
                  </a:solidFill>
                  <a:latin typeface="Open Sauce"/>
                  <a:ea typeface="Open Sauce"/>
                  <a:cs typeface="Open Sauce"/>
                  <a:sym typeface="Open Sauce"/>
                </a:rPr>
                <a:t> PATCH SIZE, DEPTH, BATCH SIZE, PREPROCESSING, TRAINING SCHEDULE AND POST-PROCESSING AUTOMATICALLY FROM THE DATASET'S PROPERTIES.</a:t>
              </a:r>
            </a:p>
          </p:txBody>
        </p:sp>
        <p:sp>
          <p:nvSpPr>
            <p:cNvPr name="TextBox 14" id="14"/>
            <p:cNvSpPr txBox="true"/>
            <p:nvPr/>
          </p:nvSpPr>
          <p:spPr>
            <a:xfrm rot="0">
              <a:off x="0" y="7433682"/>
              <a:ext cx="11001871" cy="484293"/>
            </a:xfrm>
            <a:prstGeom prst="rect">
              <a:avLst/>
            </a:prstGeom>
          </p:spPr>
          <p:txBody>
            <a:bodyPr anchor="t" rtlCol="false" tIns="0" lIns="0" bIns="0" rIns="0">
              <a:spAutoFit/>
            </a:bodyPr>
            <a:lstStyle/>
            <a:p>
              <a:pPr algn="ctr">
                <a:lnSpc>
                  <a:spcPts val="3079"/>
                </a:lnSpc>
                <a:spcBef>
                  <a:spcPct val="0"/>
                </a:spcBef>
              </a:pPr>
              <a:r>
                <a:rPr lang="en-US" sz="2199" spc="-87">
                  <a:solidFill>
                    <a:srgbClr val="12100E"/>
                  </a:solidFill>
                  <a:latin typeface="Open Sauce"/>
                  <a:ea typeface="Open Sauce"/>
                  <a:cs typeface="Open Sauce"/>
                  <a:sym typeface="Open Sauce"/>
                </a:rPr>
                <a:t>PROBLEM: NEVER TESTED ON MICROSCOPY, CAN BE EXPLORED</a:t>
              </a:r>
            </a:p>
          </p:txBody>
        </p:sp>
      </p:grpSp>
      <p:sp>
        <p:nvSpPr>
          <p:cNvPr name="TextBox 15" id="15"/>
          <p:cNvSpPr txBox="true"/>
          <p:nvPr/>
        </p:nvSpPr>
        <p:spPr>
          <a:xfrm rot="0">
            <a:off x="708907" y="8018521"/>
            <a:ext cx="17259300" cy="1153795"/>
          </a:xfrm>
          <a:prstGeom prst="rect">
            <a:avLst/>
          </a:prstGeom>
        </p:spPr>
        <p:txBody>
          <a:bodyPr anchor="t" rtlCol="false" tIns="0" lIns="0" bIns="0" rIns="0">
            <a:spAutoFit/>
          </a:bodyPr>
          <a:lstStyle/>
          <a:p>
            <a:pPr algn="l">
              <a:lnSpc>
                <a:spcPts val="3079"/>
              </a:lnSpc>
              <a:spcBef>
                <a:spcPct val="0"/>
              </a:spcBef>
            </a:pPr>
            <a:r>
              <a:rPr lang="en-US" b="true" sz="2199" spc="-87">
                <a:solidFill>
                  <a:srgbClr val="12100E"/>
                </a:solidFill>
                <a:latin typeface="Open Sauce Heavy"/>
                <a:ea typeface="Open Sauce Heavy"/>
                <a:cs typeface="Open Sauce Heavy"/>
                <a:sym typeface="Open Sauce Heavy"/>
              </a:rPr>
              <a:t>IDEAS: </a:t>
            </a:r>
          </a:p>
          <a:p>
            <a:pPr algn="l">
              <a:lnSpc>
                <a:spcPts val="3079"/>
              </a:lnSpc>
              <a:spcBef>
                <a:spcPct val="0"/>
              </a:spcBef>
            </a:pPr>
            <a:r>
              <a:rPr lang="en-US" sz="2199" spc="-87">
                <a:solidFill>
                  <a:srgbClr val="12100E"/>
                </a:solidFill>
                <a:latin typeface="Open Sauce"/>
                <a:ea typeface="Open Sauce"/>
                <a:cs typeface="Open Sauce"/>
                <a:sym typeface="Open Sauce"/>
              </a:rPr>
              <a:t>ADIPOCYTE U-NET 2.0 - FAT CELLS IN STAINED TISSUE SLIDES (HUMAN ADIPOSE TISSUE) → CUT THE HUGE SLIDE INTO OVERLAPPING TILES, CONVERT MASKS INTO POLYGONS AND MERGE THEM, SO CELLS AT TILE BORDERS ARE MEASURED WHOLE.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08907" y="9487211"/>
            <a:ext cx="639585" cy="0"/>
          </a:xfrm>
          <a:prstGeom prst="line">
            <a:avLst/>
          </a:prstGeom>
          <a:ln cap="flat" w="114300">
            <a:solidFill>
              <a:srgbClr val="FE8213"/>
            </a:solidFill>
            <a:prstDash val="solid"/>
            <a:headEnd type="none" len="sm" w="sm"/>
            <a:tailEnd type="none" len="sm" w="sm"/>
          </a:ln>
        </p:spPr>
      </p:sp>
      <p:sp>
        <p:nvSpPr>
          <p:cNvPr name="Freeform 3" id="3"/>
          <p:cNvSpPr/>
          <p:nvPr/>
        </p:nvSpPr>
        <p:spPr>
          <a:xfrm flipH="false" flipV="false" rot="0">
            <a:off x="553031" y="708008"/>
            <a:ext cx="5017743" cy="1298710"/>
          </a:xfrm>
          <a:custGeom>
            <a:avLst/>
            <a:gdLst/>
            <a:ahLst/>
            <a:cxnLst/>
            <a:rect r="r" b="b" t="t" l="l"/>
            <a:pathLst>
              <a:path h="1298710" w="5017743">
                <a:moveTo>
                  <a:pt x="0" y="0"/>
                </a:moveTo>
                <a:lnTo>
                  <a:pt x="5017743" y="0"/>
                </a:lnTo>
                <a:lnTo>
                  <a:pt x="5017743" y="1298710"/>
                </a:lnTo>
                <a:lnTo>
                  <a:pt x="0" y="1298710"/>
                </a:lnTo>
                <a:lnTo>
                  <a:pt x="0" y="0"/>
                </a:lnTo>
                <a:close/>
              </a:path>
            </a:pathLst>
          </a:custGeom>
          <a:blipFill>
            <a:blip r:embed="rId2"/>
            <a:stretch>
              <a:fillRect l="0" t="0" r="0" b="0"/>
            </a:stretch>
          </a:blipFill>
        </p:spPr>
      </p:sp>
      <p:sp>
        <p:nvSpPr>
          <p:cNvPr name="TextBox 4" id="4"/>
          <p:cNvSpPr txBox="true"/>
          <p:nvPr/>
        </p:nvSpPr>
        <p:spPr>
          <a:xfrm rot="0">
            <a:off x="553031" y="9723887"/>
            <a:ext cx="2230508" cy="309150"/>
          </a:xfrm>
          <a:prstGeom prst="rect">
            <a:avLst/>
          </a:prstGeom>
        </p:spPr>
        <p:txBody>
          <a:bodyPr anchor="t" rtlCol="false" tIns="0" lIns="0" bIns="0" rIns="0">
            <a:spAutoFit/>
          </a:bodyPr>
          <a:lstStyle/>
          <a:p>
            <a:pPr algn="l">
              <a:lnSpc>
                <a:spcPts val="2502"/>
              </a:lnSpc>
            </a:pPr>
            <a:r>
              <a:rPr lang="en-US" b="true" sz="1787" spc="-71">
                <a:solidFill>
                  <a:srgbClr val="12100E"/>
                </a:solidFill>
                <a:latin typeface="Open Sauce Heavy"/>
                <a:ea typeface="Open Sauce Heavy"/>
                <a:cs typeface="Open Sauce Heavy"/>
                <a:sym typeface="Open Sauce Heavy"/>
              </a:rPr>
              <a:t>CELL FOUNDRY</a:t>
            </a:r>
          </a:p>
        </p:txBody>
      </p:sp>
      <p:sp>
        <p:nvSpPr>
          <p:cNvPr name="TextBox 5" id="5"/>
          <p:cNvSpPr txBox="true"/>
          <p:nvPr/>
        </p:nvSpPr>
        <p:spPr>
          <a:xfrm rot="0">
            <a:off x="12894229" y="9560829"/>
            <a:ext cx="5034688" cy="364216"/>
          </a:xfrm>
          <a:prstGeom prst="rect">
            <a:avLst/>
          </a:prstGeom>
        </p:spPr>
        <p:txBody>
          <a:bodyPr anchor="t" rtlCol="false" tIns="0" lIns="0" bIns="0" rIns="0">
            <a:spAutoFit/>
          </a:bodyPr>
          <a:lstStyle/>
          <a:p>
            <a:pPr algn="l">
              <a:lnSpc>
                <a:spcPts val="3025"/>
              </a:lnSpc>
            </a:pPr>
            <a:r>
              <a:rPr lang="en-US" sz="2160" spc="-43">
                <a:solidFill>
                  <a:srgbClr val="12100E"/>
                </a:solidFill>
                <a:latin typeface="Noto Serif"/>
                <a:ea typeface="Noto Serif"/>
                <a:cs typeface="Noto Serif"/>
                <a:sym typeface="Noto Serif"/>
              </a:rPr>
              <a:t>Meeting Title: BiWeekly Meet - 2</a:t>
            </a:r>
          </a:p>
        </p:txBody>
      </p:sp>
      <p:sp>
        <p:nvSpPr>
          <p:cNvPr name="Freeform 6" id="6"/>
          <p:cNvSpPr/>
          <p:nvPr/>
        </p:nvSpPr>
        <p:spPr>
          <a:xfrm flipH="false" flipV="false" rot="0">
            <a:off x="13282690" y="835665"/>
            <a:ext cx="4646228" cy="1171053"/>
          </a:xfrm>
          <a:custGeom>
            <a:avLst/>
            <a:gdLst/>
            <a:ahLst/>
            <a:cxnLst/>
            <a:rect r="r" b="b" t="t" l="l"/>
            <a:pathLst>
              <a:path h="1171053" w="4646228">
                <a:moveTo>
                  <a:pt x="0" y="0"/>
                </a:moveTo>
                <a:lnTo>
                  <a:pt x="4646228" y="0"/>
                </a:lnTo>
                <a:lnTo>
                  <a:pt x="4646228" y="1171053"/>
                </a:lnTo>
                <a:lnTo>
                  <a:pt x="0" y="1171053"/>
                </a:lnTo>
                <a:lnTo>
                  <a:pt x="0" y="0"/>
                </a:lnTo>
                <a:close/>
              </a:path>
            </a:pathLst>
          </a:custGeom>
          <a:blipFill>
            <a:blip r:embed="rId3"/>
            <a:stretch>
              <a:fillRect l="0" t="-1044" r="0" b="-79123"/>
            </a:stretch>
          </a:blipFill>
        </p:spPr>
      </p:sp>
      <p:sp>
        <p:nvSpPr>
          <p:cNvPr name="TextBox 7" id="7"/>
          <p:cNvSpPr txBox="true"/>
          <p:nvPr/>
        </p:nvSpPr>
        <p:spPr>
          <a:xfrm rot="0">
            <a:off x="708907" y="1678676"/>
            <a:ext cx="2731368" cy="1028700"/>
          </a:xfrm>
          <a:prstGeom prst="rect">
            <a:avLst/>
          </a:prstGeom>
        </p:spPr>
        <p:txBody>
          <a:bodyPr anchor="t" rtlCol="false" tIns="0" lIns="0" bIns="0" rIns="0">
            <a:spAutoFit/>
          </a:bodyPr>
          <a:lstStyle/>
          <a:p>
            <a:pPr algn="ctr">
              <a:lnSpc>
                <a:spcPts val="8400"/>
              </a:lnSpc>
            </a:pPr>
            <a:r>
              <a:rPr lang="en-US" sz="6000" b="true">
                <a:solidFill>
                  <a:srgbClr val="12100E"/>
                </a:solidFill>
                <a:latin typeface="Canva Sans Bold"/>
                <a:ea typeface="Canva Sans Bold"/>
                <a:cs typeface="Canva Sans Bold"/>
                <a:sym typeface="Canva Sans Bold"/>
              </a:rPr>
              <a:t>Models</a:t>
            </a:r>
          </a:p>
        </p:txBody>
      </p:sp>
      <p:sp>
        <p:nvSpPr>
          <p:cNvPr name="TextBox 8" id="8"/>
          <p:cNvSpPr txBox="true"/>
          <p:nvPr/>
        </p:nvSpPr>
        <p:spPr>
          <a:xfrm rot="0">
            <a:off x="726955" y="2687323"/>
            <a:ext cx="13397418" cy="3887470"/>
          </a:xfrm>
          <a:prstGeom prst="rect">
            <a:avLst/>
          </a:prstGeom>
        </p:spPr>
        <p:txBody>
          <a:bodyPr anchor="t" rtlCol="false" tIns="0" lIns="0" bIns="0" rIns="0">
            <a:spAutoFit/>
          </a:bodyPr>
          <a:lstStyle/>
          <a:p>
            <a:pPr algn="l">
              <a:lnSpc>
                <a:spcPts val="3079"/>
              </a:lnSpc>
              <a:spcBef>
                <a:spcPct val="0"/>
              </a:spcBef>
            </a:pPr>
            <a:r>
              <a:rPr lang="en-US" sz="2199" spc="-87">
                <a:solidFill>
                  <a:srgbClr val="12100E"/>
                </a:solidFill>
                <a:latin typeface="Open Sauce"/>
                <a:ea typeface="Open Sauce"/>
                <a:cs typeface="Open Sauce"/>
                <a:sym typeface="Open Sauce"/>
              </a:rPr>
              <a:t>DINOC</a:t>
            </a:r>
            <a:r>
              <a:rPr lang="en-US" sz="2199" spc="-87">
                <a:solidFill>
                  <a:srgbClr val="12100E"/>
                </a:solidFill>
                <a:latin typeface="Open Sauce"/>
                <a:ea typeface="Open Sauce"/>
                <a:cs typeface="Open Sauce"/>
                <a:sym typeface="Open Sauce"/>
              </a:rPr>
              <a:t>ELL - BASELINE TO BE RUN TO PRODUCE THE RESULTS FIRST TO COMPARE WITH</a:t>
            </a:r>
          </a:p>
          <a:p>
            <a:pPr algn="l">
              <a:lnSpc>
                <a:spcPts val="3079"/>
              </a:lnSpc>
              <a:spcBef>
                <a:spcPct val="0"/>
              </a:spcBef>
            </a:pPr>
            <a:r>
              <a:rPr lang="en-US" sz="2199" spc="-87">
                <a:solidFill>
                  <a:srgbClr val="12100E"/>
                </a:solidFill>
                <a:latin typeface="Open Sauce"/>
                <a:ea typeface="Open Sauce"/>
                <a:cs typeface="Open Sauce"/>
                <a:sym typeface="Open Sauce"/>
              </a:rPr>
              <a:t>IMES'S OWN FINE-TUNED RUN: VALIDATION F1 ABOUT 0.39–0.40 ON PATCHES, NO TEST SET</a:t>
            </a:r>
          </a:p>
          <a:p>
            <a:pPr algn="l">
              <a:lnSpc>
                <a:spcPts val="3079"/>
              </a:lnSpc>
              <a:spcBef>
                <a:spcPct val="0"/>
              </a:spcBef>
            </a:pPr>
          </a:p>
          <a:p>
            <a:pPr algn="l">
              <a:lnSpc>
                <a:spcPts val="3079"/>
              </a:lnSpc>
              <a:spcBef>
                <a:spcPct val="0"/>
              </a:spcBef>
            </a:pPr>
            <a:r>
              <a:rPr lang="en-US" sz="2199" spc="-87">
                <a:solidFill>
                  <a:srgbClr val="12100E"/>
                </a:solidFill>
                <a:latin typeface="Open Sauce"/>
                <a:ea typeface="Open Sauce"/>
                <a:cs typeface="Open Sauce"/>
                <a:sym typeface="Open Sauce"/>
              </a:rPr>
              <a:t>CELLPOSE-SAM - DESPITE A FAILURE MODEL: </a:t>
            </a:r>
          </a:p>
          <a:p>
            <a:pPr algn="l">
              <a:lnSpc>
                <a:spcPts val="3079"/>
              </a:lnSpc>
              <a:spcBef>
                <a:spcPct val="0"/>
              </a:spcBef>
            </a:pPr>
            <a:r>
              <a:rPr lang="en-US" sz="2199" spc="-87">
                <a:solidFill>
                  <a:srgbClr val="12100E"/>
                </a:solidFill>
                <a:latin typeface="Open Sauce"/>
                <a:ea typeface="Open Sauce"/>
                <a:cs typeface="Open Sauce"/>
                <a:sym typeface="Open Sauce"/>
              </a:rPr>
              <a:t>FINE-TUNING WITH ONLY A FEW HUNDRED CELLS IMPROVED AP@0.5 FROM 0.50 TO 0.82</a:t>
            </a:r>
          </a:p>
          <a:p>
            <a:pPr algn="l">
              <a:lnSpc>
                <a:spcPts val="3079"/>
              </a:lnSpc>
              <a:spcBef>
                <a:spcPct val="0"/>
              </a:spcBef>
            </a:pPr>
          </a:p>
          <a:p>
            <a:pPr algn="l">
              <a:lnSpc>
                <a:spcPts val="3079"/>
              </a:lnSpc>
              <a:spcBef>
                <a:spcPct val="0"/>
              </a:spcBef>
            </a:pPr>
            <a:r>
              <a:rPr lang="en-US" sz="2199" spc="-87">
                <a:solidFill>
                  <a:srgbClr val="12100E"/>
                </a:solidFill>
                <a:latin typeface="Open Sauce"/>
                <a:ea typeface="Open Sauce"/>
                <a:cs typeface="Open Sauce"/>
                <a:sym typeface="Open Sauce"/>
              </a:rPr>
              <a:t>DINOV3 - BACKBONE OF OUR BEST ZERO-SHOT MODEL CPDINO</a:t>
            </a:r>
          </a:p>
          <a:p>
            <a:pPr algn="l">
              <a:lnSpc>
                <a:spcPts val="3079"/>
              </a:lnSpc>
              <a:spcBef>
                <a:spcPct val="0"/>
              </a:spcBef>
            </a:pPr>
          </a:p>
          <a:p>
            <a:pPr algn="l">
              <a:lnSpc>
                <a:spcPts val="3079"/>
              </a:lnSpc>
              <a:spcBef>
                <a:spcPct val="0"/>
              </a:spcBef>
            </a:pPr>
            <a:r>
              <a:rPr lang="en-US" sz="2199" spc="-87">
                <a:solidFill>
                  <a:srgbClr val="12100E"/>
                </a:solidFill>
                <a:latin typeface="Open Sauce"/>
                <a:ea typeface="Open Sauce"/>
                <a:cs typeface="Open Sauce"/>
                <a:sym typeface="Open Sauce"/>
              </a:rPr>
              <a:t>OMNIPOSE -CHEAP ZERO-SHOT A CELLPOSE VARIANT</a:t>
            </a:r>
          </a:p>
          <a:p>
            <a:pPr algn="l">
              <a:lnSpc>
                <a:spcPts val="3079"/>
              </a:lnSpc>
              <a:spcBef>
                <a:spcPct val="0"/>
              </a:spcBef>
            </a:pPr>
            <a:r>
              <a:rPr lang="en-US" sz="2199" spc="-87">
                <a:solidFill>
                  <a:srgbClr val="12100E"/>
                </a:solidFill>
                <a:latin typeface="Open Sauce"/>
                <a:ea typeface="Open Sauce"/>
                <a:cs typeface="Open Sauce"/>
                <a:sym typeface="Open Sauce"/>
              </a:rPr>
              <a:t>ON BACTERIA CELLPOSE'S ERROR WHEN COMPARED TO OMNIPOSE'S IS HIGHER</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AutoShape 2" id="2"/>
          <p:cNvSpPr/>
          <p:nvPr/>
        </p:nvSpPr>
        <p:spPr>
          <a:xfrm>
            <a:off x="708907" y="9487211"/>
            <a:ext cx="639585" cy="0"/>
          </a:xfrm>
          <a:prstGeom prst="line">
            <a:avLst/>
          </a:prstGeom>
          <a:ln cap="flat" w="114300">
            <a:solidFill>
              <a:srgbClr val="FE8213"/>
            </a:solidFill>
            <a:prstDash val="solid"/>
            <a:headEnd type="none" len="sm" w="sm"/>
            <a:tailEnd type="none" len="sm" w="sm"/>
          </a:ln>
        </p:spPr>
      </p:sp>
      <p:sp>
        <p:nvSpPr>
          <p:cNvPr name="Freeform 3" id="3"/>
          <p:cNvSpPr/>
          <p:nvPr/>
        </p:nvSpPr>
        <p:spPr>
          <a:xfrm flipH="false" flipV="false" rot="0">
            <a:off x="553031" y="708008"/>
            <a:ext cx="5017743" cy="1298710"/>
          </a:xfrm>
          <a:custGeom>
            <a:avLst/>
            <a:gdLst/>
            <a:ahLst/>
            <a:cxnLst/>
            <a:rect r="r" b="b" t="t" l="l"/>
            <a:pathLst>
              <a:path h="1298710" w="5017743">
                <a:moveTo>
                  <a:pt x="0" y="0"/>
                </a:moveTo>
                <a:lnTo>
                  <a:pt x="5017743" y="0"/>
                </a:lnTo>
                <a:lnTo>
                  <a:pt x="5017743" y="1298710"/>
                </a:lnTo>
                <a:lnTo>
                  <a:pt x="0" y="1298710"/>
                </a:lnTo>
                <a:lnTo>
                  <a:pt x="0" y="0"/>
                </a:lnTo>
                <a:close/>
              </a:path>
            </a:pathLst>
          </a:custGeom>
          <a:blipFill>
            <a:blip r:embed="rId2"/>
            <a:stretch>
              <a:fillRect l="0" t="0" r="0" b="0"/>
            </a:stretch>
          </a:blipFill>
        </p:spPr>
      </p:sp>
      <p:sp>
        <p:nvSpPr>
          <p:cNvPr name="TextBox 4" id="4"/>
          <p:cNvSpPr txBox="true"/>
          <p:nvPr/>
        </p:nvSpPr>
        <p:spPr>
          <a:xfrm rot="0">
            <a:off x="553031" y="9723887"/>
            <a:ext cx="2230508" cy="309150"/>
          </a:xfrm>
          <a:prstGeom prst="rect">
            <a:avLst/>
          </a:prstGeom>
        </p:spPr>
        <p:txBody>
          <a:bodyPr anchor="t" rtlCol="false" tIns="0" lIns="0" bIns="0" rIns="0">
            <a:spAutoFit/>
          </a:bodyPr>
          <a:lstStyle/>
          <a:p>
            <a:pPr algn="l">
              <a:lnSpc>
                <a:spcPts val="2502"/>
              </a:lnSpc>
            </a:pPr>
            <a:r>
              <a:rPr lang="en-US" b="true" sz="1787" spc="-71">
                <a:solidFill>
                  <a:srgbClr val="12100E"/>
                </a:solidFill>
                <a:latin typeface="Open Sauce Heavy"/>
                <a:ea typeface="Open Sauce Heavy"/>
                <a:cs typeface="Open Sauce Heavy"/>
                <a:sym typeface="Open Sauce Heavy"/>
              </a:rPr>
              <a:t>CELL FOUNDRY</a:t>
            </a:r>
          </a:p>
        </p:txBody>
      </p:sp>
      <p:sp>
        <p:nvSpPr>
          <p:cNvPr name="TextBox 5" id="5"/>
          <p:cNvSpPr txBox="true"/>
          <p:nvPr/>
        </p:nvSpPr>
        <p:spPr>
          <a:xfrm rot="0">
            <a:off x="12894229" y="9560829"/>
            <a:ext cx="5034688" cy="745216"/>
          </a:xfrm>
          <a:prstGeom prst="rect">
            <a:avLst/>
          </a:prstGeom>
        </p:spPr>
        <p:txBody>
          <a:bodyPr anchor="t" rtlCol="false" tIns="0" lIns="0" bIns="0" rIns="0">
            <a:spAutoFit/>
          </a:bodyPr>
          <a:lstStyle/>
          <a:p>
            <a:pPr algn="l">
              <a:lnSpc>
                <a:spcPts val="3025"/>
              </a:lnSpc>
            </a:pPr>
            <a:r>
              <a:rPr lang="en-US" sz="2160" spc="-43">
                <a:solidFill>
                  <a:srgbClr val="12100E"/>
                </a:solidFill>
                <a:latin typeface="Noto Serif"/>
                <a:ea typeface="Noto Serif"/>
                <a:cs typeface="Noto Serif"/>
                <a:sym typeface="Noto Serif"/>
              </a:rPr>
              <a:t>Meeting Title: BiWeekly Meet - 2</a:t>
            </a:r>
          </a:p>
          <a:p>
            <a:pPr algn="l">
              <a:lnSpc>
                <a:spcPts val="3025"/>
              </a:lnSpc>
            </a:pPr>
          </a:p>
        </p:txBody>
      </p:sp>
      <p:sp>
        <p:nvSpPr>
          <p:cNvPr name="Freeform 6" id="6"/>
          <p:cNvSpPr/>
          <p:nvPr/>
        </p:nvSpPr>
        <p:spPr>
          <a:xfrm flipH="false" flipV="false" rot="0">
            <a:off x="13282690" y="835665"/>
            <a:ext cx="4646228" cy="1171053"/>
          </a:xfrm>
          <a:custGeom>
            <a:avLst/>
            <a:gdLst/>
            <a:ahLst/>
            <a:cxnLst/>
            <a:rect r="r" b="b" t="t" l="l"/>
            <a:pathLst>
              <a:path h="1171053" w="4646228">
                <a:moveTo>
                  <a:pt x="0" y="0"/>
                </a:moveTo>
                <a:lnTo>
                  <a:pt x="4646228" y="0"/>
                </a:lnTo>
                <a:lnTo>
                  <a:pt x="4646228" y="1171053"/>
                </a:lnTo>
                <a:lnTo>
                  <a:pt x="0" y="1171053"/>
                </a:lnTo>
                <a:lnTo>
                  <a:pt x="0" y="0"/>
                </a:lnTo>
                <a:close/>
              </a:path>
            </a:pathLst>
          </a:custGeom>
          <a:blipFill>
            <a:blip r:embed="rId3"/>
            <a:stretch>
              <a:fillRect l="0" t="-1044" r="0" b="-79123"/>
            </a:stretch>
          </a:blipFill>
        </p:spPr>
      </p:sp>
      <p:sp>
        <p:nvSpPr>
          <p:cNvPr name="TextBox 7" id="7"/>
          <p:cNvSpPr txBox="true"/>
          <p:nvPr/>
        </p:nvSpPr>
        <p:spPr>
          <a:xfrm rot="0">
            <a:off x="708907" y="1714771"/>
            <a:ext cx="6120929" cy="1028700"/>
          </a:xfrm>
          <a:prstGeom prst="rect">
            <a:avLst/>
          </a:prstGeom>
        </p:spPr>
        <p:txBody>
          <a:bodyPr anchor="t" rtlCol="false" tIns="0" lIns="0" bIns="0" rIns="0">
            <a:spAutoFit/>
          </a:bodyPr>
          <a:lstStyle/>
          <a:p>
            <a:pPr algn="ctr">
              <a:lnSpc>
                <a:spcPts val="8400"/>
              </a:lnSpc>
            </a:pPr>
            <a:r>
              <a:rPr lang="en-US" sz="6000" b="true">
                <a:solidFill>
                  <a:srgbClr val="12100E"/>
                </a:solidFill>
                <a:latin typeface="Canva Sans Bold"/>
                <a:ea typeface="Canva Sans Bold"/>
                <a:cs typeface="Canva Sans Bold"/>
                <a:sym typeface="Canva Sans Bold"/>
              </a:rPr>
              <a:t>Instance Models</a:t>
            </a:r>
          </a:p>
        </p:txBody>
      </p:sp>
      <p:sp>
        <p:nvSpPr>
          <p:cNvPr name="TextBox 8" id="8"/>
          <p:cNvSpPr txBox="true"/>
          <p:nvPr/>
        </p:nvSpPr>
        <p:spPr>
          <a:xfrm rot="0">
            <a:off x="718432" y="3048273"/>
            <a:ext cx="16209460" cy="5059045"/>
          </a:xfrm>
          <a:prstGeom prst="rect">
            <a:avLst/>
          </a:prstGeom>
        </p:spPr>
        <p:txBody>
          <a:bodyPr anchor="t" rtlCol="false" tIns="0" lIns="0" bIns="0" rIns="0">
            <a:spAutoFit/>
          </a:bodyPr>
          <a:lstStyle/>
          <a:p>
            <a:pPr algn="l">
              <a:lnSpc>
                <a:spcPts val="3079"/>
              </a:lnSpc>
            </a:pPr>
            <a:r>
              <a:rPr lang="en-US" sz="2199" spc="-87">
                <a:solidFill>
                  <a:srgbClr val="12100E"/>
                </a:solidFill>
                <a:latin typeface="Open Sauce"/>
                <a:ea typeface="Open Sauce"/>
                <a:cs typeface="Open Sauce"/>
                <a:sym typeface="Open Sauce"/>
              </a:rPr>
              <a:t>CELLSAM - FINETUNED ON CELLS (ON PHASE CONTRAST MICROSCOPY)</a:t>
            </a:r>
          </a:p>
          <a:p>
            <a:pPr algn="l">
              <a:lnSpc>
                <a:spcPts val="3079"/>
              </a:lnSpc>
            </a:pPr>
          </a:p>
          <a:p>
            <a:pPr algn="l">
              <a:lnSpc>
                <a:spcPts val="3079"/>
              </a:lnSpc>
            </a:pPr>
            <a:r>
              <a:rPr lang="en-US" sz="2199" spc="-87">
                <a:solidFill>
                  <a:srgbClr val="12100E"/>
                </a:solidFill>
                <a:latin typeface="Open Sauce"/>
                <a:ea typeface="Open Sauce"/>
                <a:cs typeface="Open Sauce"/>
                <a:sym typeface="Open Sauce"/>
              </a:rPr>
              <a:t>MICRO-SAM - FINETUNED FOR DIFFERENT MICROSCOPY IMAGES</a:t>
            </a:r>
          </a:p>
          <a:p>
            <a:pPr algn="l">
              <a:lnSpc>
                <a:spcPts val="3079"/>
              </a:lnSpc>
            </a:pPr>
            <a:r>
              <a:rPr lang="en-US" sz="2199" spc="-87">
                <a:solidFill>
                  <a:srgbClr val="12100E"/>
                </a:solidFill>
                <a:latin typeface="Open Sauce"/>
                <a:ea typeface="Open Sauce"/>
                <a:cs typeface="Open Sauce"/>
                <a:sym typeface="Open Sauce"/>
              </a:rPr>
              <a:t>BRIGHTFIELD STUDY, MICROSAM PERFORMED BETTER THAN CELLPOSE VARIANTS</a:t>
            </a:r>
          </a:p>
          <a:p>
            <a:pPr algn="l">
              <a:lnSpc>
                <a:spcPts val="3079"/>
              </a:lnSpc>
            </a:pPr>
          </a:p>
          <a:p>
            <a:pPr algn="l">
              <a:lnSpc>
                <a:spcPts val="3079"/>
              </a:lnSpc>
            </a:pPr>
            <a:r>
              <a:rPr lang="en-US" sz="2199" spc="-87">
                <a:solidFill>
                  <a:srgbClr val="12100E"/>
                </a:solidFill>
                <a:latin typeface="Open Sauce"/>
                <a:ea typeface="Open Sauce"/>
                <a:cs typeface="Open Sauce"/>
                <a:sym typeface="Open Sauce"/>
              </a:rPr>
              <a:t>STARDIST - LIGHTWEIGHT MODEL TRAINED ON ROUND CROWDED CELLS</a:t>
            </a:r>
          </a:p>
          <a:p>
            <a:pPr algn="l">
              <a:lnSpc>
                <a:spcPts val="3079"/>
              </a:lnSpc>
            </a:pPr>
          </a:p>
          <a:p>
            <a:pPr algn="l">
              <a:lnSpc>
                <a:spcPts val="3079"/>
              </a:lnSpc>
            </a:pPr>
            <a:r>
              <a:rPr lang="en-US" sz="2199" spc="-87">
                <a:solidFill>
                  <a:srgbClr val="12100E"/>
                </a:solidFill>
                <a:latin typeface="Open Sauce"/>
                <a:ea typeface="Open Sauce"/>
                <a:cs typeface="Open Sauce"/>
                <a:sym typeface="Open Sauce"/>
              </a:rPr>
              <a:t>INSTANSEG -  U-NET (ALSO FAST AND PORTABLE - EASY INTEGRATION WITH THE APP) BUT ONLY TRAINED ON NUCLEI → CHECK WITH PORCINE DATA</a:t>
            </a:r>
          </a:p>
          <a:p>
            <a:pPr algn="l">
              <a:lnSpc>
                <a:spcPts val="3079"/>
              </a:lnSpc>
            </a:pPr>
          </a:p>
          <a:p>
            <a:pPr algn="l">
              <a:lnSpc>
                <a:spcPts val="3079"/>
              </a:lnSpc>
            </a:pPr>
            <a:r>
              <a:rPr lang="en-US" sz="2199" spc="-87">
                <a:solidFill>
                  <a:srgbClr val="12100E"/>
                </a:solidFill>
                <a:latin typeface="Open Sauce"/>
                <a:ea typeface="Open Sauce"/>
                <a:cs typeface="Open Sauce"/>
                <a:sym typeface="Open Sauce"/>
              </a:rPr>
              <a:t>PANOPTIC QUALITY (IDEA): GIVES ONE SCORE FOR A TASK THAT HAS BOTH "REGIONS" (SEMANTIC) AND "OBJECTS" (INSTANCE)</a:t>
            </a:r>
          </a:p>
          <a:p>
            <a:pPr algn="l">
              <a:lnSpc>
                <a:spcPts val="3079"/>
              </a:lnSpc>
            </a:pPr>
          </a:p>
          <a:p>
            <a:pPr algn="l">
              <a:lnSpc>
                <a:spcPts val="3079"/>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AutoShape 2" id="2"/>
          <p:cNvSpPr/>
          <p:nvPr/>
        </p:nvSpPr>
        <p:spPr>
          <a:xfrm>
            <a:off x="708907" y="9487211"/>
            <a:ext cx="639585" cy="0"/>
          </a:xfrm>
          <a:prstGeom prst="line">
            <a:avLst/>
          </a:prstGeom>
          <a:ln cap="flat" w="114300">
            <a:solidFill>
              <a:srgbClr val="FE8213"/>
            </a:solidFill>
            <a:prstDash val="solid"/>
            <a:headEnd type="none" len="sm" w="sm"/>
            <a:tailEnd type="none" len="sm" w="sm"/>
          </a:ln>
        </p:spPr>
      </p:sp>
      <p:sp>
        <p:nvSpPr>
          <p:cNvPr name="Freeform 3" id="3"/>
          <p:cNvSpPr/>
          <p:nvPr/>
        </p:nvSpPr>
        <p:spPr>
          <a:xfrm flipH="false" flipV="false" rot="0">
            <a:off x="553031" y="708008"/>
            <a:ext cx="5017743" cy="1298710"/>
          </a:xfrm>
          <a:custGeom>
            <a:avLst/>
            <a:gdLst/>
            <a:ahLst/>
            <a:cxnLst/>
            <a:rect r="r" b="b" t="t" l="l"/>
            <a:pathLst>
              <a:path h="1298710" w="5017743">
                <a:moveTo>
                  <a:pt x="0" y="0"/>
                </a:moveTo>
                <a:lnTo>
                  <a:pt x="5017743" y="0"/>
                </a:lnTo>
                <a:lnTo>
                  <a:pt x="5017743" y="1298710"/>
                </a:lnTo>
                <a:lnTo>
                  <a:pt x="0" y="1298710"/>
                </a:lnTo>
                <a:lnTo>
                  <a:pt x="0" y="0"/>
                </a:lnTo>
                <a:close/>
              </a:path>
            </a:pathLst>
          </a:custGeom>
          <a:blipFill>
            <a:blip r:embed="rId2"/>
            <a:stretch>
              <a:fillRect l="0" t="0" r="0" b="0"/>
            </a:stretch>
          </a:blipFill>
        </p:spPr>
      </p:sp>
      <p:sp>
        <p:nvSpPr>
          <p:cNvPr name="TextBox 4" id="4"/>
          <p:cNvSpPr txBox="true"/>
          <p:nvPr/>
        </p:nvSpPr>
        <p:spPr>
          <a:xfrm rot="0">
            <a:off x="553031" y="9723887"/>
            <a:ext cx="2230508" cy="309150"/>
          </a:xfrm>
          <a:prstGeom prst="rect">
            <a:avLst/>
          </a:prstGeom>
        </p:spPr>
        <p:txBody>
          <a:bodyPr anchor="t" rtlCol="false" tIns="0" lIns="0" bIns="0" rIns="0">
            <a:spAutoFit/>
          </a:bodyPr>
          <a:lstStyle/>
          <a:p>
            <a:pPr algn="l">
              <a:lnSpc>
                <a:spcPts val="2502"/>
              </a:lnSpc>
            </a:pPr>
            <a:r>
              <a:rPr lang="en-US" b="true" sz="1787" spc="-71">
                <a:solidFill>
                  <a:srgbClr val="12100E"/>
                </a:solidFill>
                <a:latin typeface="Open Sauce Heavy"/>
                <a:ea typeface="Open Sauce Heavy"/>
                <a:cs typeface="Open Sauce Heavy"/>
                <a:sym typeface="Open Sauce Heavy"/>
              </a:rPr>
              <a:t>CELL FOUNDRY</a:t>
            </a:r>
          </a:p>
        </p:txBody>
      </p:sp>
      <p:sp>
        <p:nvSpPr>
          <p:cNvPr name="TextBox 5" id="5"/>
          <p:cNvSpPr txBox="true"/>
          <p:nvPr/>
        </p:nvSpPr>
        <p:spPr>
          <a:xfrm rot="0">
            <a:off x="12894229" y="9560829"/>
            <a:ext cx="5034688" cy="364216"/>
          </a:xfrm>
          <a:prstGeom prst="rect">
            <a:avLst/>
          </a:prstGeom>
        </p:spPr>
        <p:txBody>
          <a:bodyPr anchor="t" rtlCol="false" tIns="0" lIns="0" bIns="0" rIns="0">
            <a:spAutoFit/>
          </a:bodyPr>
          <a:lstStyle/>
          <a:p>
            <a:pPr algn="l">
              <a:lnSpc>
                <a:spcPts val="3025"/>
              </a:lnSpc>
            </a:pPr>
            <a:r>
              <a:rPr lang="en-US" sz="2160" spc="-43">
                <a:solidFill>
                  <a:srgbClr val="12100E"/>
                </a:solidFill>
                <a:latin typeface="Noto Serif"/>
                <a:ea typeface="Noto Serif"/>
                <a:cs typeface="Noto Serif"/>
                <a:sym typeface="Noto Serif"/>
              </a:rPr>
              <a:t>Meeting Title: BiWeekly Meet - 2</a:t>
            </a:r>
          </a:p>
        </p:txBody>
      </p:sp>
      <p:sp>
        <p:nvSpPr>
          <p:cNvPr name="Freeform 6" id="6"/>
          <p:cNvSpPr/>
          <p:nvPr/>
        </p:nvSpPr>
        <p:spPr>
          <a:xfrm flipH="false" flipV="false" rot="0">
            <a:off x="13282690" y="835665"/>
            <a:ext cx="4646228" cy="1171053"/>
          </a:xfrm>
          <a:custGeom>
            <a:avLst/>
            <a:gdLst/>
            <a:ahLst/>
            <a:cxnLst/>
            <a:rect r="r" b="b" t="t" l="l"/>
            <a:pathLst>
              <a:path h="1171053" w="4646228">
                <a:moveTo>
                  <a:pt x="0" y="0"/>
                </a:moveTo>
                <a:lnTo>
                  <a:pt x="4646228" y="0"/>
                </a:lnTo>
                <a:lnTo>
                  <a:pt x="4646228" y="1171053"/>
                </a:lnTo>
                <a:lnTo>
                  <a:pt x="0" y="1171053"/>
                </a:lnTo>
                <a:lnTo>
                  <a:pt x="0" y="0"/>
                </a:lnTo>
                <a:close/>
              </a:path>
            </a:pathLst>
          </a:custGeom>
          <a:blipFill>
            <a:blip r:embed="rId3"/>
            <a:stretch>
              <a:fillRect l="0" t="-1044" r="0" b="-79123"/>
            </a:stretch>
          </a:blipFill>
        </p:spPr>
      </p:sp>
      <p:sp>
        <p:nvSpPr>
          <p:cNvPr name="TextBox 7" id="7"/>
          <p:cNvSpPr txBox="true"/>
          <p:nvPr/>
        </p:nvSpPr>
        <p:spPr>
          <a:xfrm rot="0">
            <a:off x="862281" y="1696723"/>
            <a:ext cx="3605361" cy="1028700"/>
          </a:xfrm>
          <a:prstGeom prst="rect">
            <a:avLst/>
          </a:prstGeom>
        </p:spPr>
        <p:txBody>
          <a:bodyPr anchor="t" rtlCol="false" tIns="0" lIns="0" bIns="0" rIns="0">
            <a:spAutoFit/>
          </a:bodyPr>
          <a:lstStyle/>
          <a:p>
            <a:pPr algn="ctr">
              <a:lnSpc>
                <a:spcPts val="8400"/>
              </a:lnSpc>
            </a:pPr>
            <a:r>
              <a:rPr lang="en-US" sz="6000" b="true">
                <a:solidFill>
                  <a:srgbClr val="12100E"/>
                </a:solidFill>
                <a:latin typeface="Canva Sans Bold"/>
                <a:ea typeface="Canva Sans Bold"/>
                <a:cs typeface="Canva Sans Bold"/>
                <a:sym typeface="Canva Sans Bold"/>
              </a:rPr>
              <a:t>The order</a:t>
            </a:r>
          </a:p>
        </p:txBody>
      </p:sp>
      <p:sp>
        <p:nvSpPr>
          <p:cNvPr name="TextBox 8" id="8"/>
          <p:cNvSpPr txBox="true"/>
          <p:nvPr/>
        </p:nvSpPr>
        <p:spPr>
          <a:xfrm rot="0">
            <a:off x="862281" y="2687323"/>
            <a:ext cx="16148347" cy="5449570"/>
          </a:xfrm>
          <a:prstGeom prst="rect">
            <a:avLst/>
          </a:prstGeom>
        </p:spPr>
        <p:txBody>
          <a:bodyPr anchor="t" rtlCol="false" tIns="0" lIns="0" bIns="0" rIns="0">
            <a:spAutoFit/>
          </a:bodyPr>
          <a:lstStyle/>
          <a:p>
            <a:pPr algn="l" marL="474979" indent="-237490" lvl="1">
              <a:lnSpc>
                <a:spcPts val="3079"/>
              </a:lnSpc>
              <a:buAutoNum type="arabicPeriod" startAt="1"/>
            </a:pPr>
            <a:r>
              <a:rPr lang="en-US" sz="2199" spc="-87">
                <a:solidFill>
                  <a:srgbClr val="12100E"/>
                </a:solidFill>
                <a:latin typeface="Open Sauce"/>
                <a:ea typeface="Open Sauce"/>
                <a:cs typeface="Open Sauce"/>
                <a:sym typeface="Open Sauce"/>
              </a:rPr>
              <a:t>cpdino-vitb (fine-tune). </a:t>
            </a:r>
          </a:p>
          <a:p>
            <a:pPr algn="l" marL="474979" indent="-237490" lvl="1">
              <a:lnSpc>
                <a:spcPts val="3079"/>
              </a:lnSpc>
              <a:spcBef>
                <a:spcPct val="0"/>
              </a:spcBef>
              <a:buAutoNum type="arabicPeriod" startAt="1"/>
            </a:pPr>
            <a:r>
              <a:rPr lang="en-US" sz="2199" spc="-87">
                <a:solidFill>
                  <a:srgbClr val="12100E"/>
                </a:solidFill>
                <a:latin typeface="Open Sauce"/>
                <a:ea typeface="Open Sauce"/>
                <a:cs typeface="Open Sauce"/>
                <a:sym typeface="Open Sauce"/>
              </a:rPr>
              <a:t>cpdino (zero-shot and thenfine-tune). </a:t>
            </a:r>
          </a:p>
          <a:p>
            <a:pPr algn="l" marL="474979" indent="-237490" lvl="1">
              <a:lnSpc>
                <a:spcPts val="3079"/>
              </a:lnSpc>
              <a:spcBef>
                <a:spcPct val="0"/>
              </a:spcBef>
              <a:buAutoNum type="arabicPeriod" startAt="1"/>
            </a:pPr>
            <a:r>
              <a:rPr lang="en-US" sz="2199" spc="-87">
                <a:solidFill>
                  <a:srgbClr val="12100E"/>
                </a:solidFill>
                <a:latin typeface="Open Sauce"/>
                <a:ea typeface="Open Sauce"/>
                <a:cs typeface="Open Sauce"/>
                <a:sym typeface="Open Sauce"/>
              </a:rPr>
              <a:t>DINOCELL (FINE-TUNE): IMES'S OWN MODEL, SO INTEGRATION IS NO ISSUE; </a:t>
            </a:r>
          </a:p>
          <a:p>
            <a:pPr algn="l" marL="474979" indent="-237490" lvl="1">
              <a:lnSpc>
                <a:spcPts val="3079"/>
              </a:lnSpc>
              <a:spcBef>
                <a:spcPct val="0"/>
              </a:spcBef>
              <a:buAutoNum type="arabicPeriod" startAt="1"/>
            </a:pPr>
            <a:r>
              <a:rPr lang="en-US" sz="2199" spc="-87">
                <a:solidFill>
                  <a:srgbClr val="12100E"/>
                </a:solidFill>
                <a:latin typeface="Open Sauce"/>
                <a:ea typeface="Open Sauce"/>
                <a:cs typeface="Open Sauce"/>
                <a:sym typeface="Open Sauce"/>
              </a:rPr>
              <a:t>MICRO-SAM </a:t>
            </a:r>
          </a:p>
          <a:p>
            <a:pPr algn="l" marL="474979" indent="-237490" lvl="1">
              <a:lnSpc>
                <a:spcPts val="3079"/>
              </a:lnSpc>
              <a:spcBef>
                <a:spcPct val="0"/>
              </a:spcBef>
              <a:buAutoNum type="arabicPeriod" startAt="1"/>
            </a:pPr>
            <a:r>
              <a:rPr lang="en-US" sz="2199" spc="-87">
                <a:solidFill>
                  <a:srgbClr val="12100E"/>
                </a:solidFill>
                <a:latin typeface="Open Sauce"/>
                <a:ea typeface="Open Sauce"/>
                <a:cs typeface="Open Sauce"/>
                <a:sym typeface="Open Sauce"/>
              </a:rPr>
              <a:t>U-NET / NNU-NET (SEMANTIC). </a:t>
            </a:r>
          </a:p>
          <a:p>
            <a:pPr algn="l" marL="474979" indent="-237490" lvl="1">
              <a:lnSpc>
                <a:spcPts val="3079"/>
              </a:lnSpc>
              <a:spcBef>
                <a:spcPct val="0"/>
              </a:spcBef>
              <a:buAutoNum type="arabicPeriod" startAt="1"/>
            </a:pPr>
            <a:r>
              <a:rPr lang="en-US" sz="2199" spc="-87">
                <a:solidFill>
                  <a:srgbClr val="12100E"/>
                </a:solidFill>
                <a:latin typeface="Open Sauce"/>
                <a:ea typeface="Open Sauce"/>
                <a:cs typeface="Open Sauce"/>
                <a:sym typeface="Open Sauce"/>
              </a:rPr>
              <a:t>OTHERS: </a:t>
            </a:r>
          </a:p>
          <a:p>
            <a:pPr algn="l" marL="949959" indent="-316653" lvl="2">
              <a:lnSpc>
                <a:spcPts val="3079"/>
              </a:lnSpc>
              <a:spcBef>
                <a:spcPct val="0"/>
              </a:spcBef>
              <a:buFont typeface="Arial"/>
              <a:buChar char="⚬"/>
            </a:pPr>
            <a:r>
              <a:rPr lang="en-US" sz="2199" spc="-87">
                <a:solidFill>
                  <a:srgbClr val="12100E"/>
                </a:solidFill>
                <a:latin typeface="Open Sauce"/>
                <a:ea typeface="Open Sauce"/>
                <a:cs typeface="Open Sauce"/>
                <a:sym typeface="Open Sauce"/>
              </a:rPr>
              <a:t>OMNIPOSE, </a:t>
            </a:r>
          </a:p>
          <a:p>
            <a:pPr algn="l" marL="949959" indent="-316653" lvl="2">
              <a:lnSpc>
                <a:spcPts val="3079"/>
              </a:lnSpc>
              <a:spcBef>
                <a:spcPct val="0"/>
              </a:spcBef>
              <a:buFont typeface="Arial"/>
              <a:buChar char="⚬"/>
            </a:pPr>
            <a:r>
              <a:rPr lang="en-US" sz="2199" spc="-87">
                <a:solidFill>
                  <a:srgbClr val="12100E"/>
                </a:solidFill>
                <a:latin typeface="Open Sauce"/>
                <a:ea typeface="Open Sauce"/>
                <a:cs typeface="Open Sauce"/>
                <a:sym typeface="Open Sauce"/>
              </a:rPr>
              <a:t>CELLSAME</a:t>
            </a:r>
          </a:p>
          <a:p>
            <a:pPr algn="l" marL="949959" indent="-316653" lvl="2">
              <a:lnSpc>
                <a:spcPts val="3079"/>
              </a:lnSpc>
              <a:spcBef>
                <a:spcPct val="0"/>
              </a:spcBef>
              <a:buFont typeface="Arial"/>
              <a:buChar char="⚬"/>
            </a:pPr>
            <a:r>
              <a:rPr lang="en-US" sz="2199" spc="-87">
                <a:solidFill>
                  <a:srgbClr val="12100E"/>
                </a:solidFill>
                <a:latin typeface="Open Sauce"/>
                <a:ea typeface="Open Sauce"/>
                <a:cs typeface="Open Sauce"/>
                <a:sym typeface="Open Sauce"/>
              </a:rPr>
              <a:t>S</a:t>
            </a:r>
            <a:r>
              <a:rPr lang="en-US" sz="2199" spc="-87">
                <a:solidFill>
                  <a:srgbClr val="12100E"/>
                </a:solidFill>
                <a:latin typeface="Open Sauce"/>
                <a:ea typeface="Open Sauce"/>
                <a:cs typeface="Open Sauce"/>
                <a:sym typeface="Open Sauce"/>
              </a:rPr>
              <a:t>TARDIST, </a:t>
            </a:r>
          </a:p>
          <a:p>
            <a:pPr algn="l" marL="949959" indent="-316653" lvl="2">
              <a:lnSpc>
                <a:spcPts val="3079"/>
              </a:lnSpc>
              <a:spcBef>
                <a:spcPct val="0"/>
              </a:spcBef>
              <a:buFont typeface="Arial"/>
              <a:buChar char="⚬"/>
            </a:pPr>
            <a:r>
              <a:rPr lang="en-US" sz="2199" spc="-87">
                <a:solidFill>
                  <a:srgbClr val="12100E"/>
                </a:solidFill>
                <a:latin typeface="Open Sauce"/>
                <a:ea typeface="Open Sauce"/>
                <a:cs typeface="Open Sauce"/>
                <a:sym typeface="Open Sauce"/>
              </a:rPr>
              <a:t>INSTANSEG.</a:t>
            </a:r>
          </a:p>
          <a:p>
            <a:pPr algn="l" marL="949959" indent="-316653" lvl="2">
              <a:lnSpc>
                <a:spcPts val="3079"/>
              </a:lnSpc>
              <a:spcBef>
                <a:spcPct val="0"/>
              </a:spcBef>
              <a:buFont typeface="Arial"/>
              <a:buChar char="⚬"/>
            </a:pPr>
            <a:r>
              <a:rPr lang="en-US" sz="2199" spc="-87">
                <a:solidFill>
                  <a:srgbClr val="12100E"/>
                </a:solidFill>
                <a:latin typeface="Open Sauce"/>
                <a:ea typeface="Open Sauce"/>
                <a:cs typeface="Open Sauce"/>
                <a:sym typeface="Open Sauce"/>
              </a:rPr>
              <a:t>OMNIPOSE </a:t>
            </a:r>
          </a:p>
          <a:p>
            <a:pPr algn="l">
              <a:lnSpc>
                <a:spcPts val="3079"/>
              </a:lnSpc>
              <a:spcBef>
                <a:spcPct val="0"/>
              </a:spcBef>
            </a:pPr>
          </a:p>
          <a:p>
            <a:pPr algn="l" marL="474979" indent="-237490" lvl="1">
              <a:lnSpc>
                <a:spcPts val="3079"/>
              </a:lnSpc>
              <a:spcBef>
                <a:spcPct val="0"/>
              </a:spcBef>
              <a:buFont typeface="Arial"/>
              <a:buChar char="•"/>
            </a:pPr>
            <a:r>
              <a:rPr lang="en-US" b="true" sz="2199" spc="-87">
                <a:solidFill>
                  <a:srgbClr val="12100E"/>
                </a:solidFill>
                <a:latin typeface="Open Sauce Bold"/>
                <a:ea typeface="Open Sauce Bold"/>
                <a:cs typeface="Open Sauce Bold"/>
                <a:sym typeface="Open Sauce Bold"/>
              </a:rPr>
              <a:t>A REPLACEMENT MUST BE OPEN SOURCE AND INTEGRABLE INTO THE APP, NOT JUST WIN A BENCHMARK.</a:t>
            </a:r>
          </a:p>
          <a:p>
            <a:pPr algn="l">
              <a:lnSpc>
                <a:spcPts val="3079"/>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AutoShape 2" id="2"/>
          <p:cNvSpPr/>
          <p:nvPr/>
        </p:nvSpPr>
        <p:spPr>
          <a:xfrm>
            <a:off x="708907" y="9487211"/>
            <a:ext cx="639585" cy="0"/>
          </a:xfrm>
          <a:prstGeom prst="line">
            <a:avLst/>
          </a:prstGeom>
          <a:ln cap="flat" w="114300">
            <a:solidFill>
              <a:srgbClr val="FE8213"/>
            </a:solidFill>
            <a:prstDash val="solid"/>
            <a:headEnd type="none" len="sm" w="sm"/>
            <a:tailEnd type="none" len="sm" w="sm"/>
          </a:ln>
        </p:spPr>
      </p:sp>
      <p:sp>
        <p:nvSpPr>
          <p:cNvPr name="Freeform 3" id="3"/>
          <p:cNvSpPr/>
          <p:nvPr/>
        </p:nvSpPr>
        <p:spPr>
          <a:xfrm flipH="false" flipV="false" rot="0">
            <a:off x="553031" y="708008"/>
            <a:ext cx="5017743" cy="1298710"/>
          </a:xfrm>
          <a:custGeom>
            <a:avLst/>
            <a:gdLst/>
            <a:ahLst/>
            <a:cxnLst/>
            <a:rect r="r" b="b" t="t" l="l"/>
            <a:pathLst>
              <a:path h="1298710" w="5017743">
                <a:moveTo>
                  <a:pt x="0" y="0"/>
                </a:moveTo>
                <a:lnTo>
                  <a:pt x="5017743" y="0"/>
                </a:lnTo>
                <a:lnTo>
                  <a:pt x="5017743" y="1298710"/>
                </a:lnTo>
                <a:lnTo>
                  <a:pt x="0" y="1298710"/>
                </a:lnTo>
                <a:lnTo>
                  <a:pt x="0" y="0"/>
                </a:lnTo>
                <a:close/>
              </a:path>
            </a:pathLst>
          </a:custGeom>
          <a:blipFill>
            <a:blip r:embed="rId2"/>
            <a:stretch>
              <a:fillRect l="0" t="0" r="0" b="0"/>
            </a:stretch>
          </a:blipFill>
        </p:spPr>
      </p:sp>
      <p:sp>
        <p:nvSpPr>
          <p:cNvPr name="TextBox 4" id="4"/>
          <p:cNvSpPr txBox="true"/>
          <p:nvPr/>
        </p:nvSpPr>
        <p:spPr>
          <a:xfrm rot="0">
            <a:off x="553031" y="9723887"/>
            <a:ext cx="2230508" cy="309150"/>
          </a:xfrm>
          <a:prstGeom prst="rect">
            <a:avLst/>
          </a:prstGeom>
        </p:spPr>
        <p:txBody>
          <a:bodyPr anchor="t" rtlCol="false" tIns="0" lIns="0" bIns="0" rIns="0">
            <a:spAutoFit/>
          </a:bodyPr>
          <a:lstStyle/>
          <a:p>
            <a:pPr algn="l">
              <a:lnSpc>
                <a:spcPts val="2502"/>
              </a:lnSpc>
            </a:pPr>
            <a:r>
              <a:rPr lang="en-US" b="true" sz="1787" spc="-71">
                <a:solidFill>
                  <a:srgbClr val="12100E"/>
                </a:solidFill>
                <a:latin typeface="Open Sauce Heavy"/>
                <a:ea typeface="Open Sauce Heavy"/>
                <a:cs typeface="Open Sauce Heavy"/>
                <a:sym typeface="Open Sauce Heavy"/>
              </a:rPr>
              <a:t>CELL FOUNDRY</a:t>
            </a:r>
          </a:p>
        </p:txBody>
      </p:sp>
      <p:sp>
        <p:nvSpPr>
          <p:cNvPr name="TextBox 5" id="5"/>
          <p:cNvSpPr txBox="true"/>
          <p:nvPr/>
        </p:nvSpPr>
        <p:spPr>
          <a:xfrm rot="0">
            <a:off x="12894229" y="9560829"/>
            <a:ext cx="5034688" cy="364216"/>
          </a:xfrm>
          <a:prstGeom prst="rect">
            <a:avLst/>
          </a:prstGeom>
        </p:spPr>
        <p:txBody>
          <a:bodyPr anchor="t" rtlCol="false" tIns="0" lIns="0" bIns="0" rIns="0">
            <a:spAutoFit/>
          </a:bodyPr>
          <a:lstStyle/>
          <a:p>
            <a:pPr algn="l">
              <a:lnSpc>
                <a:spcPts val="3025"/>
              </a:lnSpc>
            </a:pPr>
            <a:r>
              <a:rPr lang="en-US" sz="2160" spc="-43">
                <a:solidFill>
                  <a:srgbClr val="12100E"/>
                </a:solidFill>
                <a:latin typeface="Noto Serif"/>
                <a:ea typeface="Noto Serif"/>
                <a:cs typeface="Noto Serif"/>
                <a:sym typeface="Noto Serif"/>
              </a:rPr>
              <a:t>Meeting Title: BiWeekly Meet - 2</a:t>
            </a:r>
          </a:p>
        </p:txBody>
      </p:sp>
      <p:sp>
        <p:nvSpPr>
          <p:cNvPr name="Freeform 6" id="6"/>
          <p:cNvSpPr/>
          <p:nvPr/>
        </p:nvSpPr>
        <p:spPr>
          <a:xfrm flipH="false" flipV="false" rot="0">
            <a:off x="13282690" y="835665"/>
            <a:ext cx="4646228" cy="1171053"/>
          </a:xfrm>
          <a:custGeom>
            <a:avLst/>
            <a:gdLst/>
            <a:ahLst/>
            <a:cxnLst/>
            <a:rect r="r" b="b" t="t" l="l"/>
            <a:pathLst>
              <a:path h="1171053" w="4646228">
                <a:moveTo>
                  <a:pt x="0" y="0"/>
                </a:moveTo>
                <a:lnTo>
                  <a:pt x="4646228" y="0"/>
                </a:lnTo>
                <a:lnTo>
                  <a:pt x="4646228" y="1171053"/>
                </a:lnTo>
                <a:lnTo>
                  <a:pt x="0" y="1171053"/>
                </a:lnTo>
                <a:lnTo>
                  <a:pt x="0" y="0"/>
                </a:lnTo>
                <a:close/>
              </a:path>
            </a:pathLst>
          </a:custGeom>
          <a:blipFill>
            <a:blip r:embed="rId3"/>
            <a:stretch>
              <a:fillRect l="0" t="-1044" r="0" b="-79123"/>
            </a:stretch>
          </a:blipFill>
        </p:spPr>
      </p:sp>
      <p:sp>
        <p:nvSpPr>
          <p:cNvPr name="TextBox 7" id="7"/>
          <p:cNvSpPr txBox="true"/>
          <p:nvPr/>
        </p:nvSpPr>
        <p:spPr>
          <a:xfrm rot="0">
            <a:off x="708907" y="1768913"/>
            <a:ext cx="8498458" cy="1028700"/>
          </a:xfrm>
          <a:prstGeom prst="rect">
            <a:avLst/>
          </a:prstGeom>
        </p:spPr>
        <p:txBody>
          <a:bodyPr anchor="t" rtlCol="false" tIns="0" lIns="0" bIns="0" rIns="0">
            <a:spAutoFit/>
          </a:bodyPr>
          <a:lstStyle/>
          <a:p>
            <a:pPr algn="ctr">
              <a:lnSpc>
                <a:spcPts val="8400"/>
              </a:lnSpc>
            </a:pPr>
            <a:r>
              <a:rPr lang="en-US" sz="6000" b="true">
                <a:solidFill>
                  <a:srgbClr val="12100E"/>
                </a:solidFill>
                <a:latin typeface="Canva Sans Bold"/>
                <a:ea typeface="Canva Sans Bold"/>
                <a:cs typeface="Canva Sans Bold"/>
                <a:sym typeface="Canva Sans Bold"/>
              </a:rPr>
              <a:t>For the next two weeks</a:t>
            </a:r>
          </a:p>
        </p:txBody>
      </p:sp>
      <p:sp>
        <p:nvSpPr>
          <p:cNvPr name="TextBox 8" id="8"/>
          <p:cNvSpPr txBox="true"/>
          <p:nvPr/>
        </p:nvSpPr>
        <p:spPr>
          <a:xfrm rot="0">
            <a:off x="708907" y="2939988"/>
            <a:ext cx="14111218" cy="3106420"/>
          </a:xfrm>
          <a:prstGeom prst="rect">
            <a:avLst/>
          </a:prstGeom>
        </p:spPr>
        <p:txBody>
          <a:bodyPr anchor="t" rtlCol="false" tIns="0" lIns="0" bIns="0" rIns="0">
            <a:spAutoFit/>
          </a:bodyPr>
          <a:lstStyle/>
          <a:p>
            <a:pPr algn="l" marL="474979" indent="-237490" lvl="1">
              <a:lnSpc>
                <a:spcPts val="3079"/>
              </a:lnSpc>
              <a:spcBef>
                <a:spcPct val="0"/>
              </a:spcBef>
              <a:buFont typeface="Arial"/>
              <a:buChar char="•"/>
            </a:pPr>
            <a:r>
              <a:rPr lang="en-US" sz="2199" spc="-87">
                <a:solidFill>
                  <a:srgbClr val="12100E"/>
                </a:solidFill>
                <a:latin typeface="Open Sauce"/>
                <a:ea typeface="Open Sauce"/>
                <a:cs typeface="Open Sauce"/>
                <a:sym typeface="Open Sauce"/>
              </a:rPr>
              <a:t>ZERO-SH</a:t>
            </a:r>
            <a:r>
              <a:rPr lang="en-US" sz="2199" spc="-87">
                <a:solidFill>
                  <a:srgbClr val="12100E"/>
                </a:solidFill>
                <a:latin typeface="Open Sauce"/>
                <a:ea typeface="Open Sauce"/>
                <a:cs typeface="Open Sauce"/>
                <a:sym typeface="Open Sauce"/>
              </a:rPr>
              <a:t>OT ON THE FIRST 3 TO 5 MODELS, PLUS A SEMANTIC BASELINE IF AGREED</a:t>
            </a:r>
          </a:p>
          <a:p>
            <a:pPr algn="l">
              <a:lnSpc>
                <a:spcPts val="3079"/>
              </a:lnSpc>
              <a:spcBef>
                <a:spcPct val="0"/>
              </a:spcBef>
            </a:pPr>
          </a:p>
          <a:p>
            <a:pPr algn="l" marL="474979" indent="-237490" lvl="1">
              <a:lnSpc>
                <a:spcPts val="3079"/>
              </a:lnSpc>
              <a:spcBef>
                <a:spcPct val="0"/>
              </a:spcBef>
              <a:buFont typeface="Arial"/>
              <a:buChar char="•"/>
            </a:pPr>
            <a:r>
              <a:rPr lang="en-US" sz="2199" spc="-87">
                <a:solidFill>
                  <a:srgbClr val="12100E"/>
                </a:solidFill>
                <a:latin typeface="Open Sauce"/>
                <a:ea typeface="Open Sauce"/>
                <a:cs typeface="Open Sauce"/>
                <a:sym typeface="Open Sauce"/>
              </a:rPr>
              <a:t>ERROR ANALYSIS: WHY EACH MODEL WORKS OR FAILS</a:t>
            </a:r>
          </a:p>
          <a:p>
            <a:pPr algn="l">
              <a:lnSpc>
                <a:spcPts val="3079"/>
              </a:lnSpc>
              <a:spcBef>
                <a:spcPct val="0"/>
              </a:spcBef>
            </a:pPr>
          </a:p>
          <a:p>
            <a:pPr algn="l" marL="474979" indent="-237490" lvl="1">
              <a:lnSpc>
                <a:spcPts val="3079"/>
              </a:lnSpc>
              <a:spcBef>
                <a:spcPct val="0"/>
              </a:spcBef>
              <a:buFont typeface="Arial"/>
              <a:buChar char="•"/>
            </a:pPr>
            <a:r>
              <a:rPr lang="en-US" sz="2199" spc="-87">
                <a:solidFill>
                  <a:srgbClr val="12100E"/>
                </a:solidFill>
                <a:latin typeface="Open Sauce"/>
                <a:ea typeface="Open Sauce"/>
                <a:cs typeface="Open Sauce"/>
                <a:sym typeface="Open Sauce"/>
              </a:rPr>
              <a:t>FIRST FINE-TUNE OF THE BEST MODEL ON THE FIXED SPLIT</a:t>
            </a:r>
          </a:p>
          <a:p>
            <a:pPr algn="l">
              <a:lnSpc>
                <a:spcPts val="3079"/>
              </a:lnSpc>
              <a:spcBef>
                <a:spcPct val="0"/>
              </a:spcBef>
            </a:pPr>
          </a:p>
          <a:p>
            <a:pPr algn="l" marL="474979" indent="-237490" lvl="1">
              <a:lnSpc>
                <a:spcPts val="3079"/>
              </a:lnSpc>
              <a:spcBef>
                <a:spcPct val="0"/>
              </a:spcBef>
              <a:buFont typeface="Arial"/>
              <a:buChar char="•"/>
            </a:pPr>
            <a:r>
              <a:rPr lang="en-US" sz="2199" spc="-87">
                <a:solidFill>
                  <a:srgbClr val="12100E"/>
                </a:solidFill>
                <a:latin typeface="Open Sauce"/>
                <a:ea typeface="Open Sauce"/>
                <a:cs typeface="Open Sauce"/>
                <a:sym typeface="Open Sauce"/>
              </a:rPr>
              <a:t>SHORT SUMMARY AND ANY FURTHER QUESTIONS TO IMES</a:t>
            </a:r>
          </a:p>
          <a:p>
            <a:pPr algn="l">
              <a:lnSpc>
                <a:spcPts val="3079"/>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Freeform 2" id="2" descr="imes.thws logo"/>
          <p:cNvSpPr/>
          <p:nvPr/>
        </p:nvSpPr>
        <p:spPr>
          <a:xfrm flipH="false" flipV="false" rot="0">
            <a:off x="553022" y="707993"/>
            <a:ext cx="5017770" cy="1298734"/>
          </a:xfrm>
          <a:custGeom>
            <a:avLst/>
            <a:gdLst/>
            <a:ahLst/>
            <a:cxnLst/>
            <a:rect r="r" b="b" t="t" l="l"/>
            <a:pathLst>
              <a:path h="1298734" w="5017770">
                <a:moveTo>
                  <a:pt x="0" y="0"/>
                </a:moveTo>
                <a:lnTo>
                  <a:pt x="5017770" y="0"/>
                </a:lnTo>
                <a:lnTo>
                  <a:pt x="5017770" y="1298734"/>
                </a:lnTo>
                <a:lnTo>
                  <a:pt x="0" y="1298734"/>
                </a:lnTo>
                <a:lnTo>
                  <a:pt x="0" y="0"/>
                </a:lnTo>
                <a:close/>
              </a:path>
            </a:pathLst>
          </a:custGeom>
          <a:blipFill>
            <a:blip r:embed="rId3"/>
            <a:stretch>
              <a:fillRect l="-14" t="0" r="-14" b="0"/>
            </a:stretch>
          </a:blipFill>
        </p:spPr>
      </p:sp>
      <p:grpSp>
        <p:nvGrpSpPr>
          <p:cNvPr name="Group 3" id="3"/>
          <p:cNvGrpSpPr/>
          <p:nvPr/>
        </p:nvGrpSpPr>
        <p:grpSpPr>
          <a:xfrm rot="0">
            <a:off x="708660" y="9429750"/>
            <a:ext cx="639604" cy="114300"/>
            <a:chOff x="0" y="0"/>
            <a:chExt cx="852805" cy="152400"/>
          </a:xfrm>
        </p:grpSpPr>
        <p:sp>
          <p:nvSpPr>
            <p:cNvPr name="Freeform 4" id="4"/>
            <p:cNvSpPr/>
            <p:nvPr/>
          </p:nvSpPr>
          <p:spPr>
            <a:xfrm flipH="false" flipV="false" rot="0">
              <a:off x="0" y="0"/>
              <a:ext cx="852805" cy="152400"/>
            </a:xfrm>
            <a:custGeom>
              <a:avLst/>
              <a:gdLst/>
              <a:ahLst/>
              <a:cxnLst/>
              <a:rect r="r" b="b" t="t" l="l"/>
              <a:pathLst>
                <a:path h="152400" w="852805">
                  <a:moveTo>
                    <a:pt x="0" y="0"/>
                  </a:moveTo>
                  <a:lnTo>
                    <a:pt x="852805" y="0"/>
                  </a:lnTo>
                  <a:lnTo>
                    <a:pt x="852805" y="152400"/>
                  </a:lnTo>
                  <a:lnTo>
                    <a:pt x="0" y="152400"/>
                  </a:lnTo>
                  <a:close/>
                </a:path>
              </a:pathLst>
            </a:custGeom>
            <a:solidFill>
              <a:srgbClr val="FE8213"/>
            </a:solidFill>
          </p:spPr>
        </p:sp>
        <p:sp>
          <p:nvSpPr>
            <p:cNvPr name="TextBox 5" id="5"/>
            <p:cNvSpPr txBox="true"/>
            <p:nvPr/>
          </p:nvSpPr>
          <p:spPr>
            <a:xfrm>
              <a:off x="0" y="-38100"/>
              <a:ext cx="852805" cy="190500"/>
            </a:xfrm>
            <a:prstGeom prst="rect">
              <a:avLst/>
            </a:prstGeom>
          </p:spPr>
          <p:txBody>
            <a:bodyPr anchor="ctr" rtlCol="false" tIns="50800" lIns="50800" bIns="50800" rIns="50800"/>
            <a:lstStyle/>
            <a:p>
              <a:pPr algn="l">
                <a:lnSpc>
                  <a:spcPts val="1679"/>
                </a:lnSpc>
              </a:pPr>
            </a:p>
          </p:txBody>
        </p:sp>
      </p:grpSp>
      <p:sp>
        <p:nvSpPr>
          <p:cNvPr name="Freeform 6" id="6" descr="cairo.thws logo"/>
          <p:cNvSpPr/>
          <p:nvPr/>
        </p:nvSpPr>
        <p:spPr>
          <a:xfrm flipH="false" flipV="false" rot="0">
            <a:off x="13282708" y="835628"/>
            <a:ext cx="4646200" cy="1171099"/>
          </a:xfrm>
          <a:custGeom>
            <a:avLst/>
            <a:gdLst/>
            <a:ahLst/>
            <a:cxnLst/>
            <a:rect r="r" b="b" t="t" l="l"/>
            <a:pathLst>
              <a:path h="1171099" w="4646200">
                <a:moveTo>
                  <a:pt x="0" y="0"/>
                </a:moveTo>
                <a:lnTo>
                  <a:pt x="4646200" y="0"/>
                </a:lnTo>
                <a:lnTo>
                  <a:pt x="4646200" y="1171099"/>
                </a:lnTo>
                <a:lnTo>
                  <a:pt x="0" y="1171099"/>
                </a:lnTo>
                <a:lnTo>
                  <a:pt x="0" y="0"/>
                </a:lnTo>
                <a:close/>
              </a:path>
            </a:pathLst>
          </a:custGeom>
          <a:blipFill>
            <a:blip r:embed="rId4"/>
            <a:stretch>
              <a:fillRect l="-39" t="0" r="-39" b="-80162"/>
            </a:stretch>
          </a:blipFill>
        </p:spPr>
      </p:sp>
      <p:sp>
        <p:nvSpPr>
          <p:cNvPr name="TextBox 7" id="7"/>
          <p:cNvSpPr txBox="true"/>
          <p:nvPr/>
        </p:nvSpPr>
        <p:spPr>
          <a:xfrm rot="0">
            <a:off x="553022" y="9704832"/>
            <a:ext cx="2476500" cy="325755"/>
          </a:xfrm>
          <a:prstGeom prst="rect">
            <a:avLst/>
          </a:prstGeom>
        </p:spPr>
        <p:txBody>
          <a:bodyPr anchor="t" rtlCol="false" tIns="0" lIns="0" bIns="0" rIns="0">
            <a:spAutoFit/>
          </a:bodyPr>
          <a:lstStyle/>
          <a:p>
            <a:pPr algn="l">
              <a:lnSpc>
                <a:spcPts val="2520"/>
              </a:lnSpc>
            </a:pPr>
            <a:r>
              <a:rPr lang="en-US" sz="1800" b="true">
                <a:solidFill>
                  <a:srgbClr val="12100E"/>
                </a:solidFill>
                <a:latin typeface="Arimo Bold"/>
                <a:ea typeface="Arimo Bold"/>
                <a:cs typeface="Arimo Bold"/>
                <a:sym typeface="Arimo Bold"/>
              </a:rPr>
              <a:t>CELL FOUNDRY</a:t>
            </a:r>
          </a:p>
        </p:txBody>
      </p:sp>
      <p:sp>
        <p:nvSpPr>
          <p:cNvPr name="TextBox 8" id="8"/>
          <p:cNvSpPr txBox="true"/>
          <p:nvPr/>
        </p:nvSpPr>
        <p:spPr>
          <a:xfrm rot="0">
            <a:off x="12894183" y="9551289"/>
            <a:ext cx="5143500" cy="365760"/>
          </a:xfrm>
          <a:prstGeom prst="rect">
            <a:avLst/>
          </a:prstGeom>
        </p:spPr>
        <p:txBody>
          <a:bodyPr anchor="t" rtlCol="false" tIns="0" lIns="0" bIns="0" rIns="0">
            <a:spAutoFit/>
          </a:bodyPr>
          <a:lstStyle/>
          <a:p>
            <a:pPr algn="l">
              <a:lnSpc>
                <a:spcPts val="2940"/>
              </a:lnSpc>
            </a:pPr>
            <a:r>
              <a:rPr lang="en-US" sz="2100">
                <a:solidFill>
                  <a:srgbClr val="12100E"/>
                </a:solidFill>
                <a:latin typeface="Arimo"/>
                <a:ea typeface="Arimo"/>
                <a:cs typeface="Arimo"/>
                <a:sym typeface="Arimo"/>
              </a:rPr>
              <a:t>Meeting Title: Biweekly meet - 2</a:t>
            </a:r>
          </a:p>
        </p:txBody>
      </p:sp>
      <p:sp>
        <p:nvSpPr>
          <p:cNvPr name="TextBox 9" id="9"/>
          <p:cNvSpPr txBox="true"/>
          <p:nvPr/>
        </p:nvSpPr>
        <p:spPr>
          <a:xfrm rot="0">
            <a:off x="939070" y="2095500"/>
            <a:ext cx="11430000" cy="365760"/>
          </a:xfrm>
          <a:prstGeom prst="rect">
            <a:avLst/>
          </a:prstGeom>
        </p:spPr>
        <p:txBody>
          <a:bodyPr anchor="t" rtlCol="false" tIns="0" lIns="0" bIns="0" rIns="0">
            <a:spAutoFit/>
          </a:bodyPr>
          <a:lstStyle/>
          <a:p>
            <a:pPr algn="l">
              <a:lnSpc>
                <a:spcPts val="2940"/>
              </a:lnSpc>
            </a:pPr>
            <a:r>
              <a:rPr lang="en-US" sz="2100" b="true">
                <a:solidFill>
                  <a:srgbClr val="FE8213"/>
                </a:solidFill>
                <a:latin typeface="Arimo Bold"/>
                <a:ea typeface="Arimo Bold"/>
                <a:cs typeface="Arimo Bold"/>
                <a:sym typeface="Arimo Bold"/>
              </a:rPr>
              <a:t>6 · UPDATE SINCE 8 OCTOBER</a:t>
            </a:r>
          </a:p>
        </p:txBody>
      </p:sp>
      <p:sp>
        <p:nvSpPr>
          <p:cNvPr name="TextBox 10" id="10"/>
          <p:cNvSpPr txBox="true"/>
          <p:nvPr/>
        </p:nvSpPr>
        <p:spPr>
          <a:xfrm rot="0">
            <a:off x="939070" y="2390775"/>
            <a:ext cx="11906250" cy="948690"/>
          </a:xfrm>
          <a:prstGeom prst="rect">
            <a:avLst/>
          </a:prstGeom>
        </p:spPr>
        <p:txBody>
          <a:bodyPr anchor="t" rtlCol="false" tIns="0" lIns="0" bIns="0" rIns="0">
            <a:spAutoFit/>
          </a:bodyPr>
          <a:lstStyle/>
          <a:p>
            <a:pPr algn="l">
              <a:lnSpc>
                <a:spcPts val="7559"/>
              </a:lnSpc>
            </a:pPr>
            <a:r>
              <a:rPr lang="en-US" sz="5400" b="true">
                <a:solidFill>
                  <a:srgbClr val="12100E"/>
                </a:solidFill>
                <a:latin typeface="Arimo Bold"/>
                <a:ea typeface="Arimo Bold"/>
                <a:cs typeface="Arimo Bold"/>
                <a:sym typeface="Arimo Bold"/>
              </a:rPr>
              <a:t>Our Questions to IMES</a:t>
            </a:r>
          </a:p>
        </p:txBody>
      </p:sp>
      <p:sp>
        <p:nvSpPr>
          <p:cNvPr name="TextBox 11" id="11"/>
          <p:cNvSpPr txBox="true"/>
          <p:nvPr/>
        </p:nvSpPr>
        <p:spPr>
          <a:xfrm rot="0">
            <a:off x="1028700" y="3263265"/>
            <a:ext cx="8191500" cy="533400"/>
          </a:xfrm>
          <a:prstGeom prst="rect">
            <a:avLst/>
          </a:prstGeom>
        </p:spPr>
        <p:txBody>
          <a:bodyPr anchor="t" rtlCol="false" tIns="0" lIns="0" bIns="0" rIns="0">
            <a:spAutoFit/>
          </a:bodyPr>
          <a:lstStyle/>
          <a:p>
            <a:pPr algn="l">
              <a:lnSpc>
                <a:spcPts val="4200"/>
              </a:lnSpc>
            </a:pPr>
            <a:r>
              <a:rPr lang="en-US" sz="3000" b="true">
                <a:solidFill>
                  <a:srgbClr val="12100E"/>
                </a:solidFill>
                <a:latin typeface="Arimo Bold"/>
                <a:ea typeface="Arimo Bold"/>
                <a:cs typeface="Arimo Bold"/>
                <a:sym typeface="Arimo Bold"/>
              </a:rPr>
              <a:t>What we asked</a:t>
            </a:r>
          </a:p>
        </p:txBody>
      </p:sp>
      <p:sp>
        <p:nvSpPr>
          <p:cNvPr name="TextBox 12" id="12"/>
          <p:cNvSpPr txBox="true"/>
          <p:nvPr/>
        </p:nvSpPr>
        <p:spPr>
          <a:xfrm rot="0">
            <a:off x="1028700" y="3701415"/>
            <a:ext cx="14475932" cy="5682039"/>
          </a:xfrm>
          <a:prstGeom prst="rect">
            <a:avLst/>
          </a:prstGeom>
        </p:spPr>
        <p:txBody>
          <a:bodyPr anchor="t" rtlCol="false" tIns="0" lIns="0" bIns="0" rIns="0">
            <a:spAutoFit/>
          </a:bodyPr>
          <a:lstStyle/>
          <a:p>
            <a:pPr algn="l" marL="586268" indent="-293134" lvl="1">
              <a:lnSpc>
                <a:spcPts val="4073"/>
              </a:lnSpc>
              <a:buFont typeface="Arial"/>
              <a:buChar char="•"/>
            </a:pPr>
            <a:r>
              <a:rPr lang="en-US" sz="2715">
                <a:solidFill>
                  <a:srgbClr val="12100E"/>
                </a:solidFill>
                <a:latin typeface="Arimo"/>
                <a:ea typeface="Arimo"/>
                <a:cs typeface="Arimo"/>
                <a:sym typeface="Arimo"/>
              </a:rPr>
              <a:t>Which numbers matter: fat proportion, cell count, size or shape?</a:t>
            </a:r>
          </a:p>
          <a:p>
            <a:pPr algn="l">
              <a:lnSpc>
                <a:spcPts val="4073"/>
              </a:lnSpc>
            </a:pPr>
          </a:p>
          <a:p>
            <a:pPr algn="l" marL="586268" indent="-293134" lvl="1">
              <a:lnSpc>
                <a:spcPts val="4073"/>
              </a:lnSpc>
              <a:buFont typeface="Arial"/>
              <a:buChar char="•"/>
            </a:pPr>
            <a:r>
              <a:rPr lang="en-US" sz="2715">
                <a:solidFill>
                  <a:srgbClr val="12100E"/>
                </a:solidFill>
                <a:latin typeface="Arimo"/>
                <a:ea typeface="Arimo"/>
                <a:cs typeface="Arimo"/>
                <a:sym typeface="Arimo"/>
              </a:rPr>
              <a:t>Can we get your app and the exact DINOCell version?</a:t>
            </a:r>
          </a:p>
          <a:p>
            <a:pPr algn="l">
              <a:lnSpc>
                <a:spcPts val="4073"/>
              </a:lnSpc>
            </a:pPr>
          </a:p>
          <a:p>
            <a:pPr algn="l" marL="586268" indent="-293134" lvl="1">
              <a:lnSpc>
                <a:spcPts val="4073"/>
              </a:lnSpc>
              <a:buFont typeface="Arial"/>
              <a:buChar char="•"/>
            </a:pPr>
            <a:r>
              <a:rPr lang="en-US" sz="2715">
                <a:solidFill>
                  <a:srgbClr val="12100E"/>
                </a:solidFill>
                <a:latin typeface="Arimo"/>
                <a:ea typeface="Arimo"/>
                <a:cs typeface="Arimo"/>
                <a:sym typeface="Arimo"/>
              </a:rPr>
              <a:t>Which images were used for training and for testing?</a:t>
            </a:r>
          </a:p>
          <a:p>
            <a:pPr algn="l">
              <a:lnSpc>
                <a:spcPts val="4073"/>
              </a:lnSpc>
            </a:pPr>
          </a:p>
          <a:p>
            <a:pPr algn="l" marL="586268" indent="-293134" lvl="1">
              <a:lnSpc>
                <a:spcPts val="4073"/>
              </a:lnSpc>
              <a:buFont typeface="Arial"/>
              <a:buChar char="•"/>
            </a:pPr>
            <a:r>
              <a:rPr lang="en-US" sz="2715">
                <a:solidFill>
                  <a:srgbClr val="12100E"/>
                </a:solidFill>
                <a:latin typeface="Arimo"/>
                <a:ea typeface="Arimo"/>
                <a:cs typeface="Arimo"/>
                <a:sym typeface="Arimo"/>
              </a:rPr>
              <a:t>Full code package: weights, preprocessing, metric code, results</a:t>
            </a:r>
          </a:p>
          <a:p>
            <a:pPr algn="l">
              <a:lnSpc>
                <a:spcPts val="4073"/>
              </a:lnSpc>
            </a:pPr>
          </a:p>
          <a:p>
            <a:pPr algn="l" marL="586268" indent="-293134" lvl="1">
              <a:lnSpc>
                <a:spcPts val="4073"/>
              </a:lnSpc>
              <a:buFont typeface="Arial"/>
              <a:buChar char="•"/>
            </a:pPr>
            <a:r>
              <a:rPr lang="en-US" sz="2715">
                <a:solidFill>
                  <a:srgbClr val="12100E"/>
                </a:solidFill>
                <a:latin typeface="Arimo"/>
                <a:ea typeface="Arimo"/>
                <a:cs typeface="Arimo"/>
                <a:sym typeface="Arimo"/>
              </a:rPr>
              <a:t>What do the file names mean (Positiv/Negativ, Diff/Ctrl, B1/D5)?</a:t>
            </a:r>
          </a:p>
          <a:p>
            <a:pPr algn="l">
              <a:lnSpc>
                <a:spcPts val="4073"/>
              </a:lnSpc>
            </a:pPr>
          </a:p>
          <a:p>
            <a:pPr algn="l" marL="586268" indent="-293134" lvl="1">
              <a:lnSpc>
                <a:spcPts val="4073"/>
              </a:lnSpc>
              <a:buFont typeface="Arial"/>
              <a:buChar char="•"/>
            </a:pPr>
            <a:r>
              <a:rPr lang="en-US" sz="2715">
                <a:solidFill>
                  <a:srgbClr val="12100E"/>
                </a:solidFill>
                <a:latin typeface="Arimo"/>
                <a:ea typeface="Arimo"/>
                <a:cs typeface="Arimo"/>
                <a:sym typeface="Arimo"/>
              </a:rPr>
              <a:t>Which microscope type, and are more annotated images possible?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Freeform 2" id="2" descr="imes.thws logo"/>
          <p:cNvSpPr/>
          <p:nvPr/>
        </p:nvSpPr>
        <p:spPr>
          <a:xfrm flipH="false" flipV="false" rot="0">
            <a:off x="553022" y="707993"/>
            <a:ext cx="5017770" cy="1298734"/>
          </a:xfrm>
          <a:custGeom>
            <a:avLst/>
            <a:gdLst/>
            <a:ahLst/>
            <a:cxnLst/>
            <a:rect r="r" b="b" t="t" l="l"/>
            <a:pathLst>
              <a:path h="1298734" w="5017770">
                <a:moveTo>
                  <a:pt x="0" y="0"/>
                </a:moveTo>
                <a:lnTo>
                  <a:pt x="5017770" y="0"/>
                </a:lnTo>
                <a:lnTo>
                  <a:pt x="5017770" y="1298734"/>
                </a:lnTo>
                <a:lnTo>
                  <a:pt x="0" y="1298734"/>
                </a:lnTo>
                <a:lnTo>
                  <a:pt x="0" y="0"/>
                </a:lnTo>
                <a:close/>
              </a:path>
            </a:pathLst>
          </a:custGeom>
          <a:blipFill>
            <a:blip r:embed="rId3"/>
            <a:stretch>
              <a:fillRect l="-14" t="0" r="-14" b="0"/>
            </a:stretch>
          </a:blipFill>
        </p:spPr>
      </p:sp>
      <p:sp>
        <p:nvSpPr>
          <p:cNvPr name="Freeform 3" id="3" descr="cairo.thws logo"/>
          <p:cNvSpPr/>
          <p:nvPr/>
        </p:nvSpPr>
        <p:spPr>
          <a:xfrm flipH="false" flipV="false" rot="0">
            <a:off x="13282708" y="835628"/>
            <a:ext cx="4646200" cy="1171099"/>
          </a:xfrm>
          <a:custGeom>
            <a:avLst/>
            <a:gdLst/>
            <a:ahLst/>
            <a:cxnLst/>
            <a:rect r="r" b="b" t="t" l="l"/>
            <a:pathLst>
              <a:path h="1171099" w="4646200">
                <a:moveTo>
                  <a:pt x="0" y="0"/>
                </a:moveTo>
                <a:lnTo>
                  <a:pt x="4646200" y="0"/>
                </a:lnTo>
                <a:lnTo>
                  <a:pt x="4646200" y="1171099"/>
                </a:lnTo>
                <a:lnTo>
                  <a:pt x="0" y="1171099"/>
                </a:lnTo>
                <a:lnTo>
                  <a:pt x="0" y="0"/>
                </a:lnTo>
                <a:close/>
              </a:path>
            </a:pathLst>
          </a:custGeom>
          <a:blipFill>
            <a:blip r:embed="rId4"/>
            <a:stretch>
              <a:fillRect l="-39" t="0" r="-39" b="-80162"/>
            </a:stretch>
          </a:blipFill>
        </p:spPr>
      </p:sp>
      <p:grpSp>
        <p:nvGrpSpPr>
          <p:cNvPr name="Group 4" id="4"/>
          <p:cNvGrpSpPr/>
          <p:nvPr/>
        </p:nvGrpSpPr>
        <p:grpSpPr>
          <a:xfrm rot="0">
            <a:off x="708660" y="9429750"/>
            <a:ext cx="639604" cy="114300"/>
            <a:chOff x="0" y="0"/>
            <a:chExt cx="852805" cy="152400"/>
          </a:xfrm>
        </p:grpSpPr>
        <p:sp>
          <p:nvSpPr>
            <p:cNvPr name="Freeform 5" id="5"/>
            <p:cNvSpPr/>
            <p:nvPr/>
          </p:nvSpPr>
          <p:spPr>
            <a:xfrm flipH="false" flipV="false" rot="0">
              <a:off x="0" y="0"/>
              <a:ext cx="852805" cy="152400"/>
            </a:xfrm>
            <a:custGeom>
              <a:avLst/>
              <a:gdLst/>
              <a:ahLst/>
              <a:cxnLst/>
              <a:rect r="r" b="b" t="t" l="l"/>
              <a:pathLst>
                <a:path h="152400" w="852805">
                  <a:moveTo>
                    <a:pt x="0" y="0"/>
                  </a:moveTo>
                  <a:lnTo>
                    <a:pt x="852805" y="0"/>
                  </a:lnTo>
                  <a:lnTo>
                    <a:pt x="852805" y="152400"/>
                  </a:lnTo>
                  <a:lnTo>
                    <a:pt x="0" y="152400"/>
                  </a:lnTo>
                  <a:close/>
                </a:path>
              </a:pathLst>
            </a:custGeom>
            <a:solidFill>
              <a:srgbClr val="FE8213"/>
            </a:solidFill>
          </p:spPr>
        </p:sp>
        <p:sp>
          <p:nvSpPr>
            <p:cNvPr name="TextBox 6" id="6"/>
            <p:cNvSpPr txBox="true"/>
            <p:nvPr/>
          </p:nvSpPr>
          <p:spPr>
            <a:xfrm>
              <a:off x="0" y="-38100"/>
              <a:ext cx="852805" cy="190500"/>
            </a:xfrm>
            <a:prstGeom prst="rect">
              <a:avLst/>
            </a:prstGeom>
          </p:spPr>
          <p:txBody>
            <a:bodyPr anchor="ctr" rtlCol="false" tIns="50800" lIns="50800" bIns="50800" rIns="50800"/>
            <a:lstStyle/>
            <a:p>
              <a:pPr algn="l">
                <a:lnSpc>
                  <a:spcPts val="1679"/>
                </a:lnSpc>
              </a:pPr>
            </a:p>
          </p:txBody>
        </p:sp>
      </p:grpSp>
      <p:sp>
        <p:nvSpPr>
          <p:cNvPr name="TextBox 7" id="7"/>
          <p:cNvSpPr txBox="true"/>
          <p:nvPr/>
        </p:nvSpPr>
        <p:spPr>
          <a:xfrm rot="0">
            <a:off x="553022" y="9704832"/>
            <a:ext cx="2476500" cy="325755"/>
          </a:xfrm>
          <a:prstGeom prst="rect">
            <a:avLst/>
          </a:prstGeom>
        </p:spPr>
        <p:txBody>
          <a:bodyPr anchor="t" rtlCol="false" tIns="0" lIns="0" bIns="0" rIns="0">
            <a:spAutoFit/>
          </a:bodyPr>
          <a:lstStyle/>
          <a:p>
            <a:pPr algn="l">
              <a:lnSpc>
                <a:spcPts val="2520"/>
              </a:lnSpc>
            </a:pPr>
            <a:r>
              <a:rPr lang="en-US" sz="1800" b="true">
                <a:solidFill>
                  <a:srgbClr val="12100E"/>
                </a:solidFill>
                <a:latin typeface="Arimo Bold"/>
                <a:ea typeface="Arimo Bold"/>
                <a:cs typeface="Arimo Bold"/>
                <a:sym typeface="Arimo Bold"/>
              </a:rPr>
              <a:t>CELL FOUNDRY</a:t>
            </a:r>
          </a:p>
        </p:txBody>
      </p:sp>
      <p:sp>
        <p:nvSpPr>
          <p:cNvPr name="TextBox 8" id="8"/>
          <p:cNvSpPr txBox="true"/>
          <p:nvPr/>
        </p:nvSpPr>
        <p:spPr>
          <a:xfrm rot="0">
            <a:off x="12894183" y="9551289"/>
            <a:ext cx="5143500" cy="365760"/>
          </a:xfrm>
          <a:prstGeom prst="rect">
            <a:avLst/>
          </a:prstGeom>
        </p:spPr>
        <p:txBody>
          <a:bodyPr anchor="t" rtlCol="false" tIns="0" lIns="0" bIns="0" rIns="0">
            <a:spAutoFit/>
          </a:bodyPr>
          <a:lstStyle/>
          <a:p>
            <a:pPr algn="l">
              <a:lnSpc>
                <a:spcPts val="2940"/>
              </a:lnSpc>
            </a:pPr>
            <a:r>
              <a:rPr lang="en-US" sz="2100">
                <a:solidFill>
                  <a:srgbClr val="12100E"/>
                </a:solidFill>
                <a:latin typeface="Arimo"/>
                <a:ea typeface="Arimo"/>
                <a:cs typeface="Arimo"/>
                <a:sym typeface="Arimo"/>
              </a:rPr>
              <a:t>Meeting Title: Biweekly meet - 2</a:t>
            </a:r>
          </a:p>
        </p:txBody>
      </p:sp>
      <p:sp>
        <p:nvSpPr>
          <p:cNvPr name="TextBox 9" id="9"/>
          <p:cNvSpPr txBox="true"/>
          <p:nvPr/>
        </p:nvSpPr>
        <p:spPr>
          <a:xfrm rot="0">
            <a:off x="939070" y="2095500"/>
            <a:ext cx="11430000" cy="365760"/>
          </a:xfrm>
          <a:prstGeom prst="rect">
            <a:avLst/>
          </a:prstGeom>
        </p:spPr>
        <p:txBody>
          <a:bodyPr anchor="t" rtlCol="false" tIns="0" lIns="0" bIns="0" rIns="0">
            <a:spAutoFit/>
          </a:bodyPr>
          <a:lstStyle/>
          <a:p>
            <a:pPr algn="l">
              <a:lnSpc>
                <a:spcPts val="2940"/>
              </a:lnSpc>
            </a:pPr>
            <a:r>
              <a:rPr lang="en-US" sz="2100" b="true">
                <a:solidFill>
                  <a:srgbClr val="FE8213"/>
                </a:solidFill>
                <a:latin typeface="Arimo Bold"/>
                <a:ea typeface="Arimo Bold"/>
                <a:cs typeface="Arimo Bold"/>
                <a:sym typeface="Arimo Bold"/>
              </a:rPr>
              <a:t>6 · UPDATE SINCE 8 OCTOBER</a:t>
            </a:r>
          </a:p>
        </p:txBody>
      </p:sp>
      <p:sp>
        <p:nvSpPr>
          <p:cNvPr name="TextBox 10" id="10"/>
          <p:cNvSpPr txBox="true"/>
          <p:nvPr/>
        </p:nvSpPr>
        <p:spPr>
          <a:xfrm rot="0">
            <a:off x="939070" y="2390775"/>
            <a:ext cx="11906250" cy="948690"/>
          </a:xfrm>
          <a:prstGeom prst="rect">
            <a:avLst/>
          </a:prstGeom>
        </p:spPr>
        <p:txBody>
          <a:bodyPr anchor="t" rtlCol="false" tIns="0" lIns="0" bIns="0" rIns="0">
            <a:spAutoFit/>
          </a:bodyPr>
          <a:lstStyle/>
          <a:p>
            <a:pPr algn="l">
              <a:lnSpc>
                <a:spcPts val="7559"/>
              </a:lnSpc>
            </a:pPr>
            <a:r>
              <a:rPr lang="en-US" sz="5400" b="true">
                <a:solidFill>
                  <a:srgbClr val="12100E"/>
                </a:solidFill>
                <a:latin typeface="Arimo Bold"/>
                <a:ea typeface="Arimo Bold"/>
                <a:cs typeface="Arimo Bold"/>
                <a:sym typeface="Arimo Bold"/>
              </a:rPr>
              <a:t>Nicole’s Answer (15 October)</a:t>
            </a:r>
          </a:p>
        </p:txBody>
      </p:sp>
      <p:sp>
        <p:nvSpPr>
          <p:cNvPr name="TextBox 11" id="11"/>
          <p:cNvSpPr txBox="true"/>
          <p:nvPr/>
        </p:nvSpPr>
        <p:spPr>
          <a:xfrm rot="0">
            <a:off x="1028700" y="3396615"/>
            <a:ext cx="8191500" cy="533400"/>
          </a:xfrm>
          <a:prstGeom prst="rect">
            <a:avLst/>
          </a:prstGeom>
        </p:spPr>
        <p:txBody>
          <a:bodyPr anchor="t" rtlCol="false" tIns="0" lIns="0" bIns="0" rIns="0">
            <a:spAutoFit/>
          </a:bodyPr>
          <a:lstStyle/>
          <a:p>
            <a:pPr algn="l">
              <a:lnSpc>
                <a:spcPts val="4200"/>
              </a:lnSpc>
            </a:pPr>
            <a:r>
              <a:rPr lang="en-US" sz="3000" b="true">
                <a:solidFill>
                  <a:srgbClr val="12100E"/>
                </a:solidFill>
                <a:latin typeface="Arimo Bold"/>
                <a:ea typeface="Arimo Bold"/>
                <a:cs typeface="Arimo Bold"/>
                <a:sym typeface="Arimo Bold"/>
              </a:rPr>
              <a:t>What we learned</a:t>
            </a:r>
          </a:p>
        </p:txBody>
      </p:sp>
      <p:sp>
        <p:nvSpPr>
          <p:cNvPr name="TextBox 12" id="12"/>
          <p:cNvSpPr txBox="true"/>
          <p:nvPr/>
        </p:nvSpPr>
        <p:spPr>
          <a:xfrm rot="0">
            <a:off x="1028700" y="3949065"/>
            <a:ext cx="12901237" cy="4398711"/>
          </a:xfrm>
          <a:prstGeom prst="rect">
            <a:avLst/>
          </a:prstGeom>
        </p:spPr>
        <p:txBody>
          <a:bodyPr anchor="t" rtlCol="false" tIns="0" lIns="0" bIns="0" rIns="0">
            <a:spAutoFit/>
          </a:bodyPr>
          <a:lstStyle/>
          <a:p>
            <a:pPr algn="l" marL="714068" indent="-357034" lvl="1">
              <a:lnSpc>
                <a:spcPts val="4961"/>
              </a:lnSpc>
              <a:buFont typeface="Arial"/>
              <a:buChar char="•"/>
            </a:pPr>
            <a:r>
              <a:rPr lang="en-US" sz="3307">
                <a:solidFill>
                  <a:srgbClr val="12100E"/>
                </a:solidFill>
                <a:latin typeface="Arimo"/>
                <a:ea typeface="Arimo"/>
                <a:cs typeface="Arimo"/>
                <a:sym typeface="Arimo"/>
              </a:rPr>
              <a:t>Most important: the area covered by fat cells; cell count is second</a:t>
            </a:r>
          </a:p>
          <a:p>
            <a:pPr algn="l" marL="714068" indent="-357034" lvl="1">
              <a:lnSpc>
                <a:spcPts val="4961"/>
              </a:lnSpc>
              <a:buFont typeface="Arial"/>
              <a:buChar char="•"/>
            </a:pPr>
            <a:r>
              <a:rPr lang="en-US" sz="3307">
                <a:solidFill>
                  <a:srgbClr val="12100E"/>
                </a:solidFill>
                <a:latin typeface="Arimo"/>
                <a:ea typeface="Arimo"/>
                <a:cs typeface="Arimo"/>
                <a:sym typeface="Arimo"/>
              </a:rPr>
              <a:t>The app cannot be shared yet (part of an EU platform)</a:t>
            </a:r>
          </a:p>
          <a:p>
            <a:pPr algn="l" marL="714068" indent="-357034" lvl="1">
              <a:lnSpc>
                <a:spcPts val="4961"/>
              </a:lnSpc>
              <a:buFont typeface="Arial"/>
              <a:buChar char="•"/>
            </a:pPr>
            <a:r>
              <a:rPr lang="en-US" sz="3307">
                <a:solidFill>
                  <a:srgbClr val="12100E"/>
                </a:solidFill>
                <a:latin typeface="Arimo"/>
                <a:ea typeface="Arimo"/>
                <a:cs typeface="Arimo"/>
                <a:sym typeface="Arimo"/>
              </a:rPr>
              <a:t>Her Colab notebook is the complete pipeline</a:t>
            </a:r>
          </a:p>
          <a:p>
            <a:pPr algn="l" marL="714068" indent="-357034" lvl="1">
              <a:lnSpc>
                <a:spcPts val="4961"/>
              </a:lnSpc>
              <a:buFont typeface="Arial"/>
              <a:buChar char="•"/>
            </a:pPr>
            <a:r>
              <a:rPr lang="en-US" sz="3307">
                <a:solidFill>
                  <a:srgbClr val="12100E"/>
                </a:solidFill>
                <a:latin typeface="Arimo"/>
                <a:ea typeface="Arimo"/>
                <a:cs typeface="Arimo"/>
                <a:sym typeface="Arimo"/>
              </a:rPr>
              <a:t>Baseline = DINOCell fine-tuned by IMES, not CellposeDINO</a:t>
            </a:r>
          </a:p>
          <a:p>
            <a:pPr algn="l" marL="714068" indent="-357034" lvl="1">
              <a:lnSpc>
                <a:spcPts val="4961"/>
              </a:lnSpc>
              <a:buFont typeface="Arial"/>
              <a:buChar char="•"/>
            </a:pPr>
            <a:r>
              <a:rPr lang="en-US" sz="3307">
                <a:solidFill>
                  <a:srgbClr val="12100E"/>
                </a:solidFill>
                <a:latin typeface="Arimo"/>
                <a:ea typeface="Arimo"/>
                <a:cs typeface="Arimo"/>
                <a:sym typeface="Arimo"/>
              </a:rPr>
              <a:t>IMES is not happy with it; CellposeDINO is “very interesting”</a:t>
            </a:r>
          </a:p>
          <a:p>
            <a:pPr algn="l" marL="714068" indent="-357034" lvl="1">
              <a:lnSpc>
                <a:spcPts val="4961"/>
              </a:lnSpc>
              <a:buFont typeface="Arial"/>
              <a:buChar char="•"/>
            </a:pPr>
            <a:r>
              <a:rPr lang="en-US" sz="3307">
                <a:solidFill>
                  <a:srgbClr val="12100E"/>
                </a:solidFill>
                <a:latin typeface="Arimo"/>
                <a:ea typeface="Arimo"/>
                <a:cs typeface="Arimo"/>
                <a:sym typeface="Arimo"/>
              </a:rPr>
              <a:t>Trained on all images, no separate test images</a:t>
            </a:r>
          </a:p>
          <a:p>
            <a:pPr algn="l" marL="714068" indent="-357034" lvl="1">
              <a:lnSpc>
                <a:spcPts val="4961"/>
              </a:lnSpc>
              <a:buFont typeface="Arial"/>
              <a:buChar char="•"/>
            </a:pPr>
            <a:r>
              <a:rPr lang="en-US" sz="3307">
                <a:solidFill>
                  <a:srgbClr val="12100E"/>
                </a:solidFill>
                <a:latin typeface="Arimo"/>
                <a:ea typeface="Arimo"/>
                <a:cs typeface="Arimo"/>
                <a:sym typeface="Arimo"/>
              </a:rPr>
              <a:t>All images are brightfield; more annotations not promised</a:t>
            </a:r>
          </a:p>
        </p:txBody>
      </p:sp>
      <p:sp>
        <p:nvSpPr>
          <p:cNvPr name="TextBox 13" id="13"/>
          <p:cNvSpPr txBox="true"/>
          <p:nvPr/>
        </p:nvSpPr>
        <p:spPr>
          <a:xfrm rot="0">
            <a:off x="9144000" y="8515350"/>
            <a:ext cx="8191500" cy="415290"/>
          </a:xfrm>
          <a:prstGeom prst="rect">
            <a:avLst/>
          </a:prstGeom>
        </p:spPr>
        <p:txBody>
          <a:bodyPr anchor="t" rtlCol="false" tIns="0" lIns="0" bIns="0" rIns="0">
            <a:spAutoFit/>
          </a:bodyPr>
          <a:lstStyle/>
          <a:p>
            <a:pPr algn="l">
              <a:lnSpc>
                <a:spcPts val="3359"/>
              </a:lnSpc>
            </a:pPr>
            <a:r>
              <a:rPr lang="en-US" sz="2400" b="true">
                <a:solidFill>
                  <a:srgbClr val="12100E"/>
                </a:solidFill>
                <a:latin typeface="Arimo Bold"/>
                <a:ea typeface="Arimo Bold"/>
                <a:cs typeface="Arimo Bold"/>
                <a:sym typeface="Arimo Bold"/>
              </a:rPr>
              <a:t>→ Fat-cell area becomes our main metric</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Freeform 2" id="2" descr="imes.thws logo"/>
          <p:cNvSpPr/>
          <p:nvPr/>
        </p:nvSpPr>
        <p:spPr>
          <a:xfrm flipH="false" flipV="false" rot="0">
            <a:off x="553022" y="707993"/>
            <a:ext cx="5017770" cy="1298734"/>
          </a:xfrm>
          <a:custGeom>
            <a:avLst/>
            <a:gdLst/>
            <a:ahLst/>
            <a:cxnLst/>
            <a:rect r="r" b="b" t="t" l="l"/>
            <a:pathLst>
              <a:path h="1298734" w="5017770">
                <a:moveTo>
                  <a:pt x="0" y="0"/>
                </a:moveTo>
                <a:lnTo>
                  <a:pt x="5017770" y="0"/>
                </a:lnTo>
                <a:lnTo>
                  <a:pt x="5017770" y="1298734"/>
                </a:lnTo>
                <a:lnTo>
                  <a:pt x="0" y="1298734"/>
                </a:lnTo>
                <a:lnTo>
                  <a:pt x="0" y="0"/>
                </a:lnTo>
                <a:close/>
              </a:path>
            </a:pathLst>
          </a:custGeom>
          <a:blipFill>
            <a:blip r:embed="rId3"/>
            <a:stretch>
              <a:fillRect l="-14" t="0" r="-14" b="0"/>
            </a:stretch>
          </a:blipFill>
        </p:spPr>
      </p:sp>
      <p:sp>
        <p:nvSpPr>
          <p:cNvPr name="Freeform 3" id="3" descr="cairo.thws logo"/>
          <p:cNvSpPr/>
          <p:nvPr/>
        </p:nvSpPr>
        <p:spPr>
          <a:xfrm flipH="false" flipV="false" rot="0">
            <a:off x="13282708" y="835628"/>
            <a:ext cx="4646200" cy="1171099"/>
          </a:xfrm>
          <a:custGeom>
            <a:avLst/>
            <a:gdLst/>
            <a:ahLst/>
            <a:cxnLst/>
            <a:rect r="r" b="b" t="t" l="l"/>
            <a:pathLst>
              <a:path h="1171099" w="4646200">
                <a:moveTo>
                  <a:pt x="0" y="0"/>
                </a:moveTo>
                <a:lnTo>
                  <a:pt x="4646200" y="0"/>
                </a:lnTo>
                <a:lnTo>
                  <a:pt x="4646200" y="1171099"/>
                </a:lnTo>
                <a:lnTo>
                  <a:pt x="0" y="1171099"/>
                </a:lnTo>
                <a:lnTo>
                  <a:pt x="0" y="0"/>
                </a:lnTo>
                <a:close/>
              </a:path>
            </a:pathLst>
          </a:custGeom>
          <a:blipFill>
            <a:blip r:embed="rId4"/>
            <a:stretch>
              <a:fillRect l="-39" t="0" r="-39" b="-80162"/>
            </a:stretch>
          </a:blipFill>
        </p:spPr>
      </p:sp>
      <p:grpSp>
        <p:nvGrpSpPr>
          <p:cNvPr name="Group 4" id="4"/>
          <p:cNvGrpSpPr/>
          <p:nvPr/>
        </p:nvGrpSpPr>
        <p:grpSpPr>
          <a:xfrm rot="0">
            <a:off x="708660" y="9429750"/>
            <a:ext cx="639604" cy="114300"/>
            <a:chOff x="0" y="0"/>
            <a:chExt cx="852805" cy="152400"/>
          </a:xfrm>
        </p:grpSpPr>
        <p:sp>
          <p:nvSpPr>
            <p:cNvPr name="Freeform 5" id="5"/>
            <p:cNvSpPr/>
            <p:nvPr/>
          </p:nvSpPr>
          <p:spPr>
            <a:xfrm flipH="false" flipV="false" rot="0">
              <a:off x="0" y="0"/>
              <a:ext cx="852805" cy="152400"/>
            </a:xfrm>
            <a:custGeom>
              <a:avLst/>
              <a:gdLst/>
              <a:ahLst/>
              <a:cxnLst/>
              <a:rect r="r" b="b" t="t" l="l"/>
              <a:pathLst>
                <a:path h="152400" w="852805">
                  <a:moveTo>
                    <a:pt x="0" y="0"/>
                  </a:moveTo>
                  <a:lnTo>
                    <a:pt x="852805" y="0"/>
                  </a:lnTo>
                  <a:lnTo>
                    <a:pt x="852805" y="152400"/>
                  </a:lnTo>
                  <a:lnTo>
                    <a:pt x="0" y="152400"/>
                  </a:lnTo>
                  <a:close/>
                </a:path>
              </a:pathLst>
            </a:custGeom>
            <a:solidFill>
              <a:srgbClr val="FE8213"/>
            </a:solidFill>
          </p:spPr>
        </p:sp>
        <p:sp>
          <p:nvSpPr>
            <p:cNvPr name="TextBox 6" id="6"/>
            <p:cNvSpPr txBox="true"/>
            <p:nvPr/>
          </p:nvSpPr>
          <p:spPr>
            <a:xfrm>
              <a:off x="0" y="-38100"/>
              <a:ext cx="852805" cy="190500"/>
            </a:xfrm>
            <a:prstGeom prst="rect">
              <a:avLst/>
            </a:prstGeom>
          </p:spPr>
          <p:txBody>
            <a:bodyPr anchor="ctr" rtlCol="false" tIns="50800" lIns="50800" bIns="50800" rIns="50800"/>
            <a:lstStyle/>
            <a:p>
              <a:pPr algn="l">
                <a:lnSpc>
                  <a:spcPts val="1679"/>
                </a:lnSpc>
              </a:pPr>
            </a:p>
          </p:txBody>
        </p:sp>
      </p:grpSp>
      <p:sp>
        <p:nvSpPr>
          <p:cNvPr name="Freeform 7" id="7"/>
          <p:cNvSpPr/>
          <p:nvPr/>
        </p:nvSpPr>
        <p:spPr>
          <a:xfrm flipH="false" flipV="false" rot="0">
            <a:off x="13014071" y="2069871"/>
            <a:ext cx="4903725" cy="7359879"/>
          </a:xfrm>
          <a:custGeom>
            <a:avLst/>
            <a:gdLst/>
            <a:ahLst/>
            <a:cxnLst/>
            <a:rect r="r" b="b" t="t" l="l"/>
            <a:pathLst>
              <a:path h="7359879" w="4903725">
                <a:moveTo>
                  <a:pt x="0" y="0"/>
                </a:moveTo>
                <a:lnTo>
                  <a:pt x="4903724" y="0"/>
                </a:lnTo>
                <a:lnTo>
                  <a:pt x="4903724" y="7359879"/>
                </a:lnTo>
                <a:lnTo>
                  <a:pt x="0" y="7359879"/>
                </a:lnTo>
                <a:lnTo>
                  <a:pt x="0" y="0"/>
                </a:lnTo>
                <a:close/>
              </a:path>
            </a:pathLst>
          </a:custGeom>
          <a:blipFill>
            <a:blip r:embed="rId5"/>
            <a:stretch>
              <a:fillRect l="0" t="0" r="-1309" b="0"/>
            </a:stretch>
          </a:blipFill>
        </p:spPr>
      </p:sp>
      <p:sp>
        <p:nvSpPr>
          <p:cNvPr name="TextBox 8" id="8"/>
          <p:cNvSpPr txBox="true"/>
          <p:nvPr/>
        </p:nvSpPr>
        <p:spPr>
          <a:xfrm rot="0">
            <a:off x="553022" y="9704832"/>
            <a:ext cx="2476500" cy="325755"/>
          </a:xfrm>
          <a:prstGeom prst="rect">
            <a:avLst/>
          </a:prstGeom>
        </p:spPr>
        <p:txBody>
          <a:bodyPr anchor="t" rtlCol="false" tIns="0" lIns="0" bIns="0" rIns="0">
            <a:spAutoFit/>
          </a:bodyPr>
          <a:lstStyle/>
          <a:p>
            <a:pPr algn="l">
              <a:lnSpc>
                <a:spcPts val="2520"/>
              </a:lnSpc>
            </a:pPr>
            <a:r>
              <a:rPr lang="en-US" sz="1800" b="true">
                <a:solidFill>
                  <a:srgbClr val="12100E"/>
                </a:solidFill>
                <a:latin typeface="Arimo Bold"/>
                <a:ea typeface="Arimo Bold"/>
                <a:cs typeface="Arimo Bold"/>
                <a:sym typeface="Arimo Bold"/>
              </a:rPr>
              <a:t>CELL FOUNDRY</a:t>
            </a:r>
          </a:p>
        </p:txBody>
      </p:sp>
      <p:sp>
        <p:nvSpPr>
          <p:cNvPr name="TextBox 9" id="9"/>
          <p:cNvSpPr txBox="true"/>
          <p:nvPr/>
        </p:nvSpPr>
        <p:spPr>
          <a:xfrm rot="0">
            <a:off x="12894183" y="9551289"/>
            <a:ext cx="5143500" cy="365760"/>
          </a:xfrm>
          <a:prstGeom prst="rect">
            <a:avLst/>
          </a:prstGeom>
        </p:spPr>
        <p:txBody>
          <a:bodyPr anchor="t" rtlCol="false" tIns="0" lIns="0" bIns="0" rIns="0">
            <a:spAutoFit/>
          </a:bodyPr>
          <a:lstStyle/>
          <a:p>
            <a:pPr algn="l">
              <a:lnSpc>
                <a:spcPts val="2940"/>
              </a:lnSpc>
            </a:pPr>
            <a:r>
              <a:rPr lang="en-US" sz="2100">
                <a:solidFill>
                  <a:srgbClr val="12100E"/>
                </a:solidFill>
                <a:latin typeface="Arimo"/>
                <a:ea typeface="Arimo"/>
                <a:cs typeface="Arimo"/>
                <a:sym typeface="Arimo"/>
              </a:rPr>
              <a:t>Meeting Title: Biweekly meet - 2</a:t>
            </a:r>
          </a:p>
        </p:txBody>
      </p:sp>
      <p:sp>
        <p:nvSpPr>
          <p:cNvPr name="TextBox 10" id="10"/>
          <p:cNvSpPr txBox="true"/>
          <p:nvPr/>
        </p:nvSpPr>
        <p:spPr>
          <a:xfrm rot="0">
            <a:off x="939070" y="2095500"/>
            <a:ext cx="11430000" cy="365760"/>
          </a:xfrm>
          <a:prstGeom prst="rect">
            <a:avLst/>
          </a:prstGeom>
        </p:spPr>
        <p:txBody>
          <a:bodyPr anchor="t" rtlCol="false" tIns="0" lIns="0" bIns="0" rIns="0">
            <a:spAutoFit/>
          </a:bodyPr>
          <a:lstStyle/>
          <a:p>
            <a:pPr algn="l">
              <a:lnSpc>
                <a:spcPts val="2940"/>
              </a:lnSpc>
            </a:pPr>
            <a:r>
              <a:rPr lang="en-US" sz="2100" b="true">
                <a:solidFill>
                  <a:srgbClr val="FE8213"/>
                </a:solidFill>
                <a:latin typeface="Arimo Bold"/>
                <a:ea typeface="Arimo Bold"/>
                <a:cs typeface="Arimo Bold"/>
                <a:sym typeface="Arimo Bold"/>
              </a:rPr>
              <a:t>6 · UPDATE SINCE 8 OCTOBER</a:t>
            </a:r>
          </a:p>
        </p:txBody>
      </p:sp>
      <p:sp>
        <p:nvSpPr>
          <p:cNvPr name="TextBox 11" id="11"/>
          <p:cNvSpPr txBox="true"/>
          <p:nvPr/>
        </p:nvSpPr>
        <p:spPr>
          <a:xfrm rot="0">
            <a:off x="939070" y="2390775"/>
            <a:ext cx="12287250" cy="948690"/>
          </a:xfrm>
          <a:prstGeom prst="rect">
            <a:avLst/>
          </a:prstGeom>
        </p:spPr>
        <p:txBody>
          <a:bodyPr anchor="t" rtlCol="false" tIns="0" lIns="0" bIns="0" rIns="0">
            <a:spAutoFit/>
          </a:bodyPr>
          <a:lstStyle/>
          <a:p>
            <a:pPr algn="l">
              <a:lnSpc>
                <a:spcPts val="7559"/>
              </a:lnSpc>
            </a:pPr>
            <a:r>
              <a:rPr lang="en-US" sz="5400" b="true">
                <a:solidFill>
                  <a:srgbClr val="12100E"/>
                </a:solidFill>
                <a:latin typeface="Arimo Bold"/>
                <a:ea typeface="Arimo Bold"/>
                <a:cs typeface="Arimo Bold"/>
                <a:sym typeface="Arimo Bold"/>
              </a:rPr>
              <a:t>IMES Training Pipeline in 8 Steps</a:t>
            </a:r>
          </a:p>
        </p:txBody>
      </p:sp>
      <p:sp>
        <p:nvSpPr>
          <p:cNvPr name="TextBox 12" id="12"/>
          <p:cNvSpPr txBox="true"/>
          <p:nvPr/>
        </p:nvSpPr>
        <p:spPr>
          <a:xfrm rot="0">
            <a:off x="939070" y="3459480"/>
            <a:ext cx="11811000" cy="474345"/>
          </a:xfrm>
          <a:prstGeom prst="rect">
            <a:avLst/>
          </a:prstGeom>
        </p:spPr>
        <p:txBody>
          <a:bodyPr anchor="t" rtlCol="false" tIns="0" lIns="0" bIns="0" rIns="0">
            <a:spAutoFit/>
          </a:bodyPr>
          <a:lstStyle/>
          <a:p>
            <a:pPr algn="l">
              <a:lnSpc>
                <a:spcPts val="3779"/>
              </a:lnSpc>
            </a:pPr>
            <a:r>
              <a:rPr lang="en-US" sz="2700" b="true">
                <a:solidFill>
                  <a:srgbClr val="12100E"/>
                </a:solidFill>
                <a:latin typeface="Arimo Bold"/>
                <a:ea typeface="Arimo Bold"/>
                <a:cs typeface="Arimo Bold"/>
                <a:sym typeface="Arimo Bold"/>
              </a:rPr>
              <a:t>Prepare (steps 1–4)</a:t>
            </a:r>
          </a:p>
        </p:txBody>
      </p:sp>
      <p:sp>
        <p:nvSpPr>
          <p:cNvPr name="TextBox 13" id="13"/>
          <p:cNvSpPr txBox="true"/>
          <p:nvPr/>
        </p:nvSpPr>
        <p:spPr>
          <a:xfrm rot="0">
            <a:off x="708660" y="4076700"/>
            <a:ext cx="11811000" cy="1480185"/>
          </a:xfrm>
          <a:prstGeom prst="rect">
            <a:avLst/>
          </a:prstGeom>
        </p:spPr>
        <p:txBody>
          <a:bodyPr anchor="t" rtlCol="false" tIns="0" lIns="0" bIns="0" rIns="0">
            <a:spAutoFit/>
          </a:bodyPr>
          <a:lstStyle/>
          <a:p>
            <a:pPr algn="l" marL="453390" indent="-226695" lvl="1">
              <a:lnSpc>
                <a:spcPts val="2940"/>
              </a:lnSpc>
              <a:buFont typeface="Arial"/>
              <a:buChar char="•"/>
            </a:pPr>
            <a:r>
              <a:rPr lang="en-US" sz="2100">
                <a:solidFill>
                  <a:srgbClr val="12100E"/>
                </a:solidFill>
                <a:latin typeface="Arimo"/>
                <a:ea typeface="Arimo"/>
                <a:cs typeface="Arimo"/>
                <a:sym typeface="Arimo"/>
              </a:rPr>
              <a:t>Load the 28 annotated images; keep 6 aside for checking</a:t>
            </a:r>
          </a:p>
          <a:p>
            <a:pPr algn="l" marL="453390" indent="-226695" lvl="1">
              <a:lnSpc>
                <a:spcPts val="2940"/>
              </a:lnSpc>
              <a:buFont typeface="Arial"/>
              <a:buChar char="•"/>
            </a:pPr>
            <a:r>
              <a:rPr lang="en-US" sz="2100">
                <a:solidFill>
                  <a:srgbClr val="12100E"/>
                </a:solidFill>
                <a:latin typeface="Arimo"/>
                <a:ea typeface="Arimo"/>
                <a:cs typeface="Arimo"/>
                <a:sym typeface="Arimo"/>
              </a:rPr>
              <a:t>Even out the contrast (CLAHE) so cell borders are easier to see</a:t>
            </a:r>
          </a:p>
          <a:p>
            <a:pPr algn="l" marL="453390" indent="-226695" lvl="1">
              <a:lnSpc>
                <a:spcPts val="2940"/>
              </a:lnSpc>
              <a:buFont typeface="Arial"/>
              <a:buChar char="•"/>
            </a:pPr>
            <a:r>
              <a:rPr lang="en-US" sz="2100">
                <a:solidFill>
                  <a:srgbClr val="12100E"/>
                </a:solidFill>
                <a:latin typeface="Arimo"/>
                <a:ea typeface="Arimo"/>
                <a:cs typeface="Arimo"/>
                <a:sym typeface="Arimo"/>
              </a:rPr>
              <a:t>Turn each mask into arrows pointing to the cell centre: this is how touching cells get separated</a:t>
            </a:r>
          </a:p>
          <a:p>
            <a:pPr algn="l" marL="453390" indent="-226695" lvl="1">
              <a:lnSpc>
                <a:spcPts val="2940"/>
              </a:lnSpc>
              <a:buFont typeface="Arial"/>
              <a:buChar char="•"/>
            </a:pPr>
            <a:r>
              <a:rPr lang="en-US" sz="2100">
                <a:solidFill>
                  <a:srgbClr val="12100E"/>
                </a:solidFill>
                <a:latin typeface="Arimo"/>
                <a:ea typeface="Arimo"/>
                <a:cs typeface="Arimo"/>
                <a:sym typeface="Arimo"/>
              </a:rPr>
              <a:t>Start from the pretrained DINOCell; train only small add-ons (LoRA, about 3 % of the model)</a:t>
            </a:r>
          </a:p>
        </p:txBody>
      </p:sp>
      <p:sp>
        <p:nvSpPr>
          <p:cNvPr name="TextBox 14" id="14"/>
          <p:cNvSpPr txBox="true"/>
          <p:nvPr/>
        </p:nvSpPr>
        <p:spPr>
          <a:xfrm rot="0">
            <a:off x="939070" y="6114097"/>
            <a:ext cx="11811000" cy="474345"/>
          </a:xfrm>
          <a:prstGeom prst="rect">
            <a:avLst/>
          </a:prstGeom>
        </p:spPr>
        <p:txBody>
          <a:bodyPr anchor="t" rtlCol="false" tIns="0" lIns="0" bIns="0" rIns="0">
            <a:spAutoFit/>
          </a:bodyPr>
          <a:lstStyle/>
          <a:p>
            <a:pPr algn="l">
              <a:lnSpc>
                <a:spcPts val="3779"/>
              </a:lnSpc>
            </a:pPr>
            <a:r>
              <a:rPr lang="en-US" sz="2700" b="true">
                <a:solidFill>
                  <a:srgbClr val="12100E"/>
                </a:solidFill>
                <a:latin typeface="Arimo Bold"/>
                <a:ea typeface="Arimo Bold"/>
                <a:cs typeface="Arimo Bold"/>
                <a:sym typeface="Arimo Bold"/>
              </a:rPr>
              <a:t>Train (steps 5–6)</a:t>
            </a:r>
          </a:p>
        </p:txBody>
      </p:sp>
      <p:sp>
        <p:nvSpPr>
          <p:cNvPr name="TextBox 15" id="15"/>
          <p:cNvSpPr txBox="true"/>
          <p:nvPr/>
        </p:nvSpPr>
        <p:spPr>
          <a:xfrm rot="0">
            <a:off x="708660" y="6674167"/>
            <a:ext cx="11811000" cy="1108710"/>
          </a:xfrm>
          <a:prstGeom prst="rect">
            <a:avLst/>
          </a:prstGeom>
        </p:spPr>
        <p:txBody>
          <a:bodyPr anchor="t" rtlCol="false" tIns="0" lIns="0" bIns="0" rIns="0">
            <a:spAutoFit/>
          </a:bodyPr>
          <a:lstStyle/>
          <a:p>
            <a:pPr algn="l" marL="453390" indent="-226695" lvl="1">
              <a:lnSpc>
                <a:spcPts val="2940"/>
              </a:lnSpc>
              <a:buFont typeface="Arial"/>
              <a:buChar char="•"/>
            </a:pPr>
            <a:r>
              <a:rPr lang="en-US" sz="2100">
                <a:solidFill>
                  <a:srgbClr val="12100E"/>
                </a:solidFill>
                <a:latin typeface="Arimo"/>
                <a:ea typeface="Arimo"/>
                <a:cs typeface="Arimo"/>
                <a:sym typeface="Arimo"/>
              </a:rPr>
              <a:t>1000 rounds: one 512 × 512 piece per round; the model predicts arrows + a fat map and is corrected</a:t>
            </a:r>
          </a:p>
          <a:p>
            <a:pPr algn="l" marL="453390" indent="-226695" lvl="1">
              <a:lnSpc>
                <a:spcPts val="2940"/>
              </a:lnSpc>
              <a:buFont typeface="Arial"/>
              <a:buChar char="•"/>
            </a:pPr>
            <a:r>
              <a:rPr lang="en-US" sz="2100">
                <a:solidFill>
                  <a:srgbClr val="12100E"/>
                </a:solidFill>
                <a:latin typeface="Arimo"/>
                <a:ea typeface="Arimo"/>
                <a:cs typeface="Arimo"/>
                <a:sym typeface="Arimo"/>
              </a:rPr>
              <a:t>Every 50 rounds: score on the 6 check images and keep the best version</a:t>
            </a:r>
          </a:p>
        </p:txBody>
      </p:sp>
      <p:sp>
        <p:nvSpPr>
          <p:cNvPr name="TextBox 16" id="16"/>
          <p:cNvSpPr txBox="true"/>
          <p:nvPr/>
        </p:nvSpPr>
        <p:spPr>
          <a:xfrm rot="0">
            <a:off x="939070" y="8219122"/>
            <a:ext cx="11811000" cy="474345"/>
          </a:xfrm>
          <a:prstGeom prst="rect">
            <a:avLst/>
          </a:prstGeom>
        </p:spPr>
        <p:txBody>
          <a:bodyPr anchor="t" rtlCol="false" tIns="0" lIns="0" bIns="0" rIns="0">
            <a:spAutoFit/>
          </a:bodyPr>
          <a:lstStyle/>
          <a:p>
            <a:pPr algn="l">
              <a:lnSpc>
                <a:spcPts val="3779"/>
              </a:lnSpc>
            </a:pPr>
            <a:r>
              <a:rPr lang="en-US" sz="2700" b="true">
                <a:solidFill>
                  <a:srgbClr val="12100E"/>
                </a:solidFill>
                <a:latin typeface="Arimo Bold"/>
                <a:ea typeface="Arimo Bold"/>
                <a:cs typeface="Arimo Bold"/>
                <a:sym typeface="Arimo Bold"/>
              </a:rPr>
              <a:t>Finish (steps 7–8)</a:t>
            </a:r>
          </a:p>
        </p:txBody>
      </p:sp>
      <p:sp>
        <p:nvSpPr>
          <p:cNvPr name="TextBox 17" id="17"/>
          <p:cNvSpPr txBox="true"/>
          <p:nvPr/>
        </p:nvSpPr>
        <p:spPr>
          <a:xfrm rot="0">
            <a:off x="708660" y="8712517"/>
            <a:ext cx="11811000" cy="365760"/>
          </a:xfrm>
          <a:prstGeom prst="rect">
            <a:avLst/>
          </a:prstGeom>
        </p:spPr>
        <p:txBody>
          <a:bodyPr anchor="t" rtlCol="false" tIns="0" lIns="0" bIns="0" rIns="0">
            <a:spAutoFit/>
          </a:bodyPr>
          <a:lstStyle/>
          <a:p>
            <a:pPr algn="l" marL="453390" indent="-226695" lvl="1">
              <a:lnSpc>
                <a:spcPts val="2940"/>
              </a:lnSpc>
              <a:buFont typeface="Arial"/>
              <a:buChar char="•"/>
            </a:pPr>
            <a:r>
              <a:rPr lang="en-US" sz="2100">
                <a:solidFill>
                  <a:srgbClr val="12100E"/>
                </a:solidFill>
                <a:latin typeface="Arimo"/>
                <a:ea typeface="Arimo"/>
                <a:cs typeface="Arimo"/>
                <a:sym typeface="Arimo"/>
              </a:rPr>
              <a:t>Merge the add-ons, save one model file for the IMES app, show example results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Freeform 2" id="2" descr="imes.thws logo"/>
          <p:cNvSpPr/>
          <p:nvPr/>
        </p:nvSpPr>
        <p:spPr>
          <a:xfrm flipH="false" flipV="false" rot="0">
            <a:off x="553022" y="707993"/>
            <a:ext cx="5017770" cy="1298734"/>
          </a:xfrm>
          <a:custGeom>
            <a:avLst/>
            <a:gdLst/>
            <a:ahLst/>
            <a:cxnLst/>
            <a:rect r="r" b="b" t="t" l="l"/>
            <a:pathLst>
              <a:path h="1298734" w="5017770">
                <a:moveTo>
                  <a:pt x="0" y="0"/>
                </a:moveTo>
                <a:lnTo>
                  <a:pt x="5017770" y="0"/>
                </a:lnTo>
                <a:lnTo>
                  <a:pt x="5017770" y="1298734"/>
                </a:lnTo>
                <a:lnTo>
                  <a:pt x="0" y="1298734"/>
                </a:lnTo>
                <a:lnTo>
                  <a:pt x="0" y="0"/>
                </a:lnTo>
                <a:close/>
              </a:path>
            </a:pathLst>
          </a:custGeom>
          <a:blipFill>
            <a:blip r:embed="rId3"/>
            <a:stretch>
              <a:fillRect l="-14" t="0" r="-14" b="0"/>
            </a:stretch>
          </a:blipFill>
        </p:spPr>
      </p:sp>
      <p:sp>
        <p:nvSpPr>
          <p:cNvPr name="Freeform 3" id="3" descr="cairo.thws logo"/>
          <p:cNvSpPr/>
          <p:nvPr/>
        </p:nvSpPr>
        <p:spPr>
          <a:xfrm flipH="false" flipV="false" rot="0">
            <a:off x="13282708" y="835628"/>
            <a:ext cx="4646200" cy="1171099"/>
          </a:xfrm>
          <a:custGeom>
            <a:avLst/>
            <a:gdLst/>
            <a:ahLst/>
            <a:cxnLst/>
            <a:rect r="r" b="b" t="t" l="l"/>
            <a:pathLst>
              <a:path h="1171099" w="4646200">
                <a:moveTo>
                  <a:pt x="0" y="0"/>
                </a:moveTo>
                <a:lnTo>
                  <a:pt x="4646200" y="0"/>
                </a:lnTo>
                <a:lnTo>
                  <a:pt x="4646200" y="1171099"/>
                </a:lnTo>
                <a:lnTo>
                  <a:pt x="0" y="1171099"/>
                </a:lnTo>
                <a:lnTo>
                  <a:pt x="0" y="0"/>
                </a:lnTo>
                <a:close/>
              </a:path>
            </a:pathLst>
          </a:custGeom>
          <a:blipFill>
            <a:blip r:embed="rId4"/>
            <a:stretch>
              <a:fillRect l="-39" t="0" r="-39" b="-80162"/>
            </a:stretch>
          </a:blipFill>
        </p:spPr>
      </p:sp>
      <p:grpSp>
        <p:nvGrpSpPr>
          <p:cNvPr name="Group 4" id="4"/>
          <p:cNvGrpSpPr/>
          <p:nvPr/>
        </p:nvGrpSpPr>
        <p:grpSpPr>
          <a:xfrm rot="0">
            <a:off x="708660" y="9429750"/>
            <a:ext cx="639604" cy="114300"/>
            <a:chOff x="0" y="0"/>
            <a:chExt cx="852805" cy="152400"/>
          </a:xfrm>
        </p:grpSpPr>
        <p:sp>
          <p:nvSpPr>
            <p:cNvPr name="Freeform 5" id="5"/>
            <p:cNvSpPr/>
            <p:nvPr/>
          </p:nvSpPr>
          <p:spPr>
            <a:xfrm flipH="false" flipV="false" rot="0">
              <a:off x="0" y="0"/>
              <a:ext cx="852805" cy="152400"/>
            </a:xfrm>
            <a:custGeom>
              <a:avLst/>
              <a:gdLst/>
              <a:ahLst/>
              <a:cxnLst/>
              <a:rect r="r" b="b" t="t" l="l"/>
              <a:pathLst>
                <a:path h="152400" w="852805">
                  <a:moveTo>
                    <a:pt x="0" y="0"/>
                  </a:moveTo>
                  <a:lnTo>
                    <a:pt x="852805" y="0"/>
                  </a:lnTo>
                  <a:lnTo>
                    <a:pt x="852805" y="152400"/>
                  </a:lnTo>
                  <a:lnTo>
                    <a:pt x="0" y="152400"/>
                  </a:lnTo>
                  <a:close/>
                </a:path>
              </a:pathLst>
            </a:custGeom>
            <a:solidFill>
              <a:srgbClr val="FE8213"/>
            </a:solidFill>
          </p:spPr>
        </p:sp>
        <p:sp>
          <p:nvSpPr>
            <p:cNvPr name="TextBox 6" id="6"/>
            <p:cNvSpPr txBox="true"/>
            <p:nvPr/>
          </p:nvSpPr>
          <p:spPr>
            <a:xfrm>
              <a:off x="0" y="-38100"/>
              <a:ext cx="852805" cy="190500"/>
            </a:xfrm>
            <a:prstGeom prst="rect">
              <a:avLst/>
            </a:prstGeom>
          </p:spPr>
          <p:txBody>
            <a:bodyPr anchor="ctr" rtlCol="false" tIns="50800" lIns="50800" bIns="50800" rIns="50800"/>
            <a:lstStyle/>
            <a:p>
              <a:pPr algn="l">
                <a:lnSpc>
                  <a:spcPts val="1679"/>
                </a:lnSpc>
              </a:pPr>
            </a:p>
          </p:txBody>
        </p:sp>
      </p:grpSp>
      <p:sp>
        <p:nvSpPr>
          <p:cNvPr name="TextBox 7" id="7"/>
          <p:cNvSpPr txBox="true"/>
          <p:nvPr/>
        </p:nvSpPr>
        <p:spPr>
          <a:xfrm rot="0">
            <a:off x="553022" y="9704832"/>
            <a:ext cx="2476500" cy="325755"/>
          </a:xfrm>
          <a:prstGeom prst="rect">
            <a:avLst/>
          </a:prstGeom>
        </p:spPr>
        <p:txBody>
          <a:bodyPr anchor="t" rtlCol="false" tIns="0" lIns="0" bIns="0" rIns="0">
            <a:spAutoFit/>
          </a:bodyPr>
          <a:lstStyle/>
          <a:p>
            <a:pPr algn="l">
              <a:lnSpc>
                <a:spcPts val="2520"/>
              </a:lnSpc>
            </a:pPr>
            <a:r>
              <a:rPr lang="en-US" sz="1800" b="true">
                <a:solidFill>
                  <a:srgbClr val="12100E"/>
                </a:solidFill>
                <a:latin typeface="Arimo Bold"/>
                <a:ea typeface="Arimo Bold"/>
                <a:cs typeface="Arimo Bold"/>
                <a:sym typeface="Arimo Bold"/>
              </a:rPr>
              <a:t>CELL FOUNDRY</a:t>
            </a:r>
          </a:p>
        </p:txBody>
      </p:sp>
      <p:sp>
        <p:nvSpPr>
          <p:cNvPr name="TextBox 8" id="8"/>
          <p:cNvSpPr txBox="true"/>
          <p:nvPr/>
        </p:nvSpPr>
        <p:spPr>
          <a:xfrm rot="0">
            <a:off x="12894183" y="9551289"/>
            <a:ext cx="5143500" cy="365760"/>
          </a:xfrm>
          <a:prstGeom prst="rect">
            <a:avLst/>
          </a:prstGeom>
        </p:spPr>
        <p:txBody>
          <a:bodyPr anchor="t" rtlCol="false" tIns="0" lIns="0" bIns="0" rIns="0">
            <a:spAutoFit/>
          </a:bodyPr>
          <a:lstStyle/>
          <a:p>
            <a:pPr algn="l">
              <a:lnSpc>
                <a:spcPts val="2940"/>
              </a:lnSpc>
            </a:pPr>
            <a:r>
              <a:rPr lang="en-US" sz="2100">
                <a:solidFill>
                  <a:srgbClr val="12100E"/>
                </a:solidFill>
                <a:latin typeface="Arimo"/>
                <a:ea typeface="Arimo"/>
                <a:cs typeface="Arimo"/>
                <a:sym typeface="Arimo"/>
              </a:rPr>
              <a:t>Meeting Title: Biweekly meet - 2</a:t>
            </a:r>
          </a:p>
        </p:txBody>
      </p:sp>
      <p:sp>
        <p:nvSpPr>
          <p:cNvPr name="TextBox 9" id="9"/>
          <p:cNvSpPr txBox="true"/>
          <p:nvPr/>
        </p:nvSpPr>
        <p:spPr>
          <a:xfrm rot="0">
            <a:off x="939070" y="2095500"/>
            <a:ext cx="11430000" cy="365760"/>
          </a:xfrm>
          <a:prstGeom prst="rect">
            <a:avLst/>
          </a:prstGeom>
        </p:spPr>
        <p:txBody>
          <a:bodyPr anchor="t" rtlCol="false" tIns="0" lIns="0" bIns="0" rIns="0">
            <a:spAutoFit/>
          </a:bodyPr>
          <a:lstStyle/>
          <a:p>
            <a:pPr algn="l">
              <a:lnSpc>
                <a:spcPts val="2940"/>
              </a:lnSpc>
            </a:pPr>
            <a:r>
              <a:rPr lang="en-US" sz="2100" b="true">
                <a:solidFill>
                  <a:srgbClr val="FE8213"/>
                </a:solidFill>
                <a:latin typeface="Arimo Bold"/>
                <a:ea typeface="Arimo Bold"/>
                <a:cs typeface="Arimo Bold"/>
                <a:sym typeface="Arimo Bold"/>
              </a:rPr>
              <a:t>6 · UPDATE SINCE 8 OCTOBER</a:t>
            </a:r>
          </a:p>
        </p:txBody>
      </p:sp>
      <p:sp>
        <p:nvSpPr>
          <p:cNvPr name="TextBox 10" id="10"/>
          <p:cNvSpPr txBox="true"/>
          <p:nvPr/>
        </p:nvSpPr>
        <p:spPr>
          <a:xfrm rot="0">
            <a:off x="939070" y="2390775"/>
            <a:ext cx="12287250" cy="948690"/>
          </a:xfrm>
          <a:prstGeom prst="rect">
            <a:avLst/>
          </a:prstGeom>
        </p:spPr>
        <p:txBody>
          <a:bodyPr anchor="t" rtlCol="false" tIns="0" lIns="0" bIns="0" rIns="0">
            <a:spAutoFit/>
          </a:bodyPr>
          <a:lstStyle/>
          <a:p>
            <a:pPr algn="l">
              <a:lnSpc>
                <a:spcPts val="7559"/>
              </a:lnSpc>
            </a:pPr>
            <a:r>
              <a:rPr lang="en-US" sz="5400" b="true">
                <a:solidFill>
                  <a:srgbClr val="12100E"/>
                </a:solidFill>
                <a:latin typeface="Arimo Bold"/>
                <a:ea typeface="Arimo Bold"/>
                <a:cs typeface="Arimo Bold"/>
                <a:sym typeface="Arimo Bold"/>
              </a:rPr>
              <a:t>What IMES’s Code Does Well</a:t>
            </a:r>
          </a:p>
        </p:txBody>
      </p:sp>
      <p:grpSp>
        <p:nvGrpSpPr>
          <p:cNvPr name="Group 11" id="11"/>
          <p:cNvGrpSpPr/>
          <p:nvPr/>
        </p:nvGrpSpPr>
        <p:grpSpPr>
          <a:xfrm rot="0">
            <a:off x="939070" y="3714750"/>
            <a:ext cx="5095875" cy="4572000"/>
            <a:chOff x="0" y="0"/>
            <a:chExt cx="6794500" cy="6096000"/>
          </a:xfrm>
        </p:grpSpPr>
        <p:sp>
          <p:nvSpPr>
            <p:cNvPr name="Freeform 12" id="12"/>
            <p:cNvSpPr/>
            <p:nvPr/>
          </p:nvSpPr>
          <p:spPr>
            <a:xfrm flipH="false" flipV="false" rot="0">
              <a:off x="0" y="0"/>
              <a:ext cx="6794500" cy="6096000"/>
            </a:xfrm>
            <a:custGeom>
              <a:avLst/>
              <a:gdLst/>
              <a:ahLst/>
              <a:cxnLst/>
              <a:rect r="r" b="b" t="t" l="l"/>
              <a:pathLst>
                <a:path h="6096000" w="6794500">
                  <a:moveTo>
                    <a:pt x="37981" y="0"/>
                  </a:moveTo>
                  <a:lnTo>
                    <a:pt x="6756519" y="0"/>
                  </a:lnTo>
                  <a:cubicBezTo>
                    <a:pt x="6777495" y="0"/>
                    <a:pt x="6794500" y="17005"/>
                    <a:pt x="6794500" y="37981"/>
                  </a:cubicBezTo>
                  <a:lnTo>
                    <a:pt x="6794500" y="6058019"/>
                  </a:lnTo>
                  <a:cubicBezTo>
                    <a:pt x="6794500" y="6078995"/>
                    <a:pt x="6777495" y="6096000"/>
                    <a:pt x="6756519" y="6096000"/>
                  </a:cubicBezTo>
                  <a:lnTo>
                    <a:pt x="37981" y="6096000"/>
                  </a:lnTo>
                  <a:cubicBezTo>
                    <a:pt x="17005" y="6096000"/>
                    <a:pt x="0" y="6078995"/>
                    <a:pt x="0" y="6058019"/>
                  </a:cubicBezTo>
                  <a:lnTo>
                    <a:pt x="0" y="37981"/>
                  </a:lnTo>
                  <a:cubicBezTo>
                    <a:pt x="0" y="17005"/>
                    <a:pt x="17005" y="0"/>
                    <a:pt x="37981" y="0"/>
                  </a:cubicBezTo>
                  <a:close/>
                </a:path>
              </a:pathLst>
            </a:custGeom>
            <a:solidFill>
              <a:srgbClr val="E8F0E3"/>
            </a:solidFill>
          </p:spPr>
        </p:sp>
        <p:sp>
          <p:nvSpPr>
            <p:cNvPr name="TextBox 13" id="13"/>
            <p:cNvSpPr txBox="true"/>
            <p:nvPr/>
          </p:nvSpPr>
          <p:spPr>
            <a:xfrm>
              <a:off x="0" y="-38100"/>
              <a:ext cx="6794500" cy="6134100"/>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6320695" y="3714750"/>
            <a:ext cx="5095875" cy="4572000"/>
            <a:chOff x="0" y="0"/>
            <a:chExt cx="6794500" cy="6096000"/>
          </a:xfrm>
        </p:grpSpPr>
        <p:sp>
          <p:nvSpPr>
            <p:cNvPr name="Freeform 15" id="15"/>
            <p:cNvSpPr/>
            <p:nvPr/>
          </p:nvSpPr>
          <p:spPr>
            <a:xfrm flipH="false" flipV="false" rot="0">
              <a:off x="0" y="0"/>
              <a:ext cx="6794500" cy="6096000"/>
            </a:xfrm>
            <a:custGeom>
              <a:avLst/>
              <a:gdLst/>
              <a:ahLst/>
              <a:cxnLst/>
              <a:rect r="r" b="b" t="t" l="l"/>
              <a:pathLst>
                <a:path h="6096000" w="6794500">
                  <a:moveTo>
                    <a:pt x="37981" y="0"/>
                  </a:moveTo>
                  <a:lnTo>
                    <a:pt x="6756519" y="0"/>
                  </a:lnTo>
                  <a:cubicBezTo>
                    <a:pt x="6777495" y="0"/>
                    <a:pt x="6794500" y="17005"/>
                    <a:pt x="6794500" y="37981"/>
                  </a:cubicBezTo>
                  <a:lnTo>
                    <a:pt x="6794500" y="6058019"/>
                  </a:lnTo>
                  <a:cubicBezTo>
                    <a:pt x="6794500" y="6078995"/>
                    <a:pt x="6777495" y="6096000"/>
                    <a:pt x="6756519" y="6096000"/>
                  </a:cubicBezTo>
                  <a:lnTo>
                    <a:pt x="37981" y="6096000"/>
                  </a:lnTo>
                  <a:cubicBezTo>
                    <a:pt x="17005" y="6096000"/>
                    <a:pt x="0" y="6078995"/>
                    <a:pt x="0" y="6058019"/>
                  </a:cubicBezTo>
                  <a:lnTo>
                    <a:pt x="0" y="37981"/>
                  </a:lnTo>
                  <a:cubicBezTo>
                    <a:pt x="0" y="17005"/>
                    <a:pt x="17005" y="0"/>
                    <a:pt x="37981" y="0"/>
                  </a:cubicBezTo>
                  <a:close/>
                </a:path>
              </a:pathLst>
            </a:custGeom>
            <a:solidFill>
              <a:srgbClr val="FDEEDD"/>
            </a:solidFill>
          </p:spPr>
        </p:sp>
        <p:sp>
          <p:nvSpPr>
            <p:cNvPr name="TextBox 16" id="16"/>
            <p:cNvSpPr txBox="true"/>
            <p:nvPr/>
          </p:nvSpPr>
          <p:spPr>
            <a:xfrm>
              <a:off x="0" y="-38100"/>
              <a:ext cx="6794500" cy="6134100"/>
            </a:xfrm>
            <a:prstGeom prst="rect">
              <a:avLst/>
            </a:prstGeom>
          </p:spPr>
          <p:txBody>
            <a:bodyPr anchor="ctr" rtlCol="false" tIns="50800" lIns="50800" bIns="50800" rIns="50800"/>
            <a:lstStyle/>
            <a:p>
              <a:pPr algn="l">
                <a:lnSpc>
                  <a:spcPts val="1679"/>
                </a:lnSpc>
              </a:pPr>
            </a:p>
          </p:txBody>
        </p:sp>
      </p:grpSp>
      <p:grpSp>
        <p:nvGrpSpPr>
          <p:cNvPr name="Group 17" id="17"/>
          <p:cNvGrpSpPr/>
          <p:nvPr/>
        </p:nvGrpSpPr>
        <p:grpSpPr>
          <a:xfrm rot="0">
            <a:off x="11702320" y="3714750"/>
            <a:ext cx="5095875" cy="4572000"/>
            <a:chOff x="0" y="0"/>
            <a:chExt cx="6794500" cy="6096000"/>
          </a:xfrm>
        </p:grpSpPr>
        <p:sp>
          <p:nvSpPr>
            <p:cNvPr name="Freeform 18" id="18"/>
            <p:cNvSpPr/>
            <p:nvPr/>
          </p:nvSpPr>
          <p:spPr>
            <a:xfrm flipH="false" flipV="false" rot="0">
              <a:off x="0" y="0"/>
              <a:ext cx="6794500" cy="6096000"/>
            </a:xfrm>
            <a:custGeom>
              <a:avLst/>
              <a:gdLst/>
              <a:ahLst/>
              <a:cxnLst/>
              <a:rect r="r" b="b" t="t" l="l"/>
              <a:pathLst>
                <a:path h="6096000" w="6794500">
                  <a:moveTo>
                    <a:pt x="37981" y="0"/>
                  </a:moveTo>
                  <a:lnTo>
                    <a:pt x="6756519" y="0"/>
                  </a:lnTo>
                  <a:cubicBezTo>
                    <a:pt x="6777495" y="0"/>
                    <a:pt x="6794500" y="17005"/>
                    <a:pt x="6794500" y="37981"/>
                  </a:cubicBezTo>
                  <a:lnTo>
                    <a:pt x="6794500" y="6058019"/>
                  </a:lnTo>
                  <a:cubicBezTo>
                    <a:pt x="6794500" y="6078995"/>
                    <a:pt x="6777495" y="6096000"/>
                    <a:pt x="6756519" y="6096000"/>
                  </a:cubicBezTo>
                  <a:lnTo>
                    <a:pt x="37981" y="6096000"/>
                  </a:lnTo>
                  <a:cubicBezTo>
                    <a:pt x="17005" y="6096000"/>
                    <a:pt x="0" y="6078995"/>
                    <a:pt x="0" y="6058019"/>
                  </a:cubicBezTo>
                  <a:lnTo>
                    <a:pt x="0" y="37981"/>
                  </a:lnTo>
                  <a:cubicBezTo>
                    <a:pt x="0" y="17005"/>
                    <a:pt x="17005" y="0"/>
                    <a:pt x="37981" y="0"/>
                  </a:cubicBezTo>
                  <a:close/>
                </a:path>
              </a:pathLst>
            </a:custGeom>
            <a:solidFill>
              <a:srgbClr val="EFEAE0"/>
            </a:solidFill>
          </p:spPr>
        </p:sp>
        <p:sp>
          <p:nvSpPr>
            <p:cNvPr name="TextBox 19" id="19"/>
            <p:cNvSpPr txBox="true"/>
            <p:nvPr/>
          </p:nvSpPr>
          <p:spPr>
            <a:xfrm>
              <a:off x="0" y="-38100"/>
              <a:ext cx="6794500" cy="6134100"/>
            </a:xfrm>
            <a:prstGeom prst="rect">
              <a:avLst/>
            </a:prstGeom>
          </p:spPr>
          <p:txBody>
            <a:bodyPr anchor="ctr" rtlCol="false" tIns="50800" lIns="50800" bIns="50800" rIns="50800"/>
            <a:lstStyle/>
            <a:p>
              <a:pPr algn="l">
                <a:lnSpc>
                  <a:spcPts val="1679"/>
                </a:lnSpc>
              </a:pPr>
            </a:p>
          </p:txBody>
        </p:sp>
      </p:grpSp>
      <p:sp>
        <p:nvSpPr>
          <p:cNvPr name="TextBox 20" id="20"/>
          <p:cNvSpPr txBox="true"/>
          <p:nvPr/>
        </p:nvSpPr>
        <p:spPr>
          <a:xfrm rot="0">
            <a:off x="1224820" y="3933825"/>
            <a:ext cx="4524375" cy="474345"/>
          </a:xfrm>
          <a:prstGeom prst="rect">
            <a:avLst/>
          </a:prstGeom>
        </p:spPr>
        <p:txBody>
          <a:bodyPr anchor="t" rtlCol="false" tIns="0" lIns="0" bIns="0" rIns="0">
            <a:spAutoFit/>
          </a:bodyPr>
          <a:lstStyle/>
          <a:p>
            <a:pPr algn="l">
              <a:lnSpc>
                <a:spcPts val="3779"/>
              </a:lnSpc>
            </a:pPr>
            <a:r>
              <a:rPr lang="en-US" sz="2700" b="true">
                <a:solidFill>
                  <a:srgbClr val="12100E"/>
                </a:solidFill>
                <a:latin typeface="Arimo Bold"/>
                <a:ea typeface="Arimo Bold"/>
                <a:cs typeface="Arimo Bold"/>
                <a:sym typeface="Arimo Bold"/>
              </a:rPr>
              <a:t>Reproducible</a:t>
            </a:r>
          </a:p>
        </p:txBody>
      </p:sp>
      <p:sp>
        <p:nvSpPr>
          <p:cNvPr name="TextBox 21" id="21"/>
          <p:cNvSpPr txBox="true"/>
          <p:nvPr/>
        </p:nvSpPr>
        <p:spPr>
          <a:xfrm rot="0">
            <a:off x="1224820" y="4552950"/>
            <a:ext cx="4524375" cy="2386965"/>
          </a:xfrm>
          <a:prstGeom prst="rect">
            <a:avLst/>
          </a:prstGeom>
        </p:spPr>
        <p:txBody>
          <a:bodyPr anchor="t" rtlCol="false" tIns="0" lIns="0" bIns="0" rIns="0">
            <a:spAutoFit/>
          </a:bodyPr>
          <a:lstStyle/>
          <a:p>
            <a:pPr algn="l" marL="453390" indent="-226695" lvl="1">
              <a:lnSpc>
                <a:spcPts val="3150"/>
              </a:lnSpc>
              <a:buFont typeface="Arial"/>
              <a:buChar char="•"/>
            </a:pPr>
            <a:r>
              <a:rPr lang="en-US" sz="2100">
                <a:solidFill>
                  <a:srgbClr val="12100E"/>
                </a:solidFill>
                <a:latin typeface="Arimo"/>
                <a:ea typeface="Arimo"/>
                <a:cs typeface="Arimo"/>
                <a:sym typeface="Arimo"/>
              </a:rPr>
              <a:t>Fixed software versions</a:t>
            </a:r>
          </a:p>
          <a:p>
            <a:pPr algn="l" marL="453390" indent="-226695" lvl="1">
              <a:lnSpc>
                <a:spcPts val="3150"/>
              </a:lnSpc>
              <a:buFont typeface="Arial"/>
              <a:buChar char="•"/>
            </a:pPr>
            <a:r>
              <a:rPr lang="en-US" sz="2100">
                <a:solidFill>
                  <a:srgbClr val="12100E"/>
                </a:solidFill>
                <a:latin typeface="Arimo"/>
                <a:ea typeface="Arimo"/>
                <a:cs typeface="Arimo"/>
                <a:sym typeface="Arimo"/>
              </a:rPr>
              <a:t>All settings in one place, saved with every run</a:t>
            </a:r>
          </a:p>
          <a:p>
            <a:pPr algn="l" marL="453390" indent="-226695" lvl="1">
              <a:lnSpc>
                <a:spcPts val="3150"/>
              </a:lnSpc>
              <a:buFont typeface="Arial"/>
              <a:buChar char="•"/>
            </a:pPr>
            <a:r>
              <a:rPr lang="en-US" sz="2100">
                <a:solidFill>
                  <a:srgbClr val="12100E"/>
                </a:solidFill>
                <a:latin typeface="Arimo"/>
                <a:ea typeface="Arimo"/>
                <a:cs typeface="Arimo"/>
                <a:sym typeface="Arimo"/>
              </a:rPr>
              <a:t>Fixed random seeds</a:t>
            </a:r>
          </a:p>
          <a:p>
            <a:pPr algn="l" marL="453390" indent="-226695" lvl="1">
              <a:lnSpc>
                <a:spcPts val="3150"/>
              </a:lnSpc>
              <a:buFont typeface="Arial"/>
              <a:buChar char="•"/>
            </a:pPr>
            <a:r>
              <a:rPr lang="en-US" sz="2100">
                <a:solidFill>
                  <a:srgbClr val="12100E"/>
                </a:solidFill>
                <a:latin typeface="Arimo"/>
                <a:ea typeface="Arimo"/>
                <a:cs typeface="Arimo"/>
                <a:sym typeface="Arimo"/>
              </a:rPr>
              <a:t>Each run in its own folder, nothing overwritten</a:t>
            </a:r>
          </a:p>
        </p:txBody>
      </p:sp>
      <p:sp>
        <p:nvSpPr>
          <p:cNvPr name="TextBox 22" id="22"/>
          <p:cNvSpPr txBox="true"/>
          <p:nvPr/>
        </p:nvSpPr>
        <p:spPr>
          <a:xfrm rot="0">
            <a:off x="6606445" y="3933825"/>
            <a:ext cx="4524375" cy="474345"/>
          </a:xfrm>
          <a:prstGeom prst="rect">
            <a:avLst/>
          </a:prstGeom>
        </p:spPr>
        <p:txBody>
          <a:bodyPr anchor="t" rtlCol="false" tIns="0" lIns="0" bIns="0" rIns="0">
            <a:spAutoFit/>
          </a:bodyPr>
          <a:lstStyle/>
          <a:p>
            <a:pPr algn="l">
              <a:lnSpc>
                <a:spcPts val="3779"/>
              </a:lnSpc>
            </a:pPr>
            <a:r>
              <a:rPr lang="en-US" sz="2700" b="true">
                <a:solidFill>
                  <a:srgbClr val="12100E"/>
                </a:solidFill>
                <a:latin typeface="Arimo Bold"/>
                <a:ea typeface="Arimo Bold"/>
                <a:cs typeface="Arimo Bold"/>
                <a:sym typeface="Arimo Bold"/>
              </a:rPr>
              <a:t>Correct data handling</a:t>
            </a:r>
          </a:p>
        </p:txBody>
      </p:sp>
      <p:sp>
        <p:nvSpPr>
          <p:cNvPr name="TextBox 23" id="23"/>
          <p:cNvSpPr txBox="true"/>
          <p:nvPr/>
        </p:nvSpPr>
        <p:spPr>
          <a:xfrm rot="0">
            <a:off x="6606445" y="4552950"/>
            <a:ext cx="4524375" cy="3187065"/>
          </a:xfrm>
          <a:prstGeom prst="rect">
            <a:avLst/>
          </a:prstGeom>
        </p:spPr>
        <p:txBody>
          <a:bodyPr anchor="t" rtlCol="false" tIns="0" lIns="0" bIns="0" rIns="0">
            <a:spAutoFit/>
          </a:bodyPr>
          <a:lstStyle/>
          <a:p>
            <a:pPr algn="l" marL="453390" indent="-226695" lvl="1">
              <a:lnSpc>
                <a:spcPts val="3150"/>
              </a:lnSpc>
              <a:buFont typeface="Arial"/>
              <a:buChar char="•"/>
            </a:pPr>
            <a:r>
              <a:rPr lang="en-US" sz="2100">
                <a:solidFill>
                  <a:srgbClr val="12100E"/>
                </a:solidFill>
                <a:latin typeface="Arimo"/>
                <a:ea typeface="Arimo"/>
                <a:cs typeface="Arimo"/>
                <a:sym typeface="Arimo"/>
              </a:rPr>
              <a:t>Split by whole image, so no leakage</a:t>
            </a:r>
          </a:p>
          <a:p>
            <a:pPr algn="l" marL="453390" indent="-226695" lvl="1">
              <a:lnSpc>
                <a:spcPts val="3150"/>
              </a:lnSpc>
              <a:buFont typeface="Arial"/>
              <a:buChar char="•"/>
            </a:pPr>
            <a:r>
              <a:rPr lang="en-US" sz="2100">
                <a:solidFill>
                  <a:srgbClr val="12100E"/>
                </a:solidFill>
                <a:latin typeface="Arimo"/>
                <a:ea typeface="Arimo"/>
                <a:cs typeface="Arimo"/>
                <a:sym typeface="Arimo"/>
              </a:rPr>
              <a:t>Arrows flipped correctly when images are mirrored</a:t>
            </a:r>
          </a:p>
          <a:p>
            <a:pPr algn="l" marL="453390" indent="-226695" lvl="1">
              <a:lnSpc>
                <a:spcPts val="3150"/>
              </a:lnSpc>
              <a:buFont typeface="Arial"/>
              <a:buChar char="•"/>
            </a:pPr>
            <a:r>
              <a:rPr lang="en-US" sz="2100">
                <a:solidFill>
                  <a:srgbClr val="12100E"/>
                </a:solidFill>
                <a:latin typeface="Arimo"/>
                <a:ea typeface="Arimo"/>
                <a:cs typeface="Arimo"/>
                <a:sym typeface="Arimo"/>
              </a:rPr>
              <a:t>Contrast computed on the full image</a:t>
            </a:r>
          </a:p>
          <a:p>
            <a:pPr algn="l" marL="453390" indent="-226695" lvl="1">
              <a:lnSpc>
                <a:spcPts val="3150"/>
              </a:lnSpc>
              <a:buFont typeface="Arial"/>
              <a:buChar char="•"/>
            </a:pPr>
            <a:r>
              <a:rPr lang="en-US" sz="2100">
                <a:solidFill>
                  <a:srgbClr val="12100E"/>
                </a:solidFill>
                <a:latin typeface="Arimo"/>
                <a:ea typeface="Arimo"/>
                <a:cs typeface="Arimo"/>
                <a:sym typeface="Arimo"/>
              </a:rPr>
              <a:t>Same normalisation as the pretrained model</a:t>
            </a:r>
          </a:p>
        </p:txBody>
      </p:sp>
      <p:sp>
        <p:nvSpPr>
          <p:cNvPr name="TextBox 24" id="24"/>
          <p:cNvSpPr txBox="true"/>
          <p:nvPr/>
        </p:nvSpPr>
        <p:spPr>
          <a:xfrm rot="0">
            <a:off x="11988070" y="3933825"/>
            <a:ext cx="4524375" cy="474345"/>
          </a:xfrm>
          <a:prstGeom prst="rect">
            <a:avLst/>
          </a:prstGeom>
        </p:spPr>
        <p:txBody>
          <a:bodyPr anchor="t" rtlCol="false" tIns="0" lIns="0" bIns="0" rIns="0">
            <a:spAutoFit/>
          </a:bodyPr>
          <a:lstStyle/>
          <a:p>
            <a:pPr algn="l">
              <a:lnSpc>
                <a:spcPts val="3779"/>
              </a:lnSpc>
            </a:pPr>
            <a:r>
              <a:rPr lang="en-US" sz="2700" b="true">
                <a:solidFill>
                  <a:srgbClr val="12100E"/>
                </a:solidFill>
                <a:latin typeface="Arimo Bold"/>
                <a:ea typeface="Arimo Bold"/>
                <a:cs typeface="Arimo Bold"/>
                <a:sym typeface="Arimo Bold"/>
              </a:rPr>
              <a:t>Sensible training</a:t>
            </a:r>
          </a:p>
        </p:txBody>
      </p:sp>
      <p:sp>
        <p:nvSpPr>
          <p:cNvPr name="TextBox 25" id="25"/>
          <p:cNvSpPr txBox="true"/>
          <p:nvPr/>
        </p:nvSpPr>
        <p:spPr>
          <a:xfrm rot="0">
            <a:off x="11988070" y="4552950"/>
            <a:ext cx="4524375" cy="2386965"/>
          </a:xfrm>
          <a:prstGeom prst="rect">
            <a:avLst/>
          </a:prstGeom>
        </p:spPr>
        <p:txBody>
          <a:bodyPr anchor="t" rtlCol="false" tIns="0" lIns="0" bIns="0" rIns="0">
            <a:spAutoFit/>
          </a:bodyPr>
          <a:lstStyle/>
          <a:p>
            <a:pPr algn="l" marL="453390" indent="-226695" lvl="1">
              <a:lnSpc>
                <a:spcPts val="3150"/>
              </a:lnSpc>
              <a:buFont typeface="Arial"/>
              <a:buChar char="•"/>
            </a:pPr>
            <a:r>
              <a:rPr lang="en-US" sz="2100">
                <a:solidFill>
                  <a:srgbClr val="12100E"/>
                </a:solidFill>
                <a:latin typeface="Arimo"/>
                <a:ea typeface="Arimo"/>
                <a:cs typeface="Arimo"/>
                <a:sym typeface="Arimo"/>
              </a:rPr>
              <a:t>LoRA: small changes, right for only 22 images</a:t>
            </a:r>
          </a:p>
          <a:p>
            <a:pPr algn="l" marL="453390" indent="-226695" lvl="1">
              <a:lnSpc>
                <a:spcPts val="3150"/>
              </a:lnSpc>
              <a:buFont typeface="Arial"/>
              <a:buChar char="•"/>
            </a:pPr>
            <a:r>
              <a:rPr lang="en-US" sz="2100">
                <a:solidFill>
                  <a:srgbClr val="12100E"/>
                </a:solidFill>
                <a:latin typeface="Arimo"/>
                <a:ea typeface="Arimo"/>
                <a:cs typeface="Arimo"/>
                <a:sym typeface="Arimo"/>
              </a:rPr>
              <a:t>Safe, strict loading of model weights</a:t>
            </a:r>
          </a:p>
          <a:p>
            <a:pPr algn="l" marL="453390" indent="-226695" lvl="1">
              <a:lnSpc>
                <a:spcPts val="3150"/>
              </a:lnSpc>
              <a:buFont typeface="Arial"/>
              <a:buChar char="•"/>
            </a:pPr>
            <a:r>
              <a:rPr lang="en-US" sz="2100">
                <a:solidFill>
                  <a:srgbClr val="12100E"/>
                </a:solidFill>
                <a:latin typeface="Arimo"/>
                <a:ea typeface="Arimo"/>
                <a:cs typeface="Arimo"/>
                <a:sym typeface="Arimo"/>
              </a:rPr>
              <a:t>Training can resume after a crash</a:t>
            </a:r>
          </a:p>
          <a:p>
            <a:pPr algn="l" marL="453390" indent="-226695" lvl="1">
              <a:lnSpc>
                <a:spcPts val="3150"/>
              </a:lnSpc>
              <a:buFont typeface="Arial"/>
              <a:buChar char="•"/>
            </a:pPr>
            <a:r>
              <a:rPr lang="en-US" sz="2100">
                <a:solidFill>
                  <a:srgbClr val="12100E"/>
                </a:solidFill>
                <a:latin typeface="Arimo"/>
                <a:ea typeface="Arimo"/>
                <a:cs typeface="Arimo"/>
                <a:sym typeface="Arimo"/>
              </a:rPr>
              <a:t>One merged model file for the app</a:t>
            </a:r>
          </a:p>
        </p:txBody>
      </p:sp>
      <p:sp>
        <p:nvSpPr>
          <p:cNvPr name="TextBox 26" id="26"/>
          <p:cNvSpPr txBox="true"/>
          <p:nvPr/>
        </p:nvSpPr>
        <p:spPr>
          <a:xfrm rot="0">
            <a:off x="939070" y="8515350"/>
            <a:ext cx="13335000" cy="415290"/>
          </a:xfrm>
          <a:prstGeom prst="rect">
            <a:avLst/>
          </a:prstGeom>
        </p:spPr>
        <p:txBody>
          <a:bodyPr anchor="t" rtlCol="false" tIns="0" lIns="0" bIns="0" rIns="0">
            <a:spAutoFit/>
          </a:bodyPr>
          <a:lstStyle/>
          <a:p>
            <a:pPr algn="l">
              <a:lnSpc>
                <a:spcPts val="3359"/>
              </a:lnSpc>
            </a:pPr>
            <a:r>
              <a:rPr lang="en-US" sz="2400" b="true">
                <a:solidFill>
                  <a:srgbClr val="12100E"/>
                </a:solidFill>
                <a:latin typeface="Arimo Bold"/>
                <a:ea typeface="Arimo Bold"/>
                <a:cs typeface="Arimo Bold"/>
                <a:sym typeface="Arimo Bold"/>
              </a:rPr>
              <a:t>→ We keep all of these in our own pipeline</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Freeform 2" id="2" descr="imes.thws logo"/>
          <p:cNvSpPr/>
          <p:nvPr/>
        </p:nvSpPr>
        <p:spPr>
          <a:xfrm flipH="false" flipV="false" rot="0">
            <a:off x="553022" y="707993"/>
            <a:ext cx="5017770" cy="1298734"/>
          </a:xfrm>
          <a:custGeom>
            <a:avLst/>
            <a:gdLst/>
            <a:ahLst/>
            <a:cxnLst/>
            <a:rect r="r" b="b" t="t" l="l"/>
            <a:pathLst>
              <a:path h="1298734" w="5017770">
                <a:moveTo>
                  <a:pt x="0" y="0"/>
                </a:moveTo>
                <a:lnTo>
                  <a:pt x="5017770" y="0"/>
                </a:lnTo>
                <a:lnTo>
                  <a:pt x="5017770" y="1298734"/>
                </a:lnTo>
                <a:lnTo>
                  <a:pt x="0" y="1298734"/>
                </a:lnTo>
                <a:lnTo>
                  <a:pt x="0" y="0"/>
                </a:lnTo>
                <a:close/>
              </a:path>
            </a:pathLst>
          </a:custGeom>
          <a:blipFill>
            <a:blip r:embed="rId3"/>
            <a:stretch>
              <a:fillRect l="-14" t="0" r="-14" b="0"/>
            </a:stretch>
          </a:blipFill>
        </p:spPr>
      </p:sp>
      <p:sp>
        <p:nvSpPr>
          <p:cNvPr name="Freeform 3" id="3" descr="cairo.thws logo"/>
          <p:cNvSpPr/>
          <p:nvPr/>
        </p:nvSpPr>
        <p:spPr>
          <a:xfrm flipH="false" flipV="false" rot="0">
            <a:off x="13282708" y="835628"/>
            <a:ext cx="4646200" cy="1171099"/>
          </a:xfrm>
          <a:custGeom>
            <a:avLst/>
            <a:gdLst/>
            <a:ahLst/>
            <a:cxnLst/>
            <a:rect r="r" b="b" t="t" l="l"/>
            <a:pathLst>
              <a:path h="1171099" w="4646200">
                <a:moveTo>
                  <a:pt x="0" y="0"/>
                </a:moveTo>
                <a:lnTo>
                  <a:pt x="4646200" y="0"/>
                </a:lnTo>
                <a:lnTo>
                  <a:pt x="4646200" y="1171099"/>
                </a:lnTo>
                <a:lnTo>
                  <a:pt x="0" y="1171099"/>
                </a:lnTo>
                <a:lnTo>
                  <a:pt x="0" y="0"/>
                </a:lnTo>
                <a:close/>
              </a:path>
            </a:pathLst>
          </a:custGeom>
          <a:blipFill>
            <a:blip r:embed="rId4"/>
            <a:stretch>
              <a:fillRect l="-39" t="0" r="-39" b="-80162"/>
            </a:stretch>
          </a:blipFill>
        </p:spPr>
      </p:sp>
      <p:grpSp>
        <p:nvGrpSpPr>
          <p:cNvPr name="Group 4" id="4"/>
          <p:cNvGrpSpPr/>
          <p:nvPr/>
        </p:nvGrpSpPr>
        <p:grpSpPr>
          <a:xfrm rot="0">
            <a:off x="708660" y="9429750"/>
            <a:ext cx="639604" cy="114300"/>
            <a:chOff x="0" y="0"/>
            <a:chExt cx="852805" cy="152400"/>
          </a:xfrm>
        </p:grpSpPr>
        <p:sp>
          <p:nvSpPr>
            <p:cNvPr name="Freeform 5" id="5"/>
            <p:cNvSpPr/>
            <p:nvPr/>
          </p:nvSpPr>
          <p:spPr>
            <a:xfrm flipH="false" flipV="false" rot="0">
              <a:off x="0" y="0"/>
              <a:ext cx="852805" cy="152400"/>
            </a:xfrm>
            <a:custGeom>
              <a:avLst/>
              <a:gdLst/>
              <a:ahLst/>
              <a:cxnLst/>
              <a:rect r="r" b="b" t="t" l="l"/>
              <a:pathLst>
                <a:path h="152400" w="852805">
                  <a:moveTo>
                    <a:pt x="0" y="0"/>
                  </a:moveTo>
                  <a:lnTo>
                    <a:pt x="852805" y="0"/>
                  </a:lnTo>
                  <a:lnTo>
                    <a:pt x="852805" y="152400"/>
                  </a:lnTo>
                  <a:lnTo>
                    <a:pt x="0" y="152400"/>
                  </a:lnTo>
                  <a:close/>
                </a:path>
              </a:pathLst>
            </a:custGeom>
            <a:solidFill>
              <a:srgbClr val="FE8213"/>
            </a:solidFill>
          </p:spPr>
        </p:sp>
        <p:sp>
          <p:nvSpPr>
            <p:cNvPr name="TextBox 6" id="6"/>
            <p:cNvSpPr txBox="true"/>
            <p:nvPr/>
          </p:nvSpPr>
          <p:spPr>
            <a:xfrm>
              <a:off x="0" y="-38100"/>
              <a:ext cx="852805" cy="190500"/>
            </a:xfrm>
            <a:prstGeom prst="rect">
              <a:avLst/>
            </a:prstGeom>
          </p:spPr>
          <p:txBody>
            <a:bodyPr anchor="ctr" rtlCol="false" tIns="50800" lIns="50800" bIns="50800" rIns="50800"/>
            <a:lstStyle/>
            <a:p>
              <a:pPr algn="l">
                <a:lnSpc>
                  <a:spcPts val="1679"/>
                </a:lnSpc>
              </a:pPr>
            </a:p>
          </p:txBody>
        </p:sp>
      </p:grpSp>
      <p:sp>
        <p:nvSpPr>
          <p:cNvPr name="TextBox 7" id="7"/>
          <p:cNvSpPr txBox="true"/>
          <p:nvPr/>
        </p:nvSpPr>
        <p:spPr>
          <a:xfrm rot="0">
            <a:off x="553022" y="9704832"/>
            <a:ext cx="2476500" cy="325755"/>
          </a:xfrm>
          <a:prstGeom prst="rect">
            <a:avLst/>
          </a:prstGeom>
        </p:spPr>
        <p:txBody>
          <a:bodyPr anchor="t" rtlCol="false" tIns="0" lIns="0" bIns="0" rIns="0">
            <a:spAutoFit/>
          </a:bodyPr>
          <a:lstStyle/>
          <a:p>
            <a:pPr algn="l">
              <a:lnSpc>
                <a:spcPts val="2520"/>
              </a:lnSpc>
            </a:pPr>
            <a:r>
              <a:rPr lang="en-US" sz="1800" b="true">
                <a:solidFill>
                  <a:srgbClr val="12100E"/>
                </a:solidFill>
                <a:latin typeface="Arimo Bold"/>
                <a:ea typeface="Arimo Bold"/>
                <a:cs typeface="Arimo Bold"/>
                <a:sym typeface="Arimo Bold"/>
              </a:rPr>
              <a:t>CELL FOUNDRY</a:t>
            </a:r>
          </a:p>
        </p:txBody>
      </p:sp>
      <p:sp>
        <p:nvSpPr>
          <p:cNvPr name="TextBox 8" id="8"/>
          <p:cNvSpPr txBox="true"/>
          <p:nvPr/>
        </p:nvSpPr>
        <p:spPr>
          <a:xfrm rot="0">
            <a:off x="12894183" y="9551289"/>
            <a:ext cx="5143500" cy="365760"/>
          </a:xfrm>
          <a:prstGeom prst="rect">
            <a:avLst/>
          </a:prstGeom>
        </p:spPr>
        <p:txBody>
          <a:bodyPr anchor="t" rtlCol="false" tIns="0" lIns="0" bIns="0" rIns="0">
            <a:spAutoFit/>
          </a:bodyPr>
          <a:lstStyle/>
          <a:p>
            <a:pPr algn="l">
              <a:lnSpc>
                <a:spcPts val="2940"/>
              </a:lnSpc>
            </a:pPr>
            <a:r>
              <a:rPr lang="en-US" sz="2100">
                <a:solidFill>
                  <a:srgbClr val="12100E"/>
                </a:solidFill>
                <a:latin typeface="Arimo"/>
                <a:ea typeface="Arimo"/>
                <a:cs typeface="Arimo"/>
                <a:sym typeface="Arimo"/>
              </a:rPr>
              <a:t>Meeting Title: Biweekly meet - 2</a:t>
            </a:r>
          </a:p>
        </p:txBody>
      </p:sp>
      <p:sp>
        <p:nvSpPr>
          <p:cNvPr name="TextBox 9" id="9"/>
          <p:cNvSpPr txBox="true"/>
          <p:nvPr/>
        </p:nvSpPr>
        <p:spPr>
          <a:xfrm rot="0">
            <a:off x="939070" y="2095500"/>
            <a:ext cx="11430000" cy="365760"/>
          </a:xfrm>
          <a:prstGeom prst="rect">
            <a:avLst/>
          </a:prstGeom>
        </p:spPr>
        <p:txBody>
          <a:bodyPr anchor="t" rtlCol="false" tIns="0" lIns="0" bIns="0" rIns="0">
            <a:spAutoFit/>
          </a:bodyPr>
          <a:lstStyle/>
          <a:p>
            <a:pPr algn="l">
              <a:lnSpc>
                <a:spcPts val="2940"/>
              </a:lnSpc>
            </a:pPr>
            <a:r>
              <a:rPr lang="en-US" sz="2100" b="true">
                <a:solidFill>
                  <a:srgbClr val="FE8213"/>
                </a:solidFill>
                <a:latin typeface="Arimo Bold"/>
                <a:ea typeface="Arimo Bold"/>
                <a:cs typeface="Arimo Bold"/>
                <a:sym typeface="Arimo Bold"/>
              </a:rPr>
              <a:t>6 · UPDATE SINCE 8 OCTOBER</a:t>
            </a:r>
          </a:p>
        </p:txBody>
      </p:sp>
      <p:sp>
        <p:nvSpPr>
          <p:cNvPr name="TextBox 10" id="10"/>
          <p:cNvSpPr txBox="true"/>
          <p:nvPr/>
        </p:nvSpPr>
        <p:spPr>
          <a:xfrm rot="0">
            <a:off x="939070" y="2390775"/>
            <a:ext cx="12287250" cy="948690"/>
          </a:xfrm>
          <a:prstGeom prst="rect">
            <a:avLst/>
          </a:prstGeom>
        </p:spPr>
        <p:txBody>
          <a:bodyPr anchor="t" rtlCol="false" tIns="0" lIns="0" bIns="0" rIns="0">
            <a:spAutoFit/>
          </a:bodyPr>
          <a:lstStyle/>
          <a:p>
            <a:pPr algn="l">
              <a:lnSpc>
                <a:spcPts val="7559"/>
              </a:lnSpc>
            </a:pPr>
            <a:r>
              <a:rPr lang="en-US" sz="5400" b="true">
                <a:solidFill>
                  <a:srgbClr val="12100E"/>
                </a:solidFill>
                <a:latin typeface="Arimo Bold"/>
                <a:ea typeface="Arimo Bold"/>
                <a:cs typeface="Arimo Bold"/>
                <a:sym typeface="Arimo Bold"/>
              </a:rPr>
              <a:t>What We Would Look Into</a:t>
            </a:r>
          </a:p>
        </p:txBody>
      </p:sp>
      <p:grpSp>
        <p:nvGrpSpPr>
          <p:cNvPr name="Group 11" id="11"/>
          <p:cNvGrpSpPr/>
          <p:nvPr/>
        </p:nvGrpSpPr>
        <p:grpSpPr>
          <a:xfrm rot="0">
            <a:off x="939070" y="3714750"/>
            <a:ext cx="7781925" cy="4667250"/>
            <a:chOff x="0" y="0"/>
            <a:chExt cx="10375900" cy="6223000"/>
          </a:xfrm>
        </p:grpSpPr>
        <p:sp>
          <p:nvSpPr>
            <p:cNvPr name="Freeform 12" id="12"/>
            <p:cNvSpPr/>
            <p:nvPr/>
          </p:nvSpPr>
          <p:spPr>
            <a:xfrm flipH="false" flipV="false" rot="0">
              <a:off x="0" y="0"/>
              <a:ext cx="10375900" cy="6223000"/>
            </a:xfrm>
            <a:custGeom>
              <a:avLst/>
              <a:gdLst/>
              <a:ahLst/>
              <a:cxnLst/>
              <a:rect r="r" b="b" t="t" l="l"/>
              <a:pathLst>
                <a:path h="6223000" w="10375900">
                  <a:moveTo>
                    <a:pt x="24871" y="0"/>
                  </a:moveTo>
                  <a:lnTo>
                    <a:pt x="10351029" y="0"/>
                  </a:lnTo>
                  <a:cubicBezTo>
                    <a:pt x="10357625" y="0"/>
                    <a:pt x="10363951" y="2620"/>
                    <a:pt x="10368615" y="7285"/>
                  </a:cubicBezTo>
                  <a:cubicBezTo>
                    <a:pt x="10373280" y="11949"/>
                    <a:pt x="10375900" y="18275"/>
                    <a:pt x="10375900" y="24871"/>
                  </a:cubicBezTo>
                  <a:lnTo>
                    <a:pt x="10375900" y="6198129"/>
                  </a:lnTo>
                  <a:cubicBezTo>
                    <a:pt x="10375900" y="6204725"/>
                    <a:pt x="10373280" y="6211051"/>
                    <a:pt x="10368615" y="6215715"/>
                  </a:cubicBezTo>
                  <a:cubicBezTo>
                    <a:pt x="10363951" y="6220380"/>
                    <a:pt x="10357625" y="6223000"/>
                    <a:pt x="10351029" y="6223000"/>
                  </a:cubicBezTo>
                  <a:lnTo>
                    <a:pt x="24871" y="6223000"/>
                  </a:lnTo>
                  <a:cubicBezTo>
                    <a:pt x="18275" y="6223000"/>
                    <a:pt x="11949" y="6220380"/>
                    <a:pt x="7285" y="6215715"/>
                  </a:cubicBezTo>
                  <a:cubicBezTo>
                    <a:pt x="2620" y="6211051"/>
                    <a:pt x="0" y="6204725"/>
                    <a:pt x="0" y="6198129"/>
                  </a:cubicBezTo>
                  <a:lnTo>
                    <a:pt x="0" y="24871"/>
                  </a:lnTo>
                  <a:cubicBezTo>
                    <a:pt x="0" y="18275"/>
                    <a:pt x="2620" y="11949"/>
                    <a:pt x="7285" y="7285"/>
                  </a:cubicBezTo>
                  <a:cubicBezTo>
                    <a:pt x="11949" y="2620"/>
                    <a:pt x="18275" y="0"/>
                    <a:pt x="24871" y="0"/>
                  </a:cubicBezTo>
                  <a:close/>
                </a:path>
              </a:pathLst>
            </a:custGeom>
            <a:solidFill>
              <a:srgbClr val="FDEEDD"/>
            </a:solidFill>
          </p:spPr>
        </p:sp>
        <p:sp>
          <p:nvSpPr>
            <p:cNvPr name="TextBox 13" id="13"/>
            <p:cNvSpPr txBox="true"/>
            <p:nvPr/>
          </p:nvSpPr>
          <p:spPr>
            <a:xfrm>
              <a:off x="0" y="-38100"/>
              <a:ext cx="10375900" cy="6261100"/>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9006745" y="3714750"/>
            <a:ext cx="7781925" cy="4667250"/>
            <a:chOff x="0" y="0"/>
            <a:chExt cx="10375900" cy="6223000"/>
          </a:xfrm>
        </p:grpSpPr>
        <p:sp>
          <p:nvSpPr>
            <p:cNvPr name="Freeform 15" id="15"/>
            <p:cNvSpPr/>
            <p:nvPr/>
          </p:nvSpPr>
          <p:spPr>
            <a:xfrm flipH="false" flipV="false" rot="0">
              <a:off x="0" y="0"/>
              <a:ext cx="10375900" cy="6223000"/>
            </a:xfrm>
            <a:custGeom>
              <a:avLst/>
              <a:gdLst/>
              <a:ahLst/>
              <a:cxnLst/>
              <a:rect r="r" b="b" t="t" l="l"/>
              <a:pathLst>
                <a:path h="6223000" w="10375900">
                  <a:moveTo>
                    <a:pt x="24871" y="0"/>
                  </a:moveTo>
                  <a:lnTo>
                    <a:pt x="10351029" y="0"/>
                  </a:lnTo>
                  <a:cubicBezTo>
                    <a:pt x="10357625" y="0"/>
                    <a:pt x="10363951" y="2620"/>
                    <a:pt x="10368615" y="7285"/>
                  </a:cubicBezTo>
                  <a:cubicBezTo>
                    <a:pt x="10373280" y="11949"/>
                    <a:pt x="10375900" y="18275"/>
                    <a:pt x="10375900" y="24871"/>
                  </a:cubicBezTo>
                  <a:lnTo>
                    <a:pt x="10375900" y="6198129"/>
                  </a:lnTo>
                  <a:cubicBezTo>
                    <a:pt x="10375900" y="6204725"/>
                    <a:pt x="10373280" y="6211051"/>
                    <a:pt x="10368615" y="6215715"/>
                  </a:cubicBezTo>
                  <a:cubicBezTo>
                    <a:pt x="10363951" y="6220380"/>
                    <a:pt x="10357625" y="6223000"/>
                    <a:pt x="10351029" y="6223000"/>
                  </a:cubicBezTo>
                  <a:lnTo>
                    <a:pt x="24871" y="6223000"/>
                  </a:lnTo>
                  <a:cubicBezTo>
                    <a:pt x="18275" y="6223000"/>
                    <a:pt x="11949" y="6220380"/>
                    <a:pt x="7285" y="6215715"/>
                  </a:cubicBezTo>
                  <a:cubicBezTo>
                    <a:pt x="2620" y="6211051"/>
                    <a:pt x="0" y="6204725"/>
                    <a:pt x="0" y="6198129"/>
                  </a:cubicBezTo>
                  <a:lnTo>
                    <a:pt x="0" y="24871"/>
                  </a:lnTo>
                  <a:cubicBezTo>
                    <a:pt x="0" y="18275"/>
                    <a:pt x="2620" y="11949"/>
                    <a:pt x="7285" y="7285"/>
                  </a:cubicBezTo>
                  <a:cubicBezTo>
                    <a:pt x="11949" y="2620"/>
                    <a:pt x="18275" y="0"/>
                    <a:pt x="24871" y="0"/>
                  </a:cubicBezTo>
                  <a:close/>
                </a:path>
              </a:pathLst>
            </a:custGeom>
            <a:solidFill>
              <a:srgbClr val="FDEEDD"/>
            </a:solidFill>
          </p:spPr>
        </p:sp>
        <p:sp>
          <p:nvSpPr>
            <p:cNvPr name="TextBox 16" id="16"/>
            <p:cNvSpPr txBox="true"/>
            <p:nvPr/>
          </p:nvSpPr>
          <p:spPr>
            <a:xfrm>
              <a:off x="0" y="-38100"/>
              <a:ext cx="10375900" cy="6261100"/>
            </a:xfrm>
            <a:prstGeom prst="rect">
              <a:avLst/>
            </a:prstGeom>
          </p:spPr>
          <p:txBody>
            <a:bodyPr anchor="ctr" rtlCol="false" tIns="50800" lIns="50800" bIns="50800" rIns="50800"/>
            <a:lstStyle/>
            <a:p>
              <a:pPr algn="l">
                <a:lnSpc>
                  <a:spcPts val="1679"/>
                </a:lnSpc>
              </a:pPr>
            </a:p>
          </p:txBody>
        </p:sp>
      </p:grpSp>
      <p:sp>
        <p:nvSpPr>
          <p:cNvPr name="TextBox 17" id="17"/>
          <p:cNvSpPr txBox="true"/>
          <p:nvPr/>
        </p:nvSpPr>
        <p:spPr>
          <a:xfrm rot="0">
            <a:off x="1224820" y="3933825"/>
            <a:ext cx="7210425" cy="474345"/>
          </a:xfrm>
          <a:prstGeom prst="rect">
            <a:avLst/>
          </a:prstGeom>
        </p:spPr>
        <p:txBody>
          <a:bodyPr anchor="t" rtlCol="false" tIns="0" lIns="0" bIns="0" rIns="0">
            <a:spAutoFit/>
          </a:bodyPr>
          <a:lstStyle/>
          <a:p>
            <a:pPr algn="l">
              <a:lnSpc>
                <a:spcPts val="3779"/>
              </a:lnSpc>
            </a:pPr>
            <a:r>
              <a:rPr lang="en-US" sz="2700" b="true">
                <a:solidFill>
                  <a:srgbClr val="12100E"/>
                </a:solidFill>
                <a:latin typeface="Arimo Bold"/>
                <a:ea typeface="Arimo Bold"/>
                <a:cs typeface="Arimo Bold"/>
                <a:sym typeface="Arimo Bold"/>
              </a:rPr>
              <a:t>1 · Big fat cells get cut short</a:t>
            </a:r>
          </a:p>
        </p:txBody>
      </p:sp>
      <p:sp>
        <p:nvSpPr>
          <p:cNvPr name="TextBox 18" id="18"/>
          <p:cNvSpPr txBox="true"/>
          <p:nvPr/>
        </p:nvSpPr>
        <p:spPr>
          <a:xfrm rot="0">
            <a:off x="1224820" y="4552950"/>
            <a:ext cx="7210425" cy="2787015"/>
          </a:xfrm>
          <a:prstGeom prst="rect">
            <a:avLst/>
          </a:prstGeom>
        </p:spPr>
        <p:txBody>
          <a:bodyPr anchor="t" rtlCol="false" tIns="0" lIns="0" bIns="0" rIns="0">
            <a:spAutoFit/>
          </a:bodyPr>
          <a:lstStyle/>
          <a:p>
            <a:pPr algn="l" marL="453390" indent="-226695" lvl="1">
              <a:lnSpc>
                <a:spcPts val="3150"/>
              </a:lnSpc>
              <a:buFont typeface="Arial"/>
              <a:buChar char="•"/>
            </a:pPr>
            <a:r>
              <a:rPr lang="en-US" sz="2100">
                <a:solidFill>
                  <a:srgbClr val="12100E"/>
                </a:solidFill>
                <a:latin typeface="Arimo"/>
                <a:ea typeface="Arimo"/>
                <a:cs typeface="Arimo"/>
                <a:sym typeface="Arimo"/>
              </a:rPr>
              <a:t>To turn arrows into cells, every pixel “walks” to its cell centre</a:t>
            </a:r>
          </a:p>
          <a:p>
            <a:pPr algn="l" marL="453390" indent="-226695" lvl="1">
              <a:lnSpc>
                <a:spcPts val="3150"/>
              </a:lnSpc>
              <a:buFont typeface="Arial"/>
              <a:buChar char="•"/>
            </a:pPr>
            <a:r>
              <a:rPr lang="en-US" sz="2100">
                <a:solidFill>
                  <a:srgbClr val="12100E"/>
                </a:solidFill>
                <a:latin typeface="Arimo"/>
                <a:ea typeface="Arimo"/>
                <a:cs typeface="Arimo"/>
                <a:sym typeface="Arimo"/>
              </a:rPr>
              <a:t>With IMES’s settings it can walk at most about 40 px</a:t>
            </a:r>
          </a:p>
          <a:p>
            <a:pPr algn="l" marL="453390" indent="-226695" lvl="1">
              <a:lnSpc>
                <a:spcPts val="3150"/>
              </a:lnSpc>
              <a:buFont typeface="Arial"/>
              <a:buChar char="•"/>
            </a:pPr>
            <a:r>
              <a:rPr lang="en-US" sz="2100">
                <a:solidFill>
                  <a:srgbClr val="12100E"/>
                </a:solidFill>
                <a:latin typeface="Arimo"/>
                <a:ea typeface="Arimo"/>
                <a:cs typeface="Arimo"/>
                <a:sym typeface="Arimo"/>
              </a:rPr>
              <a:t>Our check on the 28 images: 8.9 % of cells, holding 20.7 % of the fat area, reach further</a:t>
            </a:r>
          </a:p>
          <a:p>
            <a:pPr algn="l" marL="453390" indent="-226695" lvl="1">
              <a:lnSpc>
                <a:spcPts val="3150"/>
              </a:lnSpc>
              <a:buFont typeface="Arial"/>
              <a:buChar char="•"/>
            </a:pPr>
            <a:r>
              <a:rPr lang="en-US" sz="2100">
                <a:solidFill>
                  <a:srgbClr val="12100E"/>
                </a:solidFill>
                <a:latin typeface="Arimo"/>
                <a:ea typeface="Arimo"/>
                <a:cs typeface="Arimo"/>
                <a:sym typeface="Arimo"/>
              </a:rPr>
              <a:t>Fix: scale the arrows ×5 → reach 200 px. One number, no retraining</a:t>
            </a:r>
          </a:p>
        </p:txBody>
      </p:sp>
      <p:sp>
        <p:nvSpPr>
          <p:cNvPr name="TextBox 19" id="19"/>
          <p:cNvSpPr txBox="true"/>
          <p:nvPr/>
        </p:nvSpPr>
        <p:spPr>
          <a:xfrm rot="0">
            <a:off x="9292495" y="3933825"/>
            <a:ext cx="7210425" cy="474345"/>
          </a:xfrm>
          <a:prstGeom prst="rect">
            <a:avLst/>
          </a:prstGeom>
        </p:spPr>
        <p:txBody>
          <a:bodyPr anchor="t" rtlCol="false" tIns="0" lIns="0" bIns="0" rIns="0">
            <a:spAutoFit/>
          </a:bodyPr>
          <a:lstStyle/>
          <a:p>
            <a:pPr algn="l">
              <a:lnSpc>
                <a:spcPts val="3779"/>
              </a:lnSpc>
            </a:pPr>
            <a:r>
              <a:rPr lang="en-US" sz="2700" b="true">
                <a:solidFill>
                  <a:srgbClr val="12100E"/>
                </a:solidFill>
                <a:latin typeface="Arimo Bold"/>
                <a:ea typeface="Arimo Bold"/>
                <a:cs typeface="Arimo Bold"/>
                <a:sym typeface="Arimo Bold"/>
              </a:rPr>
              <a:t>2 · Colour channels handled differently</a:t>
            </a:r>
          </a:p>
        </p:txBody>
      </p:sp>
      <p:sp>
        <p:nvSpPr>
          <p:cNvPr name="TextBox 20" id="20"/>
          <p:cNvSpPr txBox="true"/>
          <p:nvPr/>
        </p:nvSpPr>
        <p:spPr>
          <a:xfrm rot="0">
            <a:off x="9292495" y="4552950"/>
            <a:ext cx="7210425" cy="3187065"/>
          </a:xfrm>
          <a:prstGeom prst="rect">
            <a:avLst/>
          </a:prstGeom>
        </p:spPr>
        <p:txBody>
          <a:bodyPr anchor="t" rtlCol="false" tIns="0" lIns="0" bIns="0" rIns="0">
            <a:spAutoFit/>
          </a:bodyPr>
          <a:lstStyle/>
          <a:p>
            <a:pPr algn="l" marL="453390" indent="-226695" lvl="1">
              <a:lnSpc>
                <a:spcPts val="3150"/>
              </a:lnSpc>
              <a:buFont typeface="Arial"/>
              <a:buChar char="•"/>
            </a:pPr>
            <a:r>
              <a:rPr lang="en-US" sz="2100">
                <a:solidFill>
                  <a:srgbClr val="12100E"/>
                </a:solidFill>
                <a:latin typeface="Arimo"/>
                <a:ea typeface="Arimo"/>
                <a:cs typeface="Arimo"/>
                <a:sym typeface="Arimo"/>
              </a:rPr>
              <a:t>Original DINOCell: image turned grey first, then contrast (CLAHE)</a:t>
            </a:r>
          </a:p>
          <a:p>
            <a:pPr algn="l" marL="453390" indent="-226695" lvl="1">
              <a:lnSpc>
                <a:spcPts val="3150"/>
              </a:lnSpc>
              <a:buFont typeface="Arial"/>
              <a:buChar char="•"/>
            </a:pPr>
            <a:r>
              <a:rPr lang="en-US" sz="2100">
                <a:solidFill>
                  <a:srgbClr val="12100E"/>
                </a:solidFill>
                <a:latin typeface="Arimo"/>
                <a:ea typeface="Arimo"/>
                <a:cs typeface="Arimo"/>
                <a:sym typeface="Arimo"/>
              </a:rPr>
              <a:t>IMES notebook: contrast on red, green and blue separately</a:t>
            </a:r>
          </a:p>
          <a:p>
            <a:pPr algn="l" marL="453390" indent="-226695" lvl="1">
              <a:lnSpc>
                <a:spcPts val="3150"/>
              </a:lnSpc>
              <a:buFont typeface="Arial"/>
              <a:buChar char="•"/>
            </a:pPr>
            <a:r>
              <a:rPr lang="en-US" sz="2100">
                <a:solidFill>
                  <a:srgbClr val="12100E"/>
                </a:solidFill>
                <a:latin typeface="Arimo"/>
                <a:ea typeface="Arimo"/>
                <a:cs typeface="Arimo"/>
                <a:sym typeface="Arimo"/>
              </a:rPr>
              <a:t>Our check: all 28 images are colour (0 of 28 grey), so the two really differ</a:t>
            </a:r>
          </a:p>
          <a:p>
            <a:pPr algn="l" marL="453390" indent="-226695" lvl="1">
              <a:lnSpc>
                <a:spcPts val="3150"/>
              </a:lnSpc>
              <a:buFont typeface="Arial"/>
              <a:buChar char="•"/>
            </a:pPr>
            <a:r>
              <a:rPr lang="en-US" sz="2100">
                <a:solidFill>
                  <a:srgbClr val="12100E"/>
                </a:solidFill>
                <a:latin typeface="Arimo"/>
                <a:ea typeface="Arimo"/>
                <a:cs typeface="Arimo"/>
                <a:sym typeface="Arimo"/>
              </a:rPr>
              <a:t>Proposal: keep IMES’s way for the baseline, test grey-first separately</a:t>
            </a:r>
          </a:p>
        </p:txBody>
      </p:sp>
      <p:sp>
        <p:nvSpPr>
          <p:cNvPr name="TextBox 21" id="21"/>
          <p:cNvSpPr txBox="true"/>
          <p:nvPr/>
        </p:nvSpPr>
        <p:spPr>
          <a:xfrm rot="0">
            <a:off x="939070" y="8562975"/>
            <a:ext cx="16192500" cy="400050"/>
          </a:xfrm>
          <a:prstGeom prst="rect">
            <a:avLst/>
          </a:prstGeom>
        </p:spPr>
        <p:txBody>
          <a:bodyPr anchor="t" rtlCol="false" tIns="0" lIns="0" bIns="0" rIns="0">
            <a:spAutoFit/>
          </a:bodyPr>
          <a:lstStyle/>
          <a:p>
            <a:pPr algn="l">
              <a:lnSpc>
                <a:spcPts val="3149"/>
              </a:lnSpc>
            </a:pPr>
            <a:r>
              <a:rPr lang="en-US" sz="2250" b="true">
                <a:solidFill>
                  <a:srgbClr val="12100E"/>
                </a:solidFill>
                <a:latin typeface="Arimo Bold"/>
                <a:ea typeface="Arimo Bold"/>
                <a:cs typeface="Arimo Bold"/>
                <a:sym typeface="Arimo Bold"/>
              </a:rPr>
              <a:t>→ Proposals only: IMES’s baseline stays as they built it; each change is tested on its own</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Freeform 2" id="2" descr="imes.thws logo"/>
          <p:cNvSpPr/>
          <p:nvPr/>
        </p:nvSpPr>
        <p:spPr>
          <a:xfrm flipH="false" flipV="false" rot="0">
            <a:off x="553022" y="707993"/>
            <a:ext cx="5017770" cy="1298734"/>
          </a:xfrm>
          <a:custGeom>
            <a:avLst/>
            <a:gdLst/>
            <a:ahLst/>
            <a:cxnLst/>
            <a:rect r="r" b="b" t="t" l="l"/>
            <a:pathLst>
              <a:path h="1298734" w="5017770">
                <a:moveTo>
                  <a:pt x="0" y="0"/>
                </a:moveTo>
                <a:lnTo>
                  <a:pt x="5017770" y="0"/>
                </a:lnTo>
                <a:lnTo>
                  <a:pt x="5017770" y="1298734"/>
                </a:lnTo>
                <a:lnTo>
                  <a:pt x="0" y="1298734"/>
                </a:lnTo>
                <a:lnTo>
                  <a:pt x="0" y="0"/>
                </a:lnTo>
                <a:close/>
              </a:path>
            </a:pathLst>
          </a:custGeom>
          <a:blipFill>
            <a:blip r:embed="rId3"/>
            <a:stretch>
              <a:fillRect l="-14" t="0" r="-14" b="0"/>
            </a:stretch>
          </a:blipFill>
        </p:spPr>
      </p:sp>
      <p:sp>
        <p:nvSpPr>
          <p:cNvPr name="Freeform 3" id="3" descr="cairo.thws logo"/>
          <p:cNvSpPr/>
          <p:nvPr/>
        </p:nvSpPr>
        <p:spPr>
          <a:xfrm flipH="false" flipV="false" rot="0">
            <a:off x="13282708" y="835628"/>
            <a:ext cx="4646200" cy="1171099"/>
          </a:xfrm>
          <a:custGeom>
            <a:avLst/>
            <a:gdLst/>
            <a:ahLst/>
            <a:cxnLst/>
            <a:rect r="r" b="b" t="t" l="l"/>
            <a:pathLst>
              <a:path h="1171099" w="4646200">
                <a:moveTo>
                  <a:pt x="0" y="0"/>
                </a:moveTo>
                <a:lnTo>
                  <a:pt x="4646200" y="0"/>
                </a:lnTo>
                <a:lnTo>
                  <a:pt x="4646200" y="1171099"/>
                </a:lnTo>
                <a:lnTo>
                  <a:pt x="0" y="1171099"/>
                </a:lnTo>
                <a:lnTo>
                  <a:pt x="0" y="0"/>
                </a:lnTo>
                <a:close/>
              </a:path>
            </a:pathLst>
          </a:custGeom>
          <a:blipFill>
            <a:blip r:embed="rId4"/>
            <a:stretch>
              <a:fillRect l="-39" t="0" r="-39" b="-80162"/>
            </a:stretch>
          </a:blipFill>
        </p:spPr>
      </p:sp>
      <p:grpSp>
        <p:nvGrpSpPr>
          <p:cNvPr name="Group 4" id="4"/>
          <p:cNvGrpSpPr/>
          <p:nvPr/>
        </p:nvGrpSpPr>
        <p:grpSpPr>
          <a:xfrm rot="0">
            <a:off x="708660" y="9429750"/>
            <a:ext cx="639604" cy="114300"/>
            <a:chOff x="0" y="0"/>
            <a:chExt cx="852805" cy="152400"/>
          </a:xfrm>
        </p:grpSpPr>
        <p:sp>
          <p:nvSpPr>
            <p:cNvPr name="Freeform 5" id="5"/>
            <p:cNvSpPr/>
            <p:nvPr/>
          </p:nvSpPr>
          <p:spPr>
            <a:xfrm flipH="false" flipV="false" rot="0">
              <a:off x="0" y="0"/>
              <a:ext cx="852805" cy="152400"/>
            </a:xfrm>
            <a:custGeom>
              <a:avLst/>
              <a:gdLst/>
              <a:ahLst/>
              <a:cxnLst/>
              <a:rect r="r" b="b" t="t" l="l"/>
              <a:pathLst>
                <a:path h="152400" w="852805">
                  <a:moveTo>
                    <a:pt x="0" y="0"/>
                  </a:moveTo>
                  <a:lnTo>
                    <a:pt x="852805" y="0"/>
                  </a:lnTo>
                  <a:lnTo>
                    <a:pt x="852805" y="152400"/>
                  </a:lnTo>
                  <a:lnTo>
                    <a:pt x="0" y="152400"/>
                  </a:lnTo>
                  <a:close/>
                </a:path>
              </a:pathLst>
            </a:custGeom>
            <a:solidFill>
              <a:srgbClr val="FE8213"/>
            </a:solidFill>
          </p:spPr>
        </p:sp>
        <p:sp>
          <p:nvSpPr>
            <p:cNvPr name="TextBox 6" id="6"/>
            <p:cNvSpPr txBox="true"/>
            <p:nvPr/>
          </p:nvSpPr>
          <p:spPr>
            <a:xfrm>
              <a:off x="0" y="-38100"/>
              <a:ext cx="852805" cy="190500"/>
            </a:xfrm>
            <a:prstGeom prst="rect">
              <a:avLst/>
            </a:prstGeom>
          </p:spPr>
          <p:txBody>
            <a:bodyPr anchor="ctr" rtlCol="false" tIns="50800" lIns="50800" bIns="50800" rIns="50800"/>
            <a:lstStyle/>
            <a:p>
              <a:pPr algn="l">
                <a:lnSpc>
                  <a:spcPts val="1679"/>
                </a:lnSpc>
              </a:pPr>
            </a:p>
          </p:txBody>
        </p:sp>
      </p:grpSp>
      <p:sp>
        <p:nvSpPr>
          <p:cNvPr name="TextBox 7" id="7"/>
          <p:cNvSpPr txBox="true"/>
          <p:nvPr/>
        </p:nvSpPr>
        <p:spPr>
          <a:xfrm rot="0">
            <a:off x="553022" y="9704832"/>
            <a:ext cx="2476500" cy="325755"/>
          </a:xfrm>
          <a:prstGeom prst="rect">
            <a:avLst/>
          </a:prstGeom>
        </p:spPr>
        <p:txBody>
          <a:bodyPr anchor="t" rtlCol="false" tIns="0" lIns="0" bIns="0" rIns="0">
            <a:spAutoFit/>
          </a:bodyPr>
          <a:lstStyle/>
          <a:p>
            <a:pPr algn="l">
              <a:lnSpc>
                <a:spcPts val="2520"/>
              </a:lnSpc>
            </a:pPr>
            <a:r>
              <a:rPr lang="en-US" sz="1800" b="true">
                <a:solidFill>
                  <a:srgbClr val="12100E"/>
                </a:solidFill>
                <a:latin typeface="Arimo Bold"/>
                <a:ea typeface="Arimo Bold"/>
                <a:cs typeface="Arimo Bold"/>
                <a:sym typeface="Arimo Bold"/>
              </a:rPr>
              <a:t>CELL FOUNDRY</a:t>
            </a:r>
          </a:p>
        </p:txBody>
      </p:sp>
      <p:sp>
        <p:nvSpPr>
          <p:cNvPr name="TextBox 8" id="8"/>
          <p:cNvSpPr txBox="true"/>
          <p:nvPr/>
        </p:nvSpPr>
        <p:spPr>
          <a:xfrm rot="0">
            <a:off x="12894183" y="9551289"/>
            <a:ext cx="5143500" cy="365760"/>
          </a:xfrm>
          <a:prstGeom prst="rect">
            <a:avLst/>
          </a:prstGeom>
        </p:spPr>
        <p:txBody>
          <a:bodyPr anchor="t" rtlCol="false" tIns="0" lIns="0" bIns="0" rIns="0">
            <a:spAutoFit/>
          </a:bodyPr>
          <a:lstStyle/>
          <a:p>
            <a:pPr algn="l">
              <a:lnSpc>
                <a:spcPts val="2940"/>
              </a:lnSpc>
            </a:pPr>
            <a:r>
              <a:rPr lang="en-US" sz="2100">
                <a:solidFill>
                  <a:srgbClr val="12100E"/>
                </a:solidFill>
                <a:latin typeface="Arimo"/>
                <a:ea typeface="Arimo"/>
                <a:cs typeface="Arimo"/>
                <a:sym typeface="Arimo"/>
              </a:rPr>
              <a:t>Meeting Title: Biweekly meet - 2</a:t>
            </a:r>
          </a:p>
        </p:txBody>
      </p:sp>
      <p:sp>
        <p:nvSpPr>
          <p:cNvPr name="TextBox 9" id="9"/>
          <p:cNvSpPr txBox="true"/>
          <p:nvPr/>
        </p:nvSpPr>
        <p:spPr>
          <a:xfrm rot="0">
            <a:off x="939070" y="2095500"/>
            <a:ext cx="11430000" cy="365760"/>
          </a:xfrm>
          <a:prstGeom prst="rect">
            <a:avLst/>
          </a:prstGeom>
        </p:spPr>
        <p:txBody>
          <a:bodyPr anchor="t" rtlCol="false" tIns="0" lIns="0" bIns="0" rIns="0">
            <a:spAutoFit/>
          </a:bodyPr>
          <a:lstStyle/>
          <a:p>
            <a:pPr algn="l">
              <a:lnSpc>
                <a:spcPts val="2940"/>
              </a:lnSpc>
            </a:pPr>
            <a:r>
              <a:rPr lang="en-US" sz="2100" b="true">
                <a:solidFill>
                  <a:srgbClr val="FE8213"/>
                </a:solidFill>
                <a:latin typeface="Arimo Bold"/>
                <a:ea typeface="Arimo Bold"/>
                <a:cs typeface="Arimo Bold"/>
                <a:sym typeface="Arimo Bold"/>
              </a:rPr>
              <a:t>6 · UPDATE SINCE 8 OCTOBER</a:t>
            </a:r>
          </a:p>
        </p:txBody>
      </p:sp>
      <p:sp>
        <p:nvSpPr>
          <p:cNvPr name="TextBox 10" id="10"/>
          <p:cNvSpPr txBox="true"/>
          <p:nvPr/>
        </p:nvSpPr>
        <p:spPr>
          <a:xfrm rot="0">
            <a:off x="939070" y="2390775"/>
            <a:ext cx="12287250" cy="948690"/>
          </a:xfrm>
          <a:prstGeom prst="rect">
            <a:avLst/>
          </a:prstGeom>
        </p:spPr>
        <p:txBody>
          <a:bodyPr anchor="t" rtlCol="false" tIns="0" lIns="0" bIns="0" rIns="0">
            <a:spAutoFit/>
          </a:bodyPr>
          <a:lstStyle/>
          <a:p>
            <a:pPr algn="l">
              <a:lnSpc>
                <a:spcPts val="7559"/>
              </a:lnSpc>
            </a:pPr>
            <a:r>
              <a:rPr lang="en-US" sz="5400" b="true">
                <a:solidFill>
                  <a:srgbClr val="12100E"/>
                </a:solidFill>
                <a:latin typeface="Arimo Bold"/>
                <a:ea typeface="Arimo Bold"/>
                <a:cs typeface="Arimo Bold"/>
                <a:sym typeface="Arimo Bold"/>
              </a:rPr>
              <a:t>How IMES Checks Its Model</a:t>
            </a:r>
          </a:p>
        </p:txBody>
      </p:sp>
      <p:grpSp>
        <p:nvGrpSpPr>
          <p:cNvPr name="Group 11" id="11"/>
          <p:cNvGrpSpPr/>
          <p:nvPr/>
        </p:nvGrpSpPr>
        <p:grpSpPr>
          <a:xfrm rot="0">
            <a:off x="939070" y="3714750"/>
            <a:ext cx="7781925" cy="4667250"/>
            <a:chOff x="0" y="0"/>
            <a:chExt cx="10375900" cy="6223000"/>
          </a:xfrm>
        </p:grpSpPr>
        <p:sp>
          <p:nvSpPr>
            <p:cNvPr name="Freeform 12" id="12"/>
            <p:cNvSpPr/>
            <p:nvPr/>
          </p:nvSpPr>
          <p:spPr>
            <a:xfrm flipH="false" flipV="false" rot="0">
              <a:off x="0" y="0"/>
              <a:ext cx="10375900" cy="6223000"/>
            </a:xfrm>
            <a:custGeom>
              <a:avLst/>
              <a:gdLst/>
              <a:ahLst/>
              <a:cxnLst/>
              <a:rect r="r" b="b" t="t" l="l"/>
              <a:pathLst>
                <a:path h="6223000" w="10375900">
                  <a:moveTo>
                    <a:pt x="24871" y="0"/>
                  </a:moveTo>
                  <a:lnTo>
                    <a:pt x="10351029" y="0"/>
                  </a:lnTo>
                  <a:cubicBezTo>
                    <a:pt x="10357625" y="0"/>
                    <a:pt x="10363951" y="2620"/>
                    <a:pt x="10368615" y="7285"/>
                  </a:cubicBezTo>
                  <a:cubicBezTo>
                    <a:pt x="10373280" y="11949"/>
                    <a:pt x="10375900" y="18275"/>
                    <a:pt x="10375900" y="24871"/>
                  </a:cubicBezTo>
                  <a:lnTo>
                    <a:pt x="10375900" y="6198129"/>
                  </a:lnTo>
                  <a:cubicBezTo>
                    <a:pt x="10375900" y="6204725"/>
                    <a:pt x="10373280" y="6211051"/>
                    <a:pt x="10368615" y="6215715"/>
                  </a:cubicBezTo>
                  <a:cubicBezTo>
                    <a:pt x="10363951" y="6220380"/>
                    <a:pt x="10357625" y="6223000"/>
                    <a:pt x="10351029" y="6223000"/>
                  </a:cubicBezTo>
                  <a:lnTo>
                    <a:pt x="24871" y="6223000"/>
                  </a:lnTo>
                  <a:cubicBezTo>
                    <a:pt x="18275" y="6223000"/>
                    <a:pt x="11949" y="6220380"/>
                    <a:pt x="7285" y="6215715"/>
                  </a:cubicBezTo>
                  <a:cubicBezTo>
                    <a:pt x="2620" y="6211051"/>
                    <a:pt x="0" y="6204725"/>
                    <a:pt x="0" y="6198129"/>
                  </a:cubicBezTo>
                  <a:lnTo>
                    <a:pt x="0" y="24871"/>
                  </a:lnTo>
                  <a:cubicBezTo>
                    <a:pt x="0" y="18275"/>
                    <a:pt x="2620" y="11949"/>
                    <a:pt x="7285" y="7285"/>
                  </a:cubicBezTo>
                  <a:cubicBezTo>
                    <a:pt x="11949" y="2620"/>
                    <a:pt x="18275" y="0"/>
                    <a:pt x="24871" y="0"/>
                  </a:cubicBezTo>
                  <a:close/>
                </a:path>
              </a:pathLst>
            </a:custGeom>
            <a:solidFill>
              <a:srgbClr val="EFEAE0"/>
            </a:solidFill>
          </p:spPr>
        </p:sp>
        <p:sp>
          <p:nvSpPr>
            <p:cNvPr name="TextBox 13" id="13"/>
            <p:cNvSpPr txBox="true"/>
            <p:nvPr/>
          </p:nvSpPr>
          <p:spPr>
            <a:xfrm>
              <a:off x="0" y="-38100"/>
              <a:ext cx="10375900" cy="6261100"/>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9006745" y="3714750"/>
            <a:ext cx="7781925" cy="4667250"/>
            <a:chOff x="0" y="0"/>
            <a:chExt cx="10375900" cy="6223000"/>
          </a:xfrm>
        </p:grpSpPr>
        <p:sp>
          <p:nvSpPr>
            <p:cNvPr name="Freeform 15" id="15"/>
            <p:cNvSpPr/>
            <p:nvPr/>
          </p:nvSpPr>
          <p:spPr>
            <a:xfrm flipH="false" flipV="false" rot="0">
              <a:off x="0" y="0"/>
              <a:ext cx="10375900" cy="6223000"/>
            </a:xfrm>
            <a:custGeom>
              <a:avLst/>
              <a:gdLst/>
              <a:ahLst/>
              <a:cxnLst/>
              <a:rect r="r" b="b" t="t" l="l"/>
              <a:pathLst>
                <a:path h="6223000" w="10375900">
                  <a:moveTo>
                    <a:pt x="24871" y="0"/>
                  </a:moveTo>
                  <a:lnTo>
                    <a:pt x="10351029" y="0"/>
                  </a:lnTo>
                  <a:cubicBezTo>
                    <a:pt x="10357625" y="0"/>
                    <a:pt x="10363951" y="2620"/>
                    <a:pt x="10368615" y="7285"/>
                  </a:cubicBezTo>
                  <a:cubicBezTo>
                    <a:pt x="10373280" y="11949"/>
                    <a:pt x="10375900" y="18275"/>
                    <a:pt x="10375900" y="24871"/>
                  </a:cubicBezTo>
                  <a:lnTo>
                    <a:pt x="10375900" y="6198129"/>
                  </a:lnTo>
                  <a:cubicBezTo>
                    <a:pt x="10375900" y="6204725"/>
                    <a:pt x="10373280" y="6211051"/>
                    <a:pt x="10368615" y="6215715"/>
                  </a:cubicBezTo>
                  <a:cubicBezTo>
                    <a:pt x="10363951" y="6220380"/>
                    <a:pt x="10357625" y="6223000"/>
                    <a:pt x="10351029" y="6223000"/>
                  </a:cubicBezTo>
                  <a:lnTo>
                    <a:pt x="24871" y="6223000"/>
                  </a:lnTo>
                  <a:cubicBezTo>
                    <a:pt x="18275" y="6223000"/>
                    <a:pt x="11949" y="6220380"/>
                    <a:pt x="7285" y="6215715"/>
                  </a:cubicBezTo>
                  <a:cubicBezTo>
                    <a:pt x="2620" y="6211051"/>
                    <a:pt x="0" y="6204725"/>
                    <a:pt x="0" y="6198129"/>
                  </a:cubicBezTo>
                  <a:lnTo>
                    <a:pt x="0" y="24871"/>
                  </a:lnTo>
                  <a:cubicBezTo>
                    <a:pt x="0" y="18275"/>
                    <a:pt x="2620" y="11949"/>
                    <a:pt x="7285" y="7285"/>
                  </a:cubicBezTo>
                  <a:cubicBezTo>
                    <a:pt x="11949" y="2620"/>
                    <a:pt x="18275" y="0"/>
                    <a:pt x="24871" y="0"/>
                  </a:cubicBezTo>
                  <a:close/>
                </a:path>
              </a:pathLst>
            </a:custGeom>
            <a:solidFill>
              <a:srgbClr val="EFEAE0"/>
            </a:solidFill>
          </p:spPr>
        </p:sp>
        <p:sp>
          <p:nvSpPr>
            <p:cNvPr name="TextBox 16" id="16"/>
            <p:cNvSpPr txBox="true"/>
            <p:nvPr/>
          </p:nvSpPr>
          <p:spPr>
            <a:xfrm>
              <a:off x="0" y="-38100"/>
              <a:ext cx="10375900" cy="6261100"/>
            </a:xfrm>
            <a:prstGeom prst="rect">
              <a:avLst/>
            </a:prstGeom>
          </p:spPr>
          <p:txBody>
            <a:bodyPr anchor="ctr" rtlCol="false" tIns="50800" lIns="50800" bIns="50800" rIns="50800"/>
            <a:lstStyle/>
            <a:p>
              <a:pPr algn="l">
                <a:lnSpc>
                  <a:spcPts val="1679"/>
                </a:lnSpc>
              </a:pPr>
            </a:p>
          </p:txBody>
        </p:sp>
      </p:grpSp>
      <p:sp>
        <p:nvSpPr>
          <p:cNvPr name="TextBox 17" id="17"/>
          <p:cNvSpPr txBox="true"/>
          <p:nvPr/>
        </p:nvSpPr>
        <p:spPr>
          <a:xfrm rot="0">
            <a:off x="1224820" y="3933825"/>
            <a:ext cx="7210425" cy="474345"/>
          </a:xfrm>
          <a:prstGeom prst="rect">
            <a:avLst/>
          </a:prstGeom>
        </p:spPr>
        <p:txBody>
          <a:bodyPr anchor="t" rtlCol="false" tIns="0" lIns="0" bIns="0" rIns="0">
            <a:spAutoFit/>
          </a:bodyPr>
          <a:lstStyle/>
          <a:p>
            <a:pPr algn="l">
              <a:lnSpc>
                <a:spcPts val="3779"/>
              </a:lnSpc>
            </a:pPr>
            <a:r>
              <a:rPr lang="en-US" sz="2700" b="true">
                <a:solidFill>
                  <a:srgbClr val="12100E"/>
                </a:solidFill>
                <a:latin typeface="Arimo Bold"/>
                <a:ea typeface="Arimo Bold"/>
                <a:cs typeface="Arimo Bold"/>
                <a:sym typeface="Arimo Bold"/>
              </a:rPr>
              <a:t>1 · Checks use small patches</a:t>
            </a:r>
          </a:p>
        </p:txBody>
      </p:sp>
      <p:sp>
        <p:nvSpPr>
          <p:cNvPr name="TextBox 18" id="18"/>
          <p:cNvSpPr txBox="true"/>
          <p:nvPr/>
        </p:nvSpPr>
        <p:spPr>
          <a:xfrm rot="0">
            <a:off x="1224820" y="4552950"/>
            <a:ext cx="7210425" cy="3187065"/>
          </a:xfrm>
          <a:prstGeom prst="rect">
            <a:avLst/>
          </a:prstGeom>
        </p:spPr>
        <p:txBody>
          <a:bodyPr anchor="t" rtlCol="false" tIns="0" lIns="0" bIns="0" rIns="0">
            <a:spAutoFit/>
          </a:bodyPr>
          <a:lstStyle/>
          <a:p>
            <a:pPr algn="l" marL="453390" indent="-226695" lvl="1">
              <a:lnSpc>
                <a:spcPts val="3150"/>
              </a:lnSpc>
              <a:buFont typeface="Arial"/>
              <a:buChar char="•"/>
            </a:pPr>
            <a:r>
              <a:rPr lang="en-US" sz="2100">
                <a:solidFill>
                  <a:srgbClr val="12100E"/>
                </a:solidFill>
                <a:latin typeface="Arimo"/>
                <a:ea typeface="Arimo"/>
                <a:cs typeface="Arimo"/>
                <a:sym typeface="Arimo"/>
              </a:rPr>
              <a:t>Every 50 rounds: scored on 12 small pieces (512 × 512) of the 6 check images</a:t>
            </a:r>
          </a:p>
          <a:p>
            <a:pPr algn="l" marL="453390" indent="-226695" lvl="1">
              <a:lnSpc>
                <a:spcPts val="3150"/>
              </a:lnSpc>
              <a:buFont typeface="Arial"/>
              <a:buChar char="•"/>
            </a:pPr>
            <a:r>
              <a:rPr lang="en-US" sz="2100">
                <a:solidFill>
                  <a:srgbClr val="12100E"/>
                </a:solidFill>
                <a:latin typeface="Arimo"/>
                <a:ea typeface="Arimo"/>
                <a:cs typeface="Arimo"/>
                <a:sym typeface="Arimo"/>
              </a:rPr>
              <a:t>That is only about 25 % of each image, mostly around cells</a:t>
            </a:r>
          </a:p>
          <a:p>
            <a:pPr algn="l" marL="453390" indent="-226695" lvl="1">
              <a:lnSpc>
                <a:spcPts val="3150"/>
              </a:lnSpc>
              <a:buFont typeface="Arial"/>
              <a:buChar char="•"/>
            </a:pPr>
            <a:r>
              <a:rPr lang="en-US" sz="2100">
                <a:solidFill>
                  <a:srgbClr val="12100E"/>
                </a:solidFill>
                <a:latin typeface="Arimo"/>
                <a:ea typeface="Arimo"/>
                <a:cs typeface="Arimo"/>
                <a:sym typeface="Arimo"/>
              </a:rPr>
              <a:t>Empty background is rarely checked, so false detections are missed</a:t>
            </a:r>
          </a:p>
          <a:p>
            <a:pPr algn="l" marL="453390" indent="-226695" lvl="1">
              <a:lnSpc>
                <a:spcPts val="3150"/>
              </a:lnSpc>
              <a:buFont typeface="Arial"/>
              <a:buChar char="•"/>
            </a:pPr>
            <a:r>
              <a:rPr lang="en-US" sz="2100">
                <a:solidFill>
                  <a:srgbClr val="12100E"/>
                </a:solidFill>
                <a:latin typeface="Arimo"/>
                <a:ea typeface="Arimo"/>
                <a:cs typeface="Arimo"/>
                <a:sym typeface="Arimo"/>
              </a:rPr>
              <a:t>Proposal: score whole images, the same way for every model</a:t>
            </a:r>
          </a:p>
        </p:txBody>
      </p:sp>
      <p:sp>
        <p:nvSpPr>
          <p:cNvPr name="TextBox 19" id="19"/>
          <p:cNvSpPr txBox="true"/>
          <p:nvPr/>
        </p:nvSpPr>
        <p:spPr>
          <a:xfrm rot="0">
            <a:off x="9292495" y="3933825"/>
            <a:ext cx="7210425" cy="474345"/>
          </a:xfrm>
          <a:prstGeom prst="rect">
            <a:avLst/>
          </a:prstGeom>
        </p:spPr>
        <p:txBody>
          <a:bodyPr anchor="t" rtlCol="false" tIns="0" lIns="0" bIns="0" rIns="0">
            <a:spAutoFit/>
          </a:bodyPr>
          <a:lstStyle/>
          <a:p>
            <a:pPr algn="l">
              <a:lnSpc>
                <a:spcPts val="3779"/>
              </a:lnSpc>
            </a:pPr>
            <a:r>
              <a:rPr lang="en-US" sz="2700" b="true">
                <a:solidFill>
                  <a:srgbClr val="12100E"/>
                </a:solidFill>
                <a:latin typeface="Arimo Bold"/>
                <a:ea typeface="Arimo Bold"/>
                <a:cs typeface="Arimo Bold"/>
                <a:sym typeface="Arimo Bold"/>
              </a:rPr>
              <a:t>2 · No separate test images</a:t>
            </a:r>
          </a:p>
        </p:txBody>
      </p:sp>
      <p:sp>
        <p:nvSpPr>
          <p:cNvPr name="TextBox 20" id="20"/>
          <p:cNvSpPr txBox="true"/>
          <p:nvPr/>
        </p:nvSpPr>
        <p:spPr>
          <a:xfrm rot="0">
            <a:off x="9292495" y="4552950"/>
            <a:ext cx="7210425" cy="2787015"/>
          </a:xfrm>
          <a:prstGeom prst="rect">
            <a:avLst/>
          </a:prstGeom>
        </p:spPr>
        <p:txBody>
          <a:bodyPr anchor="t" rtlCol="false" tIns="0" lIns="0" bIns="0" rIns="0">
            <a:spAutoFit/>
          </a:bodyPr>
          <a:lstStyle/>
          <a:p>
            <a:pPr algn="l" marL="453390" indent="-226695" lvl="1">
              <a:lnSpc>
                <a:spcPts val="3150"/>
              </a:lnSpc>
              <a:buFont typeface="Arial"/>
              <a:buChar char="•"/>
            </a:pPr>
            <a:r>
              <a:rPr lang="en-US" sz="2100">
                <a:solidFill>
                  <a:srgbClr val="12100E"/>
                </a:solidFill>
                <a:latin typeface="Arimo"/>
                <a:ea typeface="Arimo"/>
                <a:cs typeface="Arimo"/>
                <a:sym typeface="Arimo"/>
              </a:rPr>
              <a:t>The best version is picked on the same 6 images that are reported</a:t>
            </a:r>
          </a:p>
          <a:p>
            <a:pPr algn="l" marL="453390" indent="-226695" lvl="1">
              <a:lnSpc>
                <a:spcPts val="3150"/>
              </a:lnSpc>
              <a:buFont typeface="Arial"/>
              <a:buChar char="•"/>
            </a:pPr>
            <a:r>
              <a:rPr lang="en-US" sz="2100">
                <a:solidFill>
                  <a:srgbClr val="12100E"/>
                </a:solidFill>
                <a:latin typeface="Arimo"/>
                <a:ea typeface="Arimo"/>
                <a:cs typeface="Arimo"/>
                <a:sym typeface="Arimo"/>
              </a:rPr>
              <a:t>So the reported score looks better than it really is</a:t>
            </a:r>
          </a:p>
          <a:p>
            <a:pPr algn="l" marL="453390" indent="-226695" lvl="1">
              <a:lnSpc>
                <a:spcPts val="3150"/>
              </a:lnSpc>
              <a:buFont typeface="Arial"/>
              <a:buChar char="•"/>
            </a:pPr>
            <a:r>
              <a:rPr lang="en-US" sz="2100">
                <a:solidFill>
                  <a:srgbClr val="12100E"/>
                </a:solidFill>
                <a:latin typeface="Arimo"/>
                <a:ea typeface="Arimo"/>
                <a:cs typeface="Arimo"/>
                <a:sym typeface="Arimo"/>
              </a:rPr>
              <a:t>The app model saw all 28 images, so it cannot be tested fairly on them</a:t>
            </a:r>
          </a:p>
          <a:p>
            <a:pPr algn="l" marL="453390" indent="-226695" lvl="1">
              <a:lnSpc>
                <a:spcPts val="3150"/>
              </a:lnSpc>
              <a:buFont typeface="Arial"/>
              <a:buChar char="•"/>
            </a:pPr>
            <a:r>
              <a:rPr lang="en-US" sz="2100">
                <a:solidFill>
                  <a:srgbClr val="12100E"/>
                </a:solidFill>
                <a:latin typeface="Arimo"/>
                <a:ea typeface="Arimo"/>
                <a:cs typeface="Arimo"/>
                <a:sym typeface="Arimo"/>
              </a:rPr>
              <a:t>Proposal: fixed split, e.g. 18 train / 4 check / 6 test, test used once</a:t>
            </a:r>
          </a:p>
        </p:txBody>
      </p:sp>
      <p:sp>
        <p:nvSpPr>
          <p:cNvPr name="TextBox 21" id="21"/>
          <p:cNvSpPr txBox="true"/>
          <p:nvPr/>
        </p:nvSpPr>
        <p:spPr>
          <a:xfrm rot="0">
            <a:off x="939070" y="8562975"/>
            <a:ext cx="16192500" cy="400050"/>
          </a:xfrm>
          <a:prstGeom prst="rect">
            <a:avLst/>
          </a:prstGeom>
        </p:spPr>
        <p:txBody>
          <a:bodyPr anchor="t" rtlCol="false" tIns="0" lIns="0" bIns="0" rIns="0">
            <a:spAutoFit/>
          </a:bodyPr>
          <a:lstStyle/>
          <a:p>
            <a:pPr algn="l">
              <a:lnSpc>
                <a:spcPts val="3149"/>
              </a:lnSpc>
            </a:pPr>
            <a:r>
              <a:rPr lang="en-US" sz="2250" b="true">
                <a:solidFill>
                  <a:srgbClr val="12100E"/>
                </a:solidFill>
                <a:latin typeface="Arimo Bold"/>
                <a:ea typeface="Arimo Bold"/>
                <a:cs typeface="Arimo Bold"/>
                <a:sym typeface="Arimo Bold"/>
              </a:rPr>
              <a:t>→ Suggestions for Potential Split -  18 / 4 / 6 split, or k-fold cross-validation?</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Freeform 2" id="2" descr="imes.thws logo"/>
          <p:cNvSpPr/>
          <p:nvPr/>
        </p:nvSpPr>
        <p:spPr>
          <a:xfrm flipH="false" flipV="false" rot="0">
            <a:off x="553022" y="707993"/>
            <a:ext cx="5017770" cy="1298734"/>
          </a:xfrm>
          <a:custGeom>
            <a:avLst/>
            <a:gdLst/>
            <a:ahLst/>
            <a:cxnLst/>
            <a:rect r="r" b="b" t="t" l="l"/>
            <a:pathLst>
              <a:path h="1298734" w="5017770">
                <a:moveTo>
                  <a:pt x="0" y="0"/>
                </a:moveTo>
                <a:lnTo>
                  <a:pt x="5017770" y="0"/>
                </a:lnTo>
                <a:lnTo>
                  <a:pt x="5017770" y="1298734"/>
                </a:lnTo>
                <a:lnTo>
                  <a:pt x="0" y="1298734"/>
                </a:lnTo>
                <a:lnTo>
                  <a:pt x="0" y="0"/>
                </a:lnTo>
                <a:close/>
              </a:path>
            </a:pathLst>
          </a:custGeom>
          <a:blipFill>
            <a:blip r:embed="rId3"/>
            <a:stretch>
              <a:fillRect l="-14" t="0" r="-14" b="0"/>
            </a:stretch>
          </a:blipFill>
        </p:spPr>
      </p:sp>
      <p:sp>
        <p:nvSpPr>
          <p:cNvPr name="Freeform 3" id="3" descr="cairo.thws logo"/>
          <p:cNvSpPr/>
          <p:nvPr/>
        </p:nvSpPr>
        <p:spPr>
          <a:xfrm flipH="false" flipV="false" rot="0">
            <a:off x="13282708" y="835628"/>
            <a:ext cx="4646200" cy="1171099"/>
          </a:xfrm>
          <a:custGeom>
            <a:avLst/>
            <a:gdLst/>
            <a:ahLst/>
            <a:cxnLst/>
            <a:rect r="r" b="b" t="t" l="l"/>
            <a:pathLst>
              <a:path h="1171099" w="4646200">
                <a:moveTo>
                  <a:pt x="0" y="0"/>
                </a:moveTo>
                <a:lnTo>
                  <a:pt x="4646200" y="0"/>
                </a:lnTo>
                <a:lnTo>
                  <a:pt x="4646200" y="1171099"/>
                </a:lnTo>
                <a:lnTo>
                  <a:pt x="0" y="1171099"/>
                </a:lnTo>
                <a:lnTo>
                  <a:pt x="0" y="0"/>
                </a:lnTo>
                <a:close/>
              </a:path>
            </a:pathLst>
          </a:custGeom>
          <a:blipFill>
            <a:blip r:embed="rId4"/>
            <a:stretch>
              <a:fillRect l="-39" t="0" r="-39" b="-80162"/>
            </a:stretch>
          </a:blipFill>
        </p:spPr>
      </p:sp>
      <p:grpSp>
        <p:nvGrpSpPr>
          <p:cNvPr name="Group 4" id="4"/>
          <p:cNvGrpSpPr/>
          <p:nvPr/>
        </p:nvGrpSpPr>
        <p:grpSpPr>
          <a:xfrm rot="0">
            <a:off x="708660" y="9429750"/>
            <a:ext cx="639604" cy="114300"/>
            <a:chOff x="0" y="0"/>
            <a:chExt cx="852805" cy="152400"/>
          </a:xfrm>
        </p:grpSpPr>
        <p:sp>
          <p:nvSpPr>
            <p:cNvPr name="Freeform 5" id="5"/>
            <p:cNvSpPr/>
            <p:nvPr/>
          </p:nvSpPr>
          <p:spPr>
            <a:xfrm flipH="false" flipV="false" rot="0">
              <a:off x="0" y="0"/>
              <a:ext cx="852805" cy="152400"/>
            </a:xfrm>
            <a:custGeom>
              <a:avLst/>
              <a:gdLst/>
              <a:ahLst/>
              <a:cxnLst/>
              <a:rect r="r" b="b" t="t" l="l"/>
              <a:pathLst>
                <a:path h="152400" w="852805">
                  <a:moveTo>
                    <a:pt x="0" y="0"/>
                  </a:moveTo>
                  <a:lnTo>
                    <a:pt x="852805" y="0"/>
                  </a:lnTo>
                  <a:lnTo>
                    <a:pt x="852805" y="152400"/>
                  </a:lnTo>
                  <a:lnTo>
                    <a:pt x="0" y="152400"/>
                  </a:lnTo>
                  <a:close/>
                </a:path>
              </a:pathLst>
            </a:custGeom>
            <a:solidFill>
              <a:srgbClr val="FE8213"/>
            </a:solidFill>
          </p:spPr>
        </p:sp>
        <p:sp>
          <p:nvSpPr>
            <p:cNvPr name="TextBox 6" id="6"/>
            <p:cNvSpPr txBox="true"/>
            <p:nvPr/>
          </p:nvSpPr>
          <p:spPr>
            <a:xfrm>
              <a:off x="0" y="-38100"/>
              <a:ext cx="852805" cy="190500"/>
            </a:xfrm>
            <a:prstGeom prst="rect">
              <a:avLst/>
            </a:prstGeom>
          </p:spPr>
          <p:txBody>
            <a:bodyPr anchor="ctr" rtlCol="false" tIns="50800" lIns="50800" bIns="50800" rIns="50800"/>
            <a:lstStyle/>
            <a:p>
              <a:pPr algn="l">
                <a:lnSpc>
                  <a:spcPts val="1679"/>
                </a:lnSpc>
              </a:pPr>
            </a:p>
          </p:txBody>
        </p:sp>
      </p:grpSp>
      <p:sp>
        <p:nvSpPr>
          <p:cNvPr name="TextBox 7" id="7"/>
          <p:cNvSpPr txBox="true"/>
          <p:nvPr/>
        </p:nvSpPr>
        <p:spPr>
          <a:xfrm rot="0">
            <a:off x="553022" y="9704832"/>
            <a:ext cx="2476500" cy="325755"/>
          </a:xfrm>
          <a:prstGeom prst="rect">
            <a:avLst/>
          </a:prstGeom>
        </p:spPr>
        <p:txBody>
          <a:bodyPr anchor="t" rtlCol="false" tIns="0" lIns="0" bIns="0" rIns="0">
            <a:spAutoFit/>
          </a:bodyPr>
          <a:lstStyle/>
          <a:p>
            <a:pPr algn="l">
              <a:lnSpc>
                <a:spcPts val="2520"/>
              </a:lnSpc>
            </a:pPr>
            <a:r>
              <a:rPr lang="en-US" sz="1800" b="true">
                <a:solidFill>
                  <a:srgbClr val="12100E"/>
                </a:solidFill>
                <a:latin typeface="Arimo Bold"/>
                <a:ea typeface="Arimo Bold"/>
                <a:cs typeface="Arimo Bold"/>
                <a:sym typeface="Arimo Bold"/>
              </a:rPr>
              <a:t>CELL FOUNDRY</a:t>
            </a:r>
          </a:p>
        </p:txBody>
      </p:sp>
      <p:sp>
        <p:nvSpPr>
          <p:cNvPr name="TextBox 8" id="8"/>
          <p:cNvSpPr txBox="true"/>
          <p:nvPr/>
        </p:nvSpPr>
        <p:spPr>
          <a:xfrm rot="0">
            <a:off x="12894183" y="9551289"/>
            <a:ext cx="5143500" cy="365760"/>
          </a:xfrm>
          <a:prstGeom prst="rect">
            <a:avLst/>
          </a:prstGeom>
        </p:spPr>
        <p:txBody>
          <a:bodyPr anchor="t" rtlCol="false" tIns="0" lIns="0" bIns="0" rIns="0">
            <a:spAutoFit/>
          </a:bodyPr>
          <a:lstStyle/>
          <a:p>
            <a:pPr algn="l">
              <a:lnSpc>
                <a:spcPts val="2940"/>
              </a:lnSpc>
            </a:pPr>
            <a:r>
              <a:rPr lang="en-US" sz="2100">
                <a:solidFill>
                  <a:srgbClr val="12100E"/>
                </a:solidFill>
                <a:latin typeface="Arimo"/>
                <a:ea typeface="Arimo"/>
                <a:cs typeface="Arimo"/>
                <a:sym typeface="Arimo"/>
              </a:rPr>
              <a:t>Meeting Title: Biweekly meet - 2</a:t>
            </a:r>
          </a:p>
        </p:txBody>
      </p:sp>
      <p:sp>
        <p:nvSpPr>
          <p:cNvPr name="TextBox 9" id="9"/>
          <p:cNvSpPr txBox="true"/>
          <p:nvPr/>
        </p:nvSpPr>
        <p:spPr>
          <a:xfrm rot="0">
            <a:off x="939070" y="2095500"/>
            <a:ext cx="11430000" cy="365760"/>
          </a:xfrm>
          <a:prstGeom prst="rect">
            <a:avLst/>
          </a:prstGeom>
        </p:spPr>
        <p:txBody>
          <a:bodyPr anchor="t" rtlCol="false" tIns="0" lIns="0" bIns="0" rIns="0">
            <a:spAutoFit/>
          </a:bodyPr>
          <a:lstStyle/>
          <a:p>
            <a:pPr algn="l">
              <a:lnSpc>
                <a:spcPts val="2940"/>
              </a:lnSpc>
            </a:pPr>
            <a:r>
              <a:rPr lang="en-US" sz="2100" b="true">
                <a:solidFill>
                  <a:srgbClr val="FE8213"/>
                </a:solidFill>
                <a:latin typeface="Arimo Bold"/>
                <a:ea typeface="Arimo Bold"/>
                <a:cs typeface="Arimo Bold"/>
                <a:sym typeface="Arimo Bold"/>
              </a:rPr>
              <a:t>6 · UPDATE SINCE 8 OCTOBER</a:t>
            </a:r>
          </a:p>
        </p:txBody>
      </p:sp>
      <p:sp>
        <p:nvSpPr>
          <p:cNvPr name="TextBox 10" id="10"/>
          <p:cNvSpPr txBox="true"/>
          <p:nvPr/>
        </p:nvSpPr>
        <p:spPr>
          <a:xfrm rot="0">
            <a:off x="939070" y="2390775"/>
            <a:ext cx="12287250" cy="948690"/>
          </a:xfrm>
          <a:prstGeom prst="rect">
            <a:avLst/>
          </a:prstGeom>
        </p:spPr>
        <p:txBody>
          <a:bodyPr anchor="t" rtlCol="false" tIns="0" lIns="0" bIns="0" rIns="0">
            <a:spAutoFit/>
          </a:bodyPr>
          <a:lstStyle/>
          <a:p>
            <a:pPr algn="l">
              <a:lnSpc>
                <a:spcPts val="7559"/>
              </a:lnSpc>
            </a:pPr>
            <a:r>
              <a:rPr lang="en-US" sz="5400" b="true">
                <a:solidFill>
                  <a:srgbClr val="12100E"/>
                </a:solidFill>
                <a:latin typeface="Arimo Bold"/>
                <a:ea typeface="Arimo Bold"/>
                <a:cs typeface="Arimo Bold"/>
                <a:sym typeface="Arimo Bold"/>
              </a:rPr>
              <a:t>Better Evaluation: Fat-Cell Area</a:t>
            </a:r>
          </a:p>
        </p:txBody>
      </p:sp>
      <p:grpSp>
        <p:nvGrpSpPr>
          <p:cNvPr name="Group 11" id="11"/>
          <p:cNvGrpSpPr/>
          <p:nvPr/>
        </p:nvGrpSpPr>
        <p:grpSpPr>
          <a:xfrm rot="0">
            <a:off x="939070" y="3714750"/>
            <a:ext cx="7781925" cy="4667250"/>
            <a:chOff x="0" y="0"/>
            <a:chExt cx="10375900" cy="6223000"/>
          </a:xfrm>
        </p:grpSpPr>
        <p:sp>
          <p:nvSpPr>
            <p:cNvPr name="Freeform 12" id="12"/>
            <p:cNvSpPr/>
            <p:nvPr/>
          </p:nvSpPr>
          <p:spPr>
            <a:xfrm flipH="false" flipV="false" rot="0">
              <a:off x="0" y="0"/>
              <a:ext cx="10375900" cy="6223000"/>
            </a:xfrm>
            <a:custGeom>
              <a:avLst/>
              <a:gdLst/>
              <a:ahLst/>
              <a:cxnLst/>
              <a:rect r="r" b="b" t="t" l="l"/>
              <a:pathLst>
                <a:path h="6223000" w="10375900">
                  <a:moveTo>
                    <a:pt x="24871" y="0"/>
                  </a:moveTo>
                  <a:lnTo>
                    <a:pt x="10351029" y="0"/>
                  </a:lnTo>
                  <a:cubicBezTo>
                    <a:pt x="10357625" y="0"/>
                    <a:pt x="10363951" y="2620"/>
                    <a:pt x="10368615" y="7285"/>
                  </a:cubicBezTo>
                  <a:cubicBezTo>
                    <a:pt x="10373280" y="11949"/>
                    <a:pt x="10375900" y="18275"/>
                    <a:pt x="10375900" y="24871"/>
                  </a:cubicBezTo>
                  <a:lnTo>
                    <a:pt x="10375900" y="6198129"/>
                  </a:lnTo>
                  <a:cubicBezTo>
                    <a:pt x="10375900" y="6204725"/>
                    <a:pt x="10373280" y="6211051"/>
                    <a:pt x="10368615" y="6215715"/>
                  </a:cubicBezTo>
                  <a:cubicBezTo>
                    <a:pt x="10363951" y="6220380"/>
                    <a:pt x="10357625" y="6223000"/>
                    <a:pt x="10351029" y="6223000"/>
                  </a:cubicBezTo>
                  <a:lnTo>
                    <a:pt x="24871" y="6223000"/>
                  </a:lnTo>
                  <a:cubicBezTo>
                    <a:pt x="18275" y="6223000"/>
                    <a:pt x="11949" y="6220380"/>
                    <a:pt x="7285" y="6215715"/>
                  </a:cubicBezTo>
                  <a:cubicBezTo>
                    <a:pt x="2620" y="6211051"/>
                    <a:pt x="0" y="6204725"/>
                    <a:pt x="0" y="6198129"/>
                  </a:cubicBezTo>
                  <a:lnTo>
                    <a:pt x="0" y="24871"/>
                  </a:lnTo>
                  <a:cubicBezTo>
                    <a:pt x="0" y="18275"/>
                    <a:pt x="2620" y="11949"/>
                    <a:pt x="7285" y="7285"/>
                  </a:cubicBezTo>
                  <a:cubicBezTo>
                    <a:pt x="11949" y="2620"/>
                    <a:pt x="18275" y="0"/>
                    <a:pt x="24871" y="0"/>
                  </a:cubicBezTo>
                  <a:close/>
                </a:path>
              </a:pathLst>
            </a:custGeom>
            <a:solidFill>
              <a:srgbClr val="E8F0E3"/>
            </a:solidFill>
          </p:spPr>
        </p:sp>
        <p:sp>
          <p:nvSpPr>
            <p:cNvPr name="TextBox 13" id="13"/>
            <p:cNvSpPr txBox="true"/>
            <p:nvPr/>
          </p:nvSpPr>
          <p:spPr>
            <a:xfrm>
              <a:off x="0" y="-38100"/>
              <a:ext cx="10375900" cy="6261100"/>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9006745" y="3714750"/>
            <a:ext cx="7781925" cy="4667250"/>
            <a:chOff x="0" y="0"/>
            <a:chExt cx="10375900" cy="6223000"/>
          </a:xfrm>
        </p:grpSpPr>
        <p:sp>
          <p:nvSpPr>
            <p:cNvPr name="Freeform 15" id="15"/>
            <p:cNvSpPr/>
            <p:nvPr/>
          </p:nvSpPr>
          <p:spPr>
            <a:xfrm flipH="false" flipV="false" rot="0">
              <a:off x="0" y="0"/>
              <a:ext cx="10375900" cy="6223000"/>
            </a:xfrm>
            <a:custGeom>
              <a:avLst/>
              <a:gdLst/>
              <a:ahLst/>
              <a:cxnLst/>
              <a:rect r="r" b="b" t="t" l="l"/>
              <a:pathLst>
                <a:path h="6223000" w="10375900">
                  <a:moveTo>
                    <a:pt x="24871" y="0"/>
                  </a:moveTo>
                  <a:lnTo>
                    <a:pt x="10351029" y="0"/>
                  </a:lnTo>
                  <a:cubicBezTo>
                    <a:pt x="10357625" y="0"/>
                    <a:pt x="10363951" y="2620"/>
                    <a:pt x="10368615" y="7285"/>
                  </a:cubicBezTo>
                  <a:cubicBezTo>
                    <a:pt x="10373280" y="11949"/>
                    <a:pt x="10375900" y="18275"/>
                    <a:pt x="10375900" y="24871"/>
                  </a:cubicBezTo>
                  <a:lnTo>
                    <a:pt x="10375900" y="6198129"/>
                  </a:lnTo>
                  <a:cubicBezTo>
                    <a:pt x="10375900" y="6204725"/>
                    <a:pt x="10373280" y="6211051"/>
                    <a:pt x="10368615" y="6215715"/>
                  </a:cubicBezTo>
                  <a:cubicBezTo>
                    <a:pt x="10363951" y="6220380"/>
                    <a:pt x="10357625" y="6223000"/>
                    <a:pt x="10351029" y="6223000"/>
                  </a:cubicBezTo>
                  <a:lnTo>
                    <a:pt x="24871" y="6223000"/>
                  </a:lnTo>
                  <a:cubicBezTo>
                    <a:pt x="18275" y="6223000"/>
                    <a:pt x="11949" y="6220380"/>
                    <a:pt x="7285" y="6215715"/>
                  </a:cubicBezTo>
                  <a:cubicBezTo>
                    <a:pt x="2620" y="6211051"/>
                    <a:pt x="0" y="6204725"/>
                    <a:pt x="0" y="6198129"/>
                  </a:cubicBezTo>
                  <a:lnTo>
                    <a:pt x="0" y="24871"/>
                  </a:lnTo>
                  <a:cubicBezTo>
                    <a:pt x="0" y="18275"/>
                    <a:pt x="2620" y="11949"/>
                    <a:pt x="7285" y="7285"/>
                  </a:cubicBezTo>
                  <a:cubicBezTo>
                    <a:pt x="11949" y="2620"/>
                    <a:pt x="18275" y="0"/>
                    <a:pt x="24871" y="0"/>
                  </a:cubicBezTo>
                  <a:close/>
                </a:path>
              </a:pathLst>
            </a:custGeom>
            <a:solidFill>
              <a:srgbClr val="E8F0E3"/>
            </a:solidFill>
          </p:spPr>
        </p:sp>
        <p:sp>
          <p:nvSpPr>
            <p:cNvPr name="TextBox 16" id="16"/>
            <p:cNvSpPr txBox="true"/>
            <p:nvPr/>
          </p:nvSpPr>
          <p:spPr>
            <a:xfrm>
              <a:off x="0" y="-38100"/>
              <a:ext cx="10375900" cy="6261100"/>
            </a:xfrm>
            <a:prstGeom prst="rect">
              <a:avLst/>
            </a:prstGeom>
          </p:spPr>
          <p:txBody>
            <a:bodyPr anchor="ctr" rtlCol="false" tIns="50800" lIns="50800" bIns="50800" rIns="50800"/>
            <a:lstStyle/>
            <a:p>
              <a:pPr algn="l">
                <a:lnSpc>
                  <a:spcPts val="1679"/>
                </a:lnSpc>
              </a:pPr>
            </a:p>
          </p:txBody>
        </p:sp>
      </p:grpSp>
      <p:sp>
        <p:nvSpPr>
          <p:cNvPr name="TextBox 17" id="17"/>
          <p:cNvSpPr txBox="true"/>
          <p:nvPr/>
        </p:nvSpPr>
        <p:spPr>
          <a:xfrm rot="0">
            <a:off x="1224820" y="3933825"/>
            <a:ext cx="7210425" cy="474345"/>
          </a:xfrm>
          <a:prstGeom prst="rect">
            <a:avLst/>
          </a:prstGeom>
        </p:spPr>
        <p:txBody>
          <a:bodyPr anchor="t" rtlCol="false" tIns="0" lIns="0" bIns="0" rIns="0">
            <a:spAutoFit/>
          </a:bodyPr>
          <a:lstStyle/>
          <a:p>
            <a:pPr algn="l">
              <a:lnSpc>
                <a:spcPts val="3779"/>
              </a:lnSpc>
            </a:pPr>
            <a:r>
              <a:rPr lang="en-US" sz="2700" b="true">
                <a:solidFill>
                  <a:srgbClr val="12100E"/>
                </a:solidFill>
                <a:latin typeface="Arimo Bold"/>
                <a:ea typeface="Arimo Bold"/>
                <a:cs typeface="Arimo Bold"/>
                <a:sym typeface="Arimo Bold"/>
              </a:rPr>
              <a:t>New metrics (IMES’s request)</a:t>
            </a:r>
          </a:p>
        </p:txBody>
      </p:sp>
      <p:sp>
        <p:nvSpPr>
          <p:cNvPr name="TextBox 18" id="18"/>
          <p:cNvSpPr txBox="true"/>
          <p:nvPr/>
        </p:nvSpPr>
        <p:spPr>
          <a:xfrm rot="0">
            <a:off x="1224820" y="4552950"/>
            <a:ext cx="7210425" cy="1986915"/>
          </a:xfrm>
          <a:prstGeom prst="rect">
            <a:avLst/>
          </a:prstGeom>
        </p:spPr>
        <p:txBody>
          <a:bodyPr anchor="t" rtlCol="false" tIns="0" lIns="0" bIns="0" rIns="0">
            <a:spAutoFit/>
          </a:bodyPr>
          <a:lstStyle/>
          <a:p>
            <a:pPr algn="l" marL="453390" indent="-226695" lvl="1">
              <a:lnSpc>
                <a:spcPts val="3150"/>
              </a:lnSpc>
              <a:buFont typeface="Arial"/>
              <a:buChar char="•"/>
            </a:pPr>
            <a:r>
              <a:rPr lang="en-US" sz="2100">
                <a:solidFill>
                  <a:srgbClr val="12100E"/>
                </a:solidFill>
                <a:latin typeface="Arimo"/>
                <a:ea typeface="Arimo"/>
                <a:cs typeface="Arimo"/>
                <a:sym typeface="Arimo"/>
              </a:rPr>
              <a:t>Fat % = share of the image covered by fat cells</a:t>
            </a:r>
          </a:p>
          <a:p>
            <a:pPr algn="l" marL="453390" indent="-226695" lvl="1">
              <a:lnSpc>
                <a:spcPts val="3150"/>
              </a:lnSpc>
              <a:buFont typeface="Arial"/>
              <a:buChar char="•"/>
            </a:pPr>
            <a:r>
              <a:rPr lang="en-US" sz="2100">
                <a:solidFill>
                  <a:srgbClr val="12100E"/>
                </a:solidFill>
                <a:latin typeface="Arimo"/>
                <a:ea typeface="Arimo"/>
                <a:cs typeface="Arimo"/>
                <a:sym typeface="Arimo"/>
              </a:rPr>
              <a:t>Fat % error = predicted minus true, in percentage points</a:t>
            </a:r>
          </a:p>
          <a:p>
            <a:pPr algn="l" marL="453390" indent="-226695" lvl="1">
              <a:lnSpc>
                <a:spcPts val="3150"/>
              </a:lnSpc>
              <a:buFont typeface="Arial"/>
              <a:buChar char="•"/>
            </a:pPr>
            <a:r>
              <a:rPr lang="en-US" sz="2100">
                <a:solidFill>
                  <a:srgbClr val="12100E"/>
                </a:solidFill>
                <a:latin typeface="Arimo"/>
                <a:ea typeface="Arimo"/>
                <a:cs typeface="Arimo"/>
                <a:sym typeface="Arimo"/>
              </a:rPr>
              <a:t>Foreground Dice = overlap of predicted and true fat area (1 = perfect)</a:t>
            </a:r>
          </a:p>
          <a:p>
            <a:pPr algn="l" marL="453390" indent="-226695" lvl="1">
              <a:lnSpc>
                <a:spcPts val="3150"/>
              </a:lnSpc>
              <a:buFont typeface="Arial"/>
              <a:buChar char="•"/>
            </a:pPr>
            <a:r>
              <a:rPr lang="en-US" sz="2100">
                <a:solidFill>
                  <a:srgbClr val="12100E"/>
                </a:solidFill>
                <a:latin typeface="Arimo"/>
                <a:ea typeface="Arimo"/>
                <a:cs typeface="Arimo"/>
                <a:sym typeface="Arimo"/>
              </a:rPr>
              <a:t>Kept: cell count error and F1 at IoU 0.5 / 0.7 / 0.75</a:t>
            </a:r>
          </a:p>
        </p:txBody>
      </p:sp>
      <p:sp>
        <p:nvSpPr>
          <p:cNvPr name="TextBox 19" id="19"/>
          <p:cNvSpPr txBox="true"/>
          <p:nvPr/>
        </p:nvSpPr>
        <p:spPr>
          <a:xfrm rot="0">
            <a:off x="9292495" y="3933825"/>
            <a:ext cx="7210425" cy="474345"/>
          </a:xfrm>
          <a:prstGeom prst="rect">
            <a:avLst/>
          </a:prstGeom>
        </p:spPr>
        <p:txBody>
          <a:bodyPr anchor="t" rtlCol="false" tIns="0" lIns="0" bIns="0" rIns="0">
            <a:spAutoFit/>
          </a:bodyPr>
          <a:lstStyle/>
          <a:p>
            <a:pPr algn="l">
              <a:lnSpc>
                <a:spcPts val="3779"/>
              </a:lnSpc>
            </a:pPr>
            <a:r>
              <a:rPr lang="en-US" sz="2700" b="true">
                <a:solidFill>
                  <a:srgbClr val="12100E"/>
                </a:solidFill>
                <a:latin typeface="Arimo Bold"/>
                <a:ea typeface="Arimo Bold"/>
                <a:cs typeface="Arimo Bold"/>
                <a:sym typeface="Arimo Bold"/>
              </a:rPr>
              <a:t>One scoring script for every model</a:t>
            </a:r>
          </a:p>
        </p:txBody>
      </p:sp>
      <p:sp>
        <p:nvSpPr>
          <p:cNvPr name="TextBox 20" id="20"/>
          <p:cNvSpPr txBox="true"/>
          <p:nvPr/>
        </p:nvSpPr>
        <p:spPr>
          <a:xfrm rot="0">
            <a:off x="9292495" y="4552950"/>
            <a:ext cx="7210425" cy="3187065"/>
          </a:xfrm>
          <a:prstGeom prst="rect">
            <a:avLst/>
          </a:prstGeom>
        </p:spPr>
        <p:txBody>
          <a:bodyPr anchor="t" rtlCol="false" tIns="0" lIns="0" bIns="0" rIns="0">
            <a:spAutoFit/>
          </a:bodyPr>
          <a:lstStyle/>
          <a:p>
            <a:pPr algn="l" marL="453390" indent="-226695" lvl="1">
              <a:lnSpc>
                <a:spcPts val="3150"/>
              </a:lnSpc>
              <a:buFont typeface="Arial"/>
              <a:buChar char="•"/>
            </a:pPr>
            <a:r>
              <a:rPr lang="en-US" sz="2100">
                <a:solidFill>
                  <a:srgbClr val="12100E"/>
                </a:solidFill>
                <a:latin typeface="Arimo"/>
                <a:ea typeface="Arimo"/>
                <a:cs typeface="Arimo"/>
                <a:sym typeface="Arimo"/>
              </a:rPr>
              <a:t>score_masks_v2.py: the same metric code for every model</a:t>
            </a:r>
          </a:p>
          <a:p>
            <a:pPr algn="l" marL="453390" indent="-226695" lvl="1">
              <a:lnSpc>
                <a:spcPts val="3150"/>
              </a:lnSpc>
              <a:buFont typeface="Arial"/>
              <a:buChar char="•"/>
            </a:pPr>
            <a:r>
              <a:rPr lang="en-US" sz="2100">
                <a:solidFill>
                  <a:srgbClr val="12100E"/>
                </a:solidFill>
                <a:latin typeface="Arimo"/>
                <a:ea typeface="Arimo"/>
                <a:cs typeface="Arimo"/>
                <a:sym typeface="Arimo"/>
              </a:rPr>
              <a:t>run_batch_v2.py: runs models on a whole folder and scores them</a:t>
            </a:r>
          </a:p>
          <a:p>
            <a:pPr algn="l" marL="453390" indent="-226695" lvl="1">
              <a:lnSpc>
                <a:spcPts val="3150"/>
              </a:lnSpc>
              <a:buFont typeface="Arial"/>
              <a:buChar char="•"/>
            </a:pPr>
            <a:r>
              <a:rPr lang="en-US" sz="2100">
                <a:solidFill>
                  <a:srgbClr val="12100E"/>
                </a:solidFill>
                <a:latin typeface="Arimo"/>
                <a:ea typeface="Arimo"/>
                <a:cs typeface="Arimo"/>
                <a:sym typeface="Arimo"/>
              </a:rPr>
              <a:t>Checked against hand-calculated answers; reproduces the 18 Oct numbers exactly</a:t>
            </a:r>
          </a:p>
          <a:p>
            <a:pPr algn="l" marL="453390" indent="-226695" lvl="1">
              <a:lnSpc>
                <a:spcPts val="3150"/>
              </a:lnSpc>
              <a:buFont typeface="Arial"/>
              <a:buChar char="•"/>
            </a:pPr>
            <a:r>
              <a:rPr lang="en-US" sz="2100">
                <a:solidFill>
                  <a:srgbClr val="12100E"/>
                </a:solidFill>
                <a:latin typeface="Arimo"/>
                <a:ea typeface="Arimo"/>
                <a:cs typeface="Arimo"/>
                <a:sym typeface="Arimo"/>
              </a:rPr>
              <a:t>Ready as the baseline for the models the team picks after reading their papers</a:t>
            </a:r>
          </a:p>
        </p:txBody>
      </p:sp>
      <p:sp>
        <p:nvSpPr>
          <p:cNvPr name="TextBox 21" id="21"/>
          <p:cNvSpPr txBox="true"/>
          <p:nvPr/>
        </p:nvSpPr>
        <p:spPr>
          <a:xfrm rot="0">
            <a:off x="939070" y="8562975"/>
            <a:ext cx="16192500" cy="400050"/>
          </a:xfrm>
          <a:prstGeom prst="rect">
            <a:avLst/>
          </a:prstGeom>
        </p:spPr>
        <p:txBody>
          <a:bodyPr anchor="t" rtlCol="false" tIns="0" lIns="0" bIns="0" rIns="0">
            <a:spAutoFit/>
          </a:bodyPr>
          <a:lstStyle/>
          <a:p>
            <a:pPr algn="l">
              <a:lnSpc>
                <a:spcPts val="3149"/>
              </a:lnSpc>
            </a:pPr>
            <a:r>
              <a:rPr lang="en-US" sz="2250" b="true">
                <a:solidFill>
                  <a:srgbClr val="12100E"/>
                </a:solidFill>
                <a:latin typeface="Arimo Bold"/>
                <a:ea typeface="Arimo Bold"/>
                <a:cs typeface="Arimo Bold"/>
                <a:sym typeface="Arimo Bold"/>
              </a:rPr>
              <a:t>→ Pull request open on GitHub (part of issue #1), waiting for review</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Freeform 2" id="2" descr="imes.thws logo"/>
          <p:cNvSpPr/>
          <p:nvPr/>
        </p:nvSpPr>
        <p:spPr>
          <a:xfrm flipH="false" flipV="false" rot="0">
            <a:off x="553022" y="707993"/>
            <a:ext cx="5017770" cy="1298734"/>
          </a:xfrm>
          <a:custGeom>
            <a:avLst/>
            <a:gdLst/>
            <a:ahLst/>
            <a:cxnLst/>
            <a:rect r="r" b="b" t="t" l="l"/>
            <a:pathLst>
              <a:path h="1298734" w="5017770">
                <a:moveTo>
                  <a:pt x="0" y="0"/>
                </a:moveTo>
                <a:lnTo>
                  <a:pt x="5017770" y="0"/>
                </a:lnTo>
                <a:lnTo>
                  <a:pt x="5017770" y="1298734"/>
                </a:lnTo>
                <a:lnTo>
                  <a:pt x="0" y="1298734"/>
                </a:lnTo>
                <a:lnTo>
                  <a:pt x="0" y="0"/>
                </a:lnTo>
                <a:close/>
              </a:path>
            </a:pathLst>
          </a:custGeom>
          <a:blipFill>
            <a:blip r:embed="rId3"/>
            <a:stretch>
              <a:fillRect l="-14" t="0" r="-14" b="0"/>
            </a:stretch>
          </a:blipFill>
        </p:spPr>
      </p:sp>
      <p:sp>
        <p:nvSpPr>
          <p:cNvPr name="Freeform 3" id="3" descr="cairo.thws logo"/>
          <p:cNvSpPr/>
          <p:nvPr/>
        </p:nvSpPr>
        <p:spPr>
          <a:xfrm flipH="false" flipV="false" rot="0">
            <a:off x="13282708" y="835628"/>
            <a:ext cx="4646200" cy="1171099"/>
          </a:xfrm>
          <a:custGeom>
            <a:avLst/>
            <a:gdLst/>
            <a:ahLst/>
            <a:cxnLst/>
            <a:rect r="r" b="b" t="t" l="l"/>
            <a:pathLst>
              <a:path h="1171099" w="4646200">
                <a:moveTo>
                  <a:pt x="0" y="0"/>
                </a:moveTo>
                <a:lnTo>
                  <a:pt x="4646200" y="0"/>
                </a:lnTo>
                <a:lnTo>
                  <a:pt x="4646200" y="1171099"/>
                </a:lnTo>
                <a:lnTo>
                  <a:pt x="0" y="1171099"/>
                </a:lnTo>
                <a:lnTo>
                  <a:pt x="0" y="0"/>
                </a:lnTo>
                <a:close/>
              </a:path>
            </a:pathLst>
          </a:custGeom>
          <a:blipFill>
            <a:blip r:embed="rId4"/>
            <a:stretch>
              <a:fillRect l="-39" t="0" r="-39" b="-80162"/>
            </a:stretch>
          </a:blipFill>
        </p:spPr>
      </p:sp>
      <p:grpSp>
        <p:nvGrpSpPr>
          <p:cNvPr name="Group 4" id="4"/>
          <p:cNvGrpSpPr/>
          <p:nvPr/>
        </p:nvGrpSpPr>
        <p:grpSpPr>
          <a:xfrm rot="0">
            <a:off x="708660" y="9429750"/>
            <a:ext cx="639604" cy="114300"/>
            <a:chOff x="0" y="0"/>
            <a:chExt cx="852805" cy="152400"/>
          </a:xfrm>
        </p:grpSpPr>
        <p:sp>
          <p:nvSpPr>
            <p:cNvPr name="Freeform 5" id="5"/>
            <p:cNvSpPr/>
            <p:nvPr/>
          </p:nvSpPr>
          <p:spPr>
            <a:xfrm flipH="false" flipV="false" rot="0">
              <a:off x="0" y="0"/>
              <a:ext cx="852805" cy="152400"/>
            </a:xfrm>
            <a:custGeom>
              <a:avLst/>
              <a:gdLst/>
              <a:ahLst/>
              <a:cxnLst/>
              <a:rect r="r" b="b" t="t" l="l"/>
              <a:pathLst>
                <a:path h="152400" w="852805">
                  <a:moveTo>
                    <a:pt x="0" y="0"/>
                  </a:moveTo>
                  <a:lnTo>
                    <a:pt x="852805" y="0"/>
                  </a:lnTo>
                  <a:lnTo>
                    <a:pt x="852805" y="152400"/>
                  </a:lnTo>
                  <a:lnTo>
                    <a:pt x="0" y="152400"/>
                  </a:lnTo>
                  <a:close/>
                </a:path>
              </a:pathLst>
            </a:custGeom>
            <a:solidFill>
              <a:srgbClr val="FE8213"/>
            </a:solidFill>
          </p:spPr>
        </p:sp>
        <p:sp>
          <p:nvSpPr>
            <p:cNvPr name="TextBox 6" id="6"/>
            <p:cNvSpPr txBox="true"/>
            <p:nvPr/>
          </p:nvSpPr>
          <p:spPr>
            <a:xfrm>
              <a:off x="0" y="-38100"/>
              <a:ext cx="852805" cy="190500"/>
            </a:xfrm>
            <a:prstGeom prst="rect">
              <a:avLst/>
            </a:prstGeom>
          </p:spPr>
          <p:txBody>
            <a:bodyPr anchor="ctr" rtlCol="false" tIns="50800" lIns="50800" bIns="50800" rIns="50800"/>
            <a:lstStyle/>
            <a:p>
              <a:pPr algn="l">
                <a:lnSpc>
                  <a:spcPts val="1679"/>
                </a:lnSpc>
              </a:pPr>
            </a:p>
          </p:txBody>
        </p:sp>
      </p:grpSp>
      <p:sp>
        <p:nvSpPr>
          <p:cNvPr name="TextBox 7" id="7"/>
          <p:cNvSpPr txBox="true"/>
          <p:nvPr/>
        </p:nvSpPr>
        <p:spPr>
          <a:xfrm rot="0">
            <a:off x="553022" y="9704832"/>
            <a:ext cx="2476500" cy="325755"/>
          </a:xfrm>
          <a:prstGeom prst="rect">
            <a:avLst/>
          </a:prstGeom>
        </p:spPr>
        <p:txBody>
          <a:bodyPr anchor="t" rtlCol="false" tIns="0" lIns="0" bIns="0" rIns="0">
            <a:spAutoFit/>
          </a:bodyPr>
          <a:lstStyle/>
          <a:p>
            <a:pPr algn="l">
              <a:lnSpc>
                <a:spcPts val="2520"/>
              </a:lnSpc>
            </a:pPr>
            <a:r>
              <a:rPr lang="en-US" sz="1800" b="true">
                <a:solidFill>
                  <a:srgbClr val="12100E"/>
                </a:solidFill>
                <a:latin typeface="Arimo Bold"/>
                <a:ea typeface="Arimo Bold"/>
                <a:cs typeface="Arimo Bold"/>
                <a:sym typeface="Arimo Bold"/>
              </a:rPr>
              <a:t>CELL FOUNDRY</a:t>
            </a:r>
          </a:p>
        </p:txBody>
      </p:sp>
      <p:sp>
        <p:nvSpPr>
          <p:cNvPr name="TextBox 8" id="8"/>
          <p:cNvSpPr txBox="true"/>
          <p:nvPr/>
        </p:nvSpPr>
        <p:spPr>
          <a:xfrm rot="0">
            <a:off x="12894183" y="9551289"/>
            <a:ext cx="5143500" cy="365760"/>
          </a:xfrm>
          <a:prstGeom prst="rect">
            <a:avLst/>
          </a:prstGeom>
        </p:spPr>
        <p:txBody>
          <a:bodyPr anchor="t" rtlCol="false" tIns="0" lIns="0" bIns="0" rIns="0">
            <a:spAutoFit/>
          </a:bodyPr>
          <a:lstStyle/>
          <a:p>
            <a:pPr algn="l">
              <a:lnSpc>
                <a:spcPts val="2940"/>
              </a:lnSpc>
            </a:pPr>
            <a:r>
              <a:rPr lang="en-US" sz="2100">
                <a:solidFill>
                  <a:srgbClr val="12100E"/>
                </a:solidFill>
                <a:latin typeface="Arimo"/>
                <a:ea typeface="Arimo"/>
                <a:cs typeface="Arimo"/>
                <a:sym typeface="Arimo"/>
              </a:rPr>
              <a:t>Meeting Title: Biweekly meet - 2</a:t>
            </a:r>
          </a:p>
        </p:txBody>
      </p:sp>
      <p:sp>
        <p:nvSpPr>
          <p:cNvPr name="TextBox 9" id="9"/>
          <p:cNvSpPr txBox="true"/>
          <p:nvPr/>
        </p:nvSpPr>
        <p:spPr>
          <a:xfrm rot="0">
            <a:off x="939070" y="2095500"/>
            <a:ext cx="11430000" cy="365760"/>
          </a:xfrm>
          <a:prstGeom prst="rect">
            <a:avLst/>
          </a:prstGeom>
        </p:spPr>
        <p:txBody>
          <a:bodyPr anchor="t" rtlCol="false" tIns="0" lIns="0" bIns="0" rIns="0">
            <a:spAutoFit/>
          </a:bodyPr>
          <a:lstStyle/>
          <a:p>
            <a:pPr algn="l">
              <a:lnSpc>
                <a:spcPts val="2940"/>
              </a:lnSpc>
            </a:pPr>
            <a:r>
              <a:rPr lang="en-US" sz="2100" b="true">
                <a:solidFill>
                  <a:srgbClr val="FE8213"/>
                </a:solidFill>
                <a:latin typeface="Arimo Bold"/>
                <a:ea typeface="Arimo Bold"/>
                <a:cs typeface="Arimo Bold"/>
                <a:sym typeface="Arimo Bold"/>
              </a:rPr>
              <a:t>6 · UPDATE SINCE 8 OCTOBER</a:t>
            </a:r>
          </a:p>
        </p:txBody>
      </p:sp>
      <p:sp>
        <p:nvSpPr>
          <p:cNvPr name="TextBox 10" id="10"/>
          <p:cNvSpPr txBox="true"/>
          <p:nvPr/>
        </p:nvSpPr>
        <p:spPr>
          <a:xfrm rot="0">
            <a:off x="939070" y="2390775"/>
            <a:ext cx="12287250" cy="948690"/>
          </a:xfrm>
          <a:prstGeom prst="rect">
            <a:avLst/>
          </a:prstGeom>
        </p:spPr>
        <p:txBody>
          <a:bodyPr anchor="t" rtlCol="false" tIns="0" lIns="0" bIns="0" rIns="0">
            <a:spAutoFit/>
          </a:bodyPr>
          <a:lstStyle/>
          <a:p>
            <a:pPr algn="l">
              <a:lnSpc>
                <a:spcPts val="7559"/>
              </a:lnSpc>
            </a:pPr>
            <a:r>
              <a:rPr lang="en-US" sz="5400" b="true">
                <a:solidFill>
                  <a:srgbClr val="12100E"/>
                </a:solidFill>
                <a:latin typeface="Arimo Bold"/>
                <a:ea typeface="Arimo Bold"/>
                <a:cs typeface="Arimo Bold"/>
                <a:sym typeface="Arimo Bold"/>
              </a:rPr>
              <a:t>Zero-Shot Results with Fat-Cell Area</a:t>
            </a:r>
          </a:p>
        </p:txBody>
      </p:sp>
      <p:grpSp>
        <p:nvGrpSpPr>
          <p:cNvPr name="Group 11" id="11"/>
          <p:cNvGrpSpPr/>
          <p:nvPr/>
        </p:nvGrpSpPr>
        <p:grpSpPr>
          <a:xfrm rot="0">
            <a:off x="939070" y="3714750"/>
            <a:ext cx="16421100" cy="609600"/>
            <a:chOff x="0" y="0"/>
            <a:chExt cx="21894800" cy="812800"/>
          </a:xfrm>
        </p:grpSpPr>
        <p:sp>
          <p:nvSpPr>
            <p:cNvPr name="Freeform 12" id="12"/>
            <p:cNvSpPr/>
            <p:nvPr/>
          </p:nvSpPr>
          <p:spPr>
            <a:xfrm flipH="false" flipV="false" rot="0">
              <a:off x="0" y="0"/>
              <a:ext cx="21894800" cy="812800"/>
            </a:xfrm>
            <a:custGeom>
              <a:avLst/>
              <a:gdLst/>
              <a:ahLst/>
              <a:cxnLst/>
              <a:rect r="r" b="b" t="t" l="l"/>
              <a:pathLst>
                <a:path h="812800" w="21894800">
                  <a:moveTo>
                    <a:pt x="0" y="0"/>
                  </a:moveTo>
                  <a:lnTo>
                    <a:pt x="21894800" y="0"/>
                  </a:lnTo>
                  <a:lnTo>
                    <a:pt x="21894800" y="812800"/>
                  </a:lnTo>
                  <a:lnTo>
                    <a:pt x="0" y="812800"/>
                  </a:lnTo>
                  <a:close/>
                </a:path>
              </a:pathLst>
            </a:custGeom>
            <a:solidFill>
              <a:srgbClr val="1F2A3C"/>
            </a:solidFill>
          </p:spPr>
        </p:sp>
        <p:sp>
          <p:nvSpPr>
            <p:cNvPr name="TextBox 13" id="13"/>
            <p:cNvSpPr txBox="true"/>
            <p:nvPr/>
          </p:nvSpPr>
          <p:spPr>
            <a:xfrm>
              <a:off x="0" y="-38100"/>
              <a:ext cx="21894800" cy="850900"/>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939070" y="4838700"/>
            <a:ext cx="16421100" cy="514350"/>
            <a:chOff x="0" y="0"/>
            <a:chExt cx="21894800" cy="685800"/>
          </a:xfrm>
        </p:grpSpPr>
        <p:sp>
          <p:nvSpPr>
            <p:cNvPr name="Freeform 15" id="15"/>
            <p:cNvSpPr/>
            <p:nvPr/>
          </p:nvSpPr>
          <p:spPr>
            <a:xfrm flipH="false" flipV="false" rot="0">
              <a:off x="0" y="0"/>
              <a:ext cx="21894800" cy="685800"/>
            </a:xfrm>
            <a:custGeom>
              <a:avLst/>
              <a:gdLst/>
              <a:ahLst/>
              <a:cxnLst/>
              <a:rect r="r" b="b" t="t" l="l"/>
              <a:pathLst>
                <a:path h="685800" w="21894800">
                  <a:moveTo>
                    <a:pt x="0" y="0"/>
                  </a:moveTo>
                  <a:lnTo>
                    <a:pt x="21894800" y="0"/>
                  </a:lnTo>
                  <a:lnTo>
                    <a:pt x="21894800" y="685800"/>
                  </a:lnTo>
                  <a:lnTo>
                    <a:pt x="0" y="685800"/>
                  </a:lnTo>
                  <a:close/>
                </a:path>
              </a:pathLst>
            </a:custGeom>
            <a:solidFill>
              <a:srgbClr val="F1ECE0"/>
            </a:solidFill>
          </p:spPr>
        </p:sp>
        <p:sp>
          <p:nvSpPr>
            <p:cNvPr name="TextBox 16" id="16"/>
            <p:cNvSpPr txBox="true"/>
            <p:nvPr/>
          </p:nvSpPr>
          <p:spPr>
            <a:xfrm>
              <a:off x="0" y="-38100"/>
              <a:ext cx="21894800" cy="723900"/>
            </a:xfrm>
            <a:prstGeom prst="rect">
              <a:avLst/>
            </a:prstGeom>
          </p:spPr>
          <p:txBody>
            <a:bodyPr anchor="ctr" rtlCol="false" tIns="50800" lIns="50800" bIns="50800" rIns="50800"/>
            <a:lstStyle/>
            <a:p>
              <a:pPr algn="l">
                <a:lnSpc>
                  <a:spcPts val="1679"/>
                </a:lnSpc>
              </a:pPr>
            </a:p>
          </p:txBody>
        </p:sp>
      </p:grpSp>
      <p:grpSp>
        <p:nvGrpSpPr>
          <p:cNvPr name="Group 17" id="17"/>
          <p:cNvGrpSpPr/>
          <p:nvPr/>
        </p:nvGrpSpPr>
        <p:grpSpPr>
          <a:xfrm rot="0">
            <a:off x="939070" y="5867400"/>
            <a:ext cx="16421100" cy="514350"/>
            <a:chOff x="0" y="0"/>
            <a:chExt cx="21894800" cy="685800"/>
          </a:xfrm>
        </p:grpSpPr>
        <p:sp>
          <p:nvSpPr>
            <p:cNvPr name="Freeform 18" id="18"/>
            <p:cNvSpPr/>
            <p:nvPr/>
          </p:nvSpPr>
          <p:spPr>
            <a:xfrm flipH="false" flipV="false" rot="0">
              <a:off x="0" y="0"/>
              <a:ext cx="21894800" cy="685800"/>
            </a:xfrm>
            <a:custGeom>
              <a:avLst/>
              <a:gdLst/>
              <a:ahLst/>
              <a:cxnLst/>
              <a:rect r="r" b="b" t="t" l="l"/>
              <a:pathLst>
                <a:path h="685800" w="21894800">
                  <a:moveTo>
                    <a:pt x="0" y="0"/>
                  </a:moveTo>
                  <a:lnTo>
                    <a:pt x="21894800" y="0"/>
                  </a:lnTo>
                  <a:lnTo>
                    <a:pt x="21894800" y="685800"/>
                  </a:lnTo>
                  <a:lnTo>
                    <a:pt x="0" y="685800"/>
                  </a:lnTo>
                  <a:close/>
                </a:path>
              </a:pathLst>
            </a:custGeom>
            <a:solidFill>
              <a:srgbClr val="F1ECE0"/>
            </a:solidFill>
          </p:spPr>
        </p:sp>
        <p:sp>
          <p:nvSpPr>
            <p:cNvPr name="TextBox 19" id="19"/>
            <p:cNvSpPr txBox="true"/>
            <p:nvPr/>
          </p:nvSpPr>
          <p:spPr>
            <a:xfrm>
              <a:off x="0" y="-38100"/>
              <a:ext cx="21894800" cy="723900"/>
            </a:xfrm>
            <a:prstGeom prst="rect">
              <a:avLst/>
            </a:prstGeom>
          </p:spPr>
          <p:txBody>
            <a:bodyPr anchor="ctr" rtlCol="false" tIns="50800" lIns="50800" bIns="50800" rIns="50800"/>
            <a:lstStyle/>
            <a:p>
              <a:pPr algn="l">
                <a:lnSpc>
                  <a:spcPts val="1679"/>
                </a:lnSpc>
              </a:pPr>
            </a:p>
          </p:txBody>
        </p:sp>
      </p:grpSp>
      <p:sp>
        <p:nvSpPr>
          <p:cNvPr name="TextBox 20" id="20"/>
          <p:cNvSpPr txBox="true"/>
          <p:nvPr/>
        </p:nvSpPr>
        <p:spPr>
          <a:xfrm rot="0">
            <a:off x="1224820" y="3781425"/>
            <a:ext cx="3143250" cy="350520"/>
          </a:xfrm>
          <a:prstGeom prst="rect">
            <a:avLst/>
          </a:prstGeom>
        </p:spPr>
        <p:txBody>
          <a:bodyPr anchor="t" rtlCol="false" tIns="0" lIns="0" bIns="0" rIns="0">
            <a:spAutoFit/>
          </a:bodyPr>
          <a:lstStyle/>
          <a:p>
            <a:pPr algn="l">
              <a:lnSpc>
                <a:spcPts val="2729"/>
              </a:lnSpc>
            </a:pPr>
            <a:r>
              <a:rPr lang="en-US" sz="1950" b="true">
                <a:solidFill>
                  <a:srgbClr val="FFFFFF"/>
                </a:solidFill>
                <a:latin typeface="Arimo Bold"/>
                <a:ea typeface="Arimo Bold"/>
                <a:cs typeface="Arimo Bold"/>
                <a:sym typeface="Arimo Bold"/>
              </a:rPr>
              <a:t>Model</a:t>
            </a:r>
          </a:p>
        </p:txBody>
      </p:sp>
      <p:sp>
        <p:nvSpPr>
          <p:cNvPr name="TextBox 21" id="21"/>
          <p:cNvSpPr txBox="true"/>
          <p:nvPr/>
        </p:nvSpPr>
        <p:spPr>
          <a:xfrm rot="0">
            <a:off x="4476750" y="3781425"/>
            <a:ext cx="2571750" cy="350520"/>
          </a:xfrm>
          <a:prstGeom prst="rect">
            <a:avLst/>
          </a:prstGeom>
        </p:spPr>
        <p:txBody>
          <a:bodyPr anchor="t" rtlCol="false" tIns="0" lIns="0" bIns="0" rIns="0">
            <a:spAutoFit/>
          </a:bodyPr>
          <a:lstStyle/>
          <a:p>
            <a:pPr algn="l">
              <a:lnSpc>
                <a:spcPts val="2729"/>
              </a:lnSpc>
            </a:pPr>
            <a:r>
              <a:rPr lang="en-US" sz="1950" b="true">
                <a:solidFill>
                  <a:srgbClr val="FFFFFF"/>
                </a:solidFill>
                <a:latin typeface="Arimo Bold"/>
                <a:ea typeface="Arimo Bold"/>
                <a:cs typeface="Arimo Bold"/>
                <a:sym typeface="Arimo Bold"/>
              </a:rPr>
              <a:t>Fat % error</a:t>
            </a:r>
          </a:p>
        </p:txBody>
      </p:sp>
      <p:sp>
        <p:nvSpPr>
          <p:cNvPr name="TextBox 22" id="22"/>
          <p:cNvSpPr txBox="true"/>
          <p:nvPr/>
        </p:nvSpPr>
        <p:spPr>
          <a:xfrm rot="0">
            <a:off x="7239000" y="3781425"/>
            <a:ext cx="2571750" cy="350520"/>
          </a:xfrm>
          <a:prstGeom prst="rect">
            <a:avLst/>
          </a:prstGeom>
        </p:spPr>
        <p:txBody>
          <a:bodyPr anchor="t" rtlCol="false" tIns="0" lIns="0" bIns="0" rIns="0">
            <a:spAutoFit/>
          </a:bodyPr>
          <a:lstStyle/>
          <a:p>
            <a:pPr algn="l">
              <a:lnSpc>
                <a:spcPts val="2729"/>
              </a:lnSpc>
            </a:pPr>
            <a:r>
              <a:rPr lang="en-US" sz="1950" b="true">
                <a:solidFill>
                  <a:srgbClr val="FFFFFF"/>
                </a:solidFill>
                <a:latin typeface="Arimo Bold"/>
                <a:ea typeface="Arimo Bold"/>
                <a:cs typeface="Arimo Bold"/>
                <a:sym typeface="Arimo Bold"/>
              </a:rPr>
              <a:t>Typical miss</a:t>
            </a:r>
          </a:p>
        </p:txBody>
      </p:sp>
      <p:sp>
        <p:nvSpPr>
          <p:cNvPr name="TextBox 23" id="23"/>
          <p:cNvSpPr txBox="true"/>
          <p:nvPr/>
        </p:nvSpPr>
        <p:spPr>
          <a:xfrm rot="0">
            <a:off x="10001250" y="3781425"/>
            <a:ext cx="2571750" cy="350520"/>
          </a:xfrm>
          <a:prstGeom prst="rect">
            <a:avLst/>
          </a:prstGeom>
        </p:spPr>
        <p:txBody>
          <a:bodyPr anchor="t" rtlCol="false" tIns="0" lIns="0" bIns="0" rIns="0">
            <a:spAutoFit/>
          </a:bodyPr>
          <a:lstStyle/>
          <a:p>
            <a:pPr algn="l">
              <a:lnSpc>
                <a:spcPts val="2729"/>
              </a:lnSpc>
            </a:pPr>
            <a:r>
              <a:rPr lang="en-US" sz="1950" b="true">
                <a:solidFill>
                  <a:srgbClr val="FFFFFF"/>
                </a:solidFill>
                <a:latin typeface="Arimo Bold"/>
                <a:ea typeface="Arimo Bold"/>
                <a:cs typeface="Arimo Bold"/>
                <a:sym typeface="Arimo Bold"/>
              </a:rPr>
              <a:t>Fat-area Dice</a:t>
            </a:r>
          </a:p>
        </p:txBody>
      </p:sp>
      <p:sp>
        <p:nvSpPr>
          <p:cNvPr name="TextBox 24" id="24"/>
          <p:cNvSpPr txBox="true"/>
          <p:nvPr/>
        </p:nvSpPr>
        <p:spPr>
          <a:xfrm rot="0">
            <a:off x="12763500" y="3781425"/>
            <a:ext cx="2190750" cy="350520"/>
          </a:xfrm>
          <a:prstGeom prst="rect">
            <a:avLst/>
          </a:prstGeom>
        </p:spPr>
        <p:txBody>
          <a:bodyPr anchor="t" rtlCol="false" tIns="0" lIns="0" bIns="0" rIns="0">
            <a:spAutoFit/>
          </a:bodyPr>
          <a:lstStyle/>
          <a:p>
            <a:pPr algn="l">
              <a:lnSpc>
                <a:spcPts val="2729"/>
              </a:lnSpc>
            </a:pPr>
            <a:r>
              <a:rPr lang="en-US" sz="1950" b="true">
                <a:solidFill>
                  <a:srgbClr val="FFFFFF"/>
                </a:solidFill>
                <a:latin typeface="Arimo Bold"/>
                <a:ea typeface="Arimo Bold"/>
                <a:cs typeface="Arimo Bold"/>
                <a:sym typeface="Arimo Bold"/>
              </a:rPr>
              <a:t>Cell F1@0.5</a:t>
            </a:r>
          </a:p>
        </p:txBody>
      </p:sp>
      <p:sp>
        <p:nvSpPr>
          <p:cNvPr name="TextBox 25" id="25"/>
          <p:cNvSpPr txBox="true"/>
          <p:nvPr/>
        </p:nvSpPr>
        <p:spPr>
          <a:xfrm rot="0">
            <a:off x="15144750" y="3781425"/>
            <a:ext cx="2095500" cy="350520"/>
          </a:xfrm>
          <a:prstGeom prst="rect">
            <a:avLst/>
          </a:prstGeom>
        </p:spPr>
        <p:txBody>
          <a:bodyPr anchor="t" rtlCol="false" tIns="0" lIns="0" bIns="0" rIns="0">
            <a:spAutoFit/>
          </a:bodyPr>
          <a:lstStyle/>
          <a:p>
            <a:pPr algn="l">
              <a:lnSpc>
                <a:spcPts val="2729"/>
              </a:lnSpc>
            </a:pPr>
            <a:r>
              <a:rPr lang="en-US" sz="1950" b="true">
                <a:solidFill>
                  <a:srgbClr val="FFFFFF"/>
                </a:solidFill>
                <a:latin typeface="Arimo Bold"/>
                <a:ea typeface="Arimo Bold"/>
                <a:cs typeface="Arimo Bold"/>
                <a:sym typeface="Arimo Bold"/>
              </a:rPr>
              <a:t>Count error</a:t>
            </a:r>
          </a:p>
        </p:txBody>
      </p:sp>
      <p:sp>
        <p:nvSpPr>
          <p:cNvPr name="TextBox 26" id="26"/>
          <p:cNvSpPr txBox="true"/>
          <p:nvPr/>
        </p:nvSpPr>
        <p:spPr>
          <a:xfrm rot="0">
            <a:off x="1224820" y="4171950"/>
            <a:ext cx="3143250" cy="2015109"/>
          </a:xfrm>
          <a:prstGeom prst="rect">
            <a:avLst/>
          </a:prstGeom>
        </p:spPr>
        <p:txBody>
          <a:bodyPr anchor="t" rtlCol="false" tIns="0" lIns="0" bIns="0" rIns="0">
            <a:spAutoFit/>
          </a:bodyPr>
          <a:lstStyle/>
          <a:p>
            <a:pPr algn="l">
              <a:lnSpc>
                <a:spcPts val="4053"/>
              </a:lnSpc>
            </a:pPr>
            <a:r>
              <a:rPr lang="en-US" sz="2100" b="true">
                <a:solidFill>
                  <a:srgbClr val="12100E"/>
                </a:solidFill>
                <a:latin typeface="Arimo Bold"/>
                <a:ea typeface="Arimo Bold"/>
                <a:cs typeface="Arimo Bold"/>
                <a:sym typeface="Arimo Bold"/>
              </a:rPr>
              <a:t>cpsam_v2</a:t>
            </a:r>
          </a:p>
          <a:p>
            <a:pPr algn="l">
              <a:lnSpc>
                <a:spcPts val="4053"/>
              </a:lnSpc>
            </a:pPr>
            <a:r>
              <a:rPr lang="en-US" sz="2100" b="true">
                <a:solidFill>
                  <a:srgbClr val="12100E"/>
                </a:solidFill>
                <a:latin typeface="Arimo Bold"/>
                <a:ea typeface="Arimo Bold"/>
                <a:cs typeface="Arimo Bold"/>
                <a:sym typeface="Arimo Bold"/>
              </a:rPr>
              <a:t>cpsam</a:t>
            </a:r>
          </a:p>
          <a:p>
            <a:pPr algn="l">
              <a:lnSpc>
                <a:spcPts val="4053"/>
              </a:lnSpc>
            </a:pPr>
            <a:r>
              <a:rPr lang="en-US" sz="2100" b="true">
                <a:solidFill>
                  <a:srgbClr val="12100E"/>
                </a:solidFill>
                <a:latin typeface="Arimo Bold"/>
                <a:ea typeface="Arimo Bold"/>
                <a:cs typeface="Arimo Bold"/>
                <a:sym typeface="Arimo Bold"/>
              </a:rPr>
              <a:t>cpdino</a:t>
            </a:r>
          </a:p>
          <a:p>
            <a:pPr algn="l">
              <a:lnSpc>
                <a:spcPts val="4053"/>
              </a:lnSpc>
            </a:pPr>
            <a:r>
              <a:rPr lang="en-US" sz="2100" b="true">
                <a:solidFill>
                  <a:srgbClr val="12100E"/>
                </a:solidFill>
                <a:latin typeface="Arimo Bold"/>
                <a:ea typeface="Arimo Bold"/>
                <a:cs typeface="Arimo Bold"/>
                <a:sym typeface="Arimo Bold"/>
              </a:rPr>
              <a:t>cpdino-vitb</a:t>
            </a:r>
          </a:p>
        </p:txBody>
      </p:sp>
      <p:sp>
        <p:nvSpPr>
          <p:cNvPr name="TextBox 27" id="27"/>
          <p:cNvSpPr txBox="true"/>
          <p:nvPr/>
        </p:nvSpPr>
        <p:spPr>
          <a:xfrm rot="0">
            <a:off x="4476750" y="4171950"/>
            <a:ext cx="2571750" cy="2015109"/>
          </a:xfrm>
          <a:prstGeom prst="rect">
            <a:avLst/>
          </a:prstGeom>
        </p:spPr>
        <p:txBody>
          <a:bodyPr anchor="t" rtlCol="false" tIns="0" lIns="0" bIns="0" rIns="0">
            <a:spAutoFit/>
          </a:bodyPr>
          <a:lstStyle/>
          <a:p>
            <a:pPr algn="l">
              <a:lnSpc>
                <a:spcPts val="4053"/>
              </a:lnSpc>
            </a:pPr>
            <a:r>
              <a:rPr lang="en-US" sz="2100">
                <a:solidFill>
                  <a:srgbClr val="12100E"/>
                </a:solidFill>
                <a:latin typeface="Arimo"/>
                <a:ea typeface="Arimo"/>
                <a:cs typeface="Arimo"/>
                <a:sym typeface="Arimo"/>
              </a:rPr>
              <a:t>−6.6 pp</a:t>
            </a:r>
          </a:p>
          <a:p>
            <a:pPr algn="l">
              <a:lnSpc>
                <a:spcPts val="4053"/>
              </a:lnSpc>
            </a:pPr>
            <a:r>
              <a:rPr lang="en-US" sz="2100">
                <a:solidFill>
                  <a:srgbClr val="12100E"/>
                </a:solidFill>
                <a:latin typeface="Arimo"/>
                <a:ea typeface="Arimo"/>
                <a:cs typeface="Arimo"/>
                <a:sym typeface="Arimo"/>
              </a:rPr>
              <a:t>−4.6 pp</a:t>
            </a:r>
          </a:p>
          <a:p>
            <a:pPr algn="l">
              <a:lnSpc>
                <a:spcPts val="4053"/>
              </a:lnSpc>
            </a:pPr>
            <a:r>
              <a:rPr lang="en-US" sz="2100">
                <a:solidFill>
                  <a:srgbClr val="12100E"/>
                </a:solidFill>
                <a:latin typeface="Arimo"/>
                <a:ea typeface="Arimo"/>
                <a:cs typeface="Arimo"/>
                <a:sym typeface="Arimo"/>
              </a:rPr>
              <a:t>−1.4 pp</a:t>
            </a:r>
          </a:p>
          <a:p>
            <a:pPr algn="l">
              <a:lnSpc>
                <a:spcPts val="4053"/>
              </a:lnSpc>
            </a:pPr>
            <a:r>
              <a:rPr lang="en-US" sz="2100">
                <a:solidFill>
                  <a:srgbClr val="12100E"/>
                </a:solidFill>
                <a:latin typeface="Arimo"/>
                <a:ea typeface="Arimo"/>
                <a:cs typeface="Arimo"/>
                <a:sym typeface="Arimo"/>
              </a:rPr>
              <a:t>−0.1 pp</a:t>
            </a:r>
          </a:p>
        </p:txBody>
      </p:sp>
      <p:sp>
        <p:nvSpPr>
          <p:cNvPr name="TextBox 28" id="28"/>
          <p:cNvSpPr txBox="true"/>
          <p:nvPr/>
        </p:nvSpPr>
        <p:spPr>
          <a:xfrm rot="0">
            <a:off x="7239000" y="4171950"/>
            <a:ext cx="2571750" cy="2015109"/>
          </a:xfrm>
          <a:prstGeom prst="rect">
            <a:avLst/>
          </a:prstGeom>
        </p:spPr>
        <p:txBody>
          <a:bodyPr anchor="t" rtlCol="false" tIns="0" lIns="0" bIns="0" rIns="0">
            <a:spAutoFit/>
          </a:bodyPr>
          <a:lstStyle/>
          <a:p>
            <a:pPr algn="l">
              <a:lnSpc>
                <a:spcPts val="4053"/>
              </a:lnSpc>
            </a:pPr>
            <a:r>
              <a:rPr lang="en-US" sz="2100">
                <a:solidFill>
                  <a:srgbClr val="12100E"/>
                </a:solidFill>
                <a:latin typeface="Arimo"/>
                <a:ea typeface="Arimo"/>
                <a:cs typeface="Arimo"/>
                <a:sym typeface="Arimo"/>
              </a:rPr>
              <a:t>6.6 pp</a:t>
            </a:r>
          </a:p>
          <a:p>
            <a:pPr algn="l">
              <a:lnSpc>
                <a:spcPts val="4053"/>
              </a:lnSpc>
            </a:pPr>
            <a:r>
              <a:rPr lang="en-US" sz="2100">
                <a:solidFill>
                  <a:srgbClr val="12100E"/>
                </a:solidFill>
                <a:latin typeface="Arimo"/>
                <a:ea typeface="Arimo"/>
                <a:cs typeface="Arimo"/>
                <a:sym typeface="Arimo"/>
              </a:rPr>
              <a:t>5.6 pp</a:t>
            </a:r>
          </a:p>
          <a:p>
            <a:pPr algn="l">
              <a:lnSpc>
                <a:spcPts val="4053"/>
              </a:lnSpc>
            </a:pPr>
            <a:r>
              <a:rPr lang="en-US" sz="2100">
                <a:solidFill>
                  <a:srgbClr val="12100E"/>
                </a:solidFill>
                <a:latin typeface="Arimo"/>
                <a:ea typeface="Arimo"/>
                <a:cs typeface="Arimo"/>
                <a:sym typeface="Arimo"/>
              </a:rPr>
              <a:t>3.7 pp</a:t>
            </a:r>
          </a:p>
          <a:p>
            <a:pPr algn="l">
              <a:lnSpc>
                <a:spcPts val="4053"/>
              </a:lnSpc>
            </a:pPr>
            <a:r>
              <a:rPr lang="en-US" sz="2100">
                <a:solidFill>
                  <a:srgbClr val="12100E"/>
                </a:solidFill>
                <a:latin typeface="Arimo"/>
                <a:ea typeface="Arimo"/>
                <a:cs typeface="Arimo"/>
                <a:sym typeface="Arimo"/>
              </a:rPr>
              <a:t>4.5 pp</a:t>
            </a:r>
          </a:p>
        </p:txBody>
      </p:sp>
      <p:sp>
        <p:nvSpPr>
          <p:cNvPr name="TextBox 29" id="29"/>
          <p:cNvSpPr txBox="true"/>
          <p:nvPr/>
        </p:nvSpPr>
        <p:spPr>
          <a:xfrm rot="0">
            <a:off x="10001250" y="4171950"/>
            <a:ext cx="2571750" cy="2015109"/>
          </a:xfrm>
          <a:prstGeom prst="rect">
            <a:avLst/>
          </a:prstGeom>
        </p:spPr>
        <p:txBody>
          <a:bodyPr anchor="t" rtlCol="false" tIns="0" lIns="0" bIns="0" rIns="0">
            <a:spAutoFit/>
          </a:bodyPr>
          <a:lstStyle/>
          <a:p>
            <a:pPr algn="l">
              <a:lnSpc>
                <a:spcPts val="4053"/>
              </a:lnSpc>
            </a:pPr>
            <a:r>
              <a:rPr lang="en-US" sz="2100">
                <a:solidFill>
                  <a:srgbClr val="12100E"/>
                </a:solidFill>
                <a:latin typeface="Arimo"/>
                <a:ea typeface="Arimo"/>
                <a:cs typeface="Arimo"/>
                <a:sym typeface="Arimo"/>
              </a:rPr>
              <a:t>0.66</a:t>
            </a:r>
          </a:p>
          <a:p>
            <a:pPr algn="l">
              <a:lnSpc>
                <a:spcPts val="4053"/>
              </a:lnSpc>
            </a:pPr>
            <a:r>
              <a:rPr lang="en-US" sz="2100">
                <a:solidFill>
                  <a:srgbClr val="12100E"/>
                </a:solidFill>
                <a:latin typeface="Arimo"/>
                <a:ea typeface="Arimo"/>
                <a:cs typeface="Arimo"/>
                <a:sym typeface="Arimo"/>
              </a:rPr>
              <a:t>0.65</a:t>
            </a:r>
          </a:p>
          <a:p>
            <a:pPr algn="l">
              <a:lnSpc>
                <a:spcPts val="4053"/>
              </a:lnSpc>
            </a:pPr>
            <a:r>
              <a:rPr lang="en-US" sz="2100">
                <a:solidFill>
                  <a:srgbClr val="12100E"/>
                </a:solidFill>
                <a:latin typeface="Arimo"/>
                <a:ea typeface="Arimo"/>
                <a:cs typeface="Arimo"/>
                <a:sym typeface="Arimo"/>
              </a:rPr>
              <a:t>0.76</a:t>
            </a:r>
          </a:p>
          <a:p>
            <a:pPr algn="l">
              <a:lnSpc>
                <a:spcPts val="4053"/>
              </a:lnSpc>
            </a:pPr>
            <a:r>
              <a:rPr lang="en-US" sz="2100">
                <a:solidFill>
                  <a:srgbClr val="12100E"/>
                </a:solidFill>
                <a:latin typeface="Arimo"/>
                <a:ea typeface="Arimo"/>
                <a:cs typeface="Arimo"/>
                <a:sym typeface="Arimo"/>
              </a:rPr>
              <a:t>0.73</a:t>
            </a:r>
          </a:p>
        </p:txBody>
      </p:sp>
      <p:sp>
        <p:nvSpPr>
          <p:cNvPr name="TextBox 30" id="30"/>
          <p:cNvSpPr txBox="true"/>
          <p:nvPr/>
        </p:nvSpPr>
        <p:spPr>
          <a:xfrm rot="0">
            <a:off x="12763500" y="4171950"/>
            <a:ext cx="2190750" cy="2015109"/>
          </a:xfrm>
          <a:prstGeom prst="rect">
            <a:avLst/>
          </a:prstGeom>
        </p:spPr>
        <p:txBody>
          <a:bodyPr anchor="t" rtlCol="false" tIns="0" lIns="0" bIns="0" rIns="0">
            <a:spAutoFit/>
          </a:bodyPr>
          <a:lstStyle/>
          <a:p>
            <a:pPr algn="l">
              <a:lnSpc>
                <a:spcPts val="4053"/>
              </a:lnSpc>
            </a:pPr>
            <a:r>
              <a:rPr lang="en-US" sz="2100">
                <a:solidFill>
                  <a:srgbClr val="12100E"/>
                </a:solidFill>
                <a:latin typeface="Arimo"/>
                <a:ea typeface="Arimo"/>
                <a:cs typeface="Arimo"/>
                <a:sym typeface="Arimo"/>
              </a:rPr>
              <a:t>0.43</a:t>
            </a:r>
          </a:p>
          <a:p>
            <a:pPr algn="l">
              <a:lnSpc>
                <a:spcPts val="4053"/>
              </a:lnSpc>
            </a:pPr>
            <a:r>
              <a:rPr lang="en-US" sz="2100">
                <a:solidFill>
                  <a:srgbClr val="12100E"/>
                </a:solidFill>
                <a:latin typeface="Arimo"/>
                <a:ea typeface="Arimo"/>
                <a:cs typeface="Arimo"/>
                <a:sym typeface="Arimo"/>
              </a:rPr>
              <a:t>0.47</a:t>
            </a:r>
          </a:p>
          <a:p>
            <a:pPr algn="l">
              <a:lnSpc>
                <a:spcPts val="4053"/>
              </a:lnSpc>
            </a:pPr>
            <a:r>
              <a:rPr lang="en-US" sz="2100">
                <a:solidFill>
                  <a:srgbClr val="12100E"/>
                </a:solidFill>
                <a:latin typeface="Arimo"/>
                <a:ea typeface="Arimo"/>
                <a:cs typeface="Arimo"/>
                <a:sym typeface="Arimo"/>
              </a:rPr>
              <a:t>0.62</a:t>
            </a:r>
          </a:p>
          <a:p>
            <a:pPr algn="l">
              <a:lnSpc>
                <a:spcPts val="4053"/>
              </a:lnSpc>
            </a:pPr>
            <a:r>
              <a:rPr lang="en-US" sz="2100">
                <a:solidFill>
                  <a:srgbClr val="12100E"/>
                </a:solidFill>
                <a:latin typeface="Arimo"/>
                <a:ea typeface="Arimo"/>
                <a:cs typeface="Arimo"/>
                <a:sym typeface="Arimo"/>
              </a:rPr>
              <a:t>0.65</a:t>
            </a:r>
          </a:p>
        </p:txBody>
      </p:sp>
      <p:sp>
        <p:nvSpPr>
          <p:cNvPr name="TextBox 31" id="31"/>
          <p:cNvSpPr txBox="true"/>
          <p:nvPr/>
        </p:nvSpPr>
        <p:spPr>
          <a:xfrm rot="0">
            <a:off x="15144750" y="4171950"/>
            <a:ext cx="2095500" cy="2015109"/>
          </a:xfrm>
          <a:prstGeom prst="rect">
            <a:avLst/>
          </a:prstGeom>
        </p:spPr>
        <p:txBody>
          <a:bodyPr anchor="t" rtlCol="false" tIns="0" lIns="0" bIns="0" rIns="0">
            <a:spAutoFit/>
          </a:bodyPr>
          <a:lstStyle/>
          <a:p>
            <a:pPr algn="l">
              <a:lnSpc>
                <a:spcPts val="4053"/>
              </a:lnSpc>
            </a:pPr>
            <a:r>
              <a:rPr lang="en-US" sz="2100">
                <a:solidFill>
                  <a:srgbClr val="12100E"/>
                </a:solidFill>
                <a:latin typeface="Arimo"/>
                <a:ea typeface="Arimo"/>
                <a:cs typeface="Arimo"/>
                <a:sym typeface="Arimo"/>
              </a:rPr>
              <a:t>+141 %</a:t>
            </a:r>
          </a:p>
          <a:p>
            <a:pPr algn="l">
              <a:lnSpc>
                <a:spcPts val="4053"/>
              </a:lnSpc>
            </a:pPr>
            <a:r>
              <a:rPr lang="en-US" sz="2100">
                <a:solidFill>
                  <a:srgbClr val="12100E"/>
                </a:solidFill>
                <a:latin typeface="Arimo"/>
                <a:ea typeface="Arimo"/>
                <a:cs typeface="Arimo"/>
                <a:sym typeface="Arimo"/>
              </a:rPr>
              <a:t>+135 %</a:t>
            </a:r>
          </a:p>
          <a:p>
            <a:pPr algn="l">
              <a:lnSpc>
                <a:spcPts val="4053"/>
              </a:lnSpc>
            </a:pPr>
            <a:r>
              <a:rPr lang="en-US" sz="2100">
                <a:solidFill>
                  <a:srgbClr val="12100E"/>
                </a:solidFill>
                <a:latin typeface="Arimo"/>
                <a:ea typeface="Arimo"/>
                <a:cs typeface="Arimo"/>
                <a:sym typeface="Arimo"/>
              </a:rPr>
              <a:t>+58 %</a:t>
            </a:r>
          </a:p>
          <a:p>
            <a:pPr algn="l">
              <a:lnSpc>
                <a:spcPts val="4053"/>
              </a:lnSpc>
            </a:pPr>
            <a:r>
              <a:rPr lang="en-US" sz="2100">
                <a:solidFill>
                  <a:srgbClr val="12100E"/>
                </a:solidFill>
                <a:latin typeface="Arimo"/>
                <a:ea typeface="Arimo"/>
                <a:cs typeface="Arimo"/>
                <a:sym typeface="Arimo"/>
              </a:rPr>
              <a:t>−9 %</a:t>
            </a:r>
          </a:p>
        </p:txBody>
      </p:sp>
      <p:sp>
        <p:nvSpPr>
          <p:cNvPr name="TextBox 32" id="32"/>
          <p:cNvSpPr txBox="true"/>
          <p:nvPr/>
        </p:nvSpPr>
        <p:spPr>
          <a:xfrm rot="0">
            <a:off x="939070" y="6515100"/>
            <a:ext cx="16421100" cy="300990"/>
          </a:xfrm>
          <a:prstGeom prst="rect">
            <a:avLst/>
          </a:prstGeom>
        </p:spPr>
        <p:txBody>
          <a:bodyPr anchor="t" rtlCol="false" tIns="0" lIns="0" bIns="0" rIns="0">
            <a:spAutoFit/>
          </a:bodyPr>
          <a:lstStyle/>
          <a:p>
            <a:pPr algn="l">
              <a:lnSpc>
                <a:spcPts val="2310"/>
              </a:lnSpc>
            </a:pPr>
            <a:r>
              <a:rPr lang="en-US" sz="1650" i="true">
                <a:solidFill>
                  <a:srgbClr val="5A5650"/>
                </a:solidFill>
                <a:latin typeface="Arimo Italics"/>
                <a:ea typeface="Arimo Italics"/>
                <a:cs typeface="Arimo Italics"/>
                <a:sym typeface="Arimo Italics"/>
              </a:rPr>
              <a:t>25 differentiated porcine brightfield images · true fat area ≈ 19.7 % of each image · zero-shot, default settings · pp = percentage points</a:t>
            </a:r>
          </a:p>
        </p:txBody>
      </p:sp>
      <p:sp>
        <p:nvSpPr>
          <p:cNvPr name="TextBox 33" id="33"/>
          <p:cNvSpPr txBox="true"/>
          <p:nvPr/>
        </p:nvSpPr>
        <p:spPr>
          <a:xfrm rot="0">
            <a:off x="939070" y="7219950"/>
            <a:ext cx="16421100" cy="1186815"/>
          </a:xfrm>
          <a:prstGeom prst="rect">
            <a:avLst/>
          </a:prstGeom>
        </p:spPr>
        <p:txBody>
          <a:bodyPr anchor="t" rtlCol="false" tIns="0" lIns="0" bIns="0" rIns="0">
            <a:spAutoFit/>
          </a:bodyPr>
          <a:lstStyle/>
          <a:p>
            <a:pPr algn="l" marL="453390" indent="-226695" lvl="1">
              <a:lnSpc>
                <a:spcPts val="3150"/>
              </a:lnSpc>
              <a:buFont typeface="Arial"/>
              <a:buChar char="•"/>
            </a:pPr>
            <a:r>
              <a:rPr lang="en-US" sz="2100">
                <a:solidFill>
                  <a:srgbClr val="12100E"/>
                </a:solidFill>
                <a:latin typeface="Arimo"/>
                <a:ea typeface="Arimo"/>
                <a:cs typeface="Arimo"/>
                <a:sym typeface="Arimo"/>
              </a:rPr>
              <a:t>Best on fat area: cpdino (smallest typical miss, best Dice). Best on cells: cpdino-vitb</a:t>
            </a:r>
          </a:p>
          <a:p>
            <a:pPr algn="l" marL="453390" indent="-226695" lvl="1">
              <a:lnSpc>
                <a:spcPts val="3150"/>
              </a:lnSpc>
              <a:buFont typeface="Arial"/>
              <a:buChar char="•"/>
            </a:pPr>
            <a:r>
              <a:rPr lang="en-US" sz="2100">
                <a:solidFill>
                  <a:srgbClr val="12100E"/>
                </a:solidFill>
                <a:latin typeface="Arimo"/>
                <a:ea typeface="Arimo"/>
                <a:cs typeface="Arimo"/>
                <a:sym typeface="Arimo"/>
              </a:rPr>
              <a:t>Six hard images (Positiv_21–26) break most models: up to 3,300 “cells” instead of about 400</a:t>
            </a:r>
          </a:p>
          <a:p>
            <a:pPr algn="l" marL="453390" indent="-226695" lvl="1">
              <a:lnSpc>
                <a:spcPts val="3150"/>
              </a:lnSpc>
              <a:buFont typeface="Arial"/>
              <a:buChar char="•"/>
            </a:pPr>
            <a:r>
              <a:rPr lang="en-US" sz="2100">
                <a:solidFill>
                  <a:srgbClr val="12100E"/>
                </a:solidFill>
                <a:latin typeface="Arimo"/>
                <a:ea typeface="Arimo"/>
                <a:cs typeface="Arimo"/>
                <a:sym typeface="Arimo"/>
              </a:rPr>
              <a:t>Next: base DINOCell and the IMES fine-tuned baseline through the same scoring</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Freeform 2" id="2" descr="imes.thws logo"/>
          <p:cNvSpPr/>
          <p:nvPr/>
        </p:nvSpPr>
        <p:spPr>
          <a:xfrm flipH="false" flipV="false" rot="0">
            <a:off x="553022" y="707993"/>
            <a:ext cx="5017770" cy="1298734"/>
          </a:xfrm>
          <a:custGeom>
            <a:avLst/>
            <a:gdLst/>
            <a:ahLst/>
            <a:cxnLst/>
            <a:rect r="r" b="b" t="t" l="l"/>
            <a:pathLst>
              <a:path h="1298734" w="5017770">
                <a:moveTo>
                  <a:pt x="0" y="0"/>
                </a:moveTo>
                <a:lnTo>
                  <a:pt x="5017770" y="0"/>
                </a:lnTo>
                <a:lnTo>
                  <a:pt x="5017770" y="1298734"/>
                </a:lnTo>
                <a:lnTo>
                  <a:pt x="0" y="1298734"/>
                </a:lnTo>
                <a:lnTo>
                  <a:pt x="0" y="0"/>
                </a:lnTo>
                <a:close/>
              </a:path>
            </a:pathLst>
          </a:custGeom>
          <a:blipFill>
            <a:blip r:embed="rId3"/>
            <a:stretch>
              <a:fillRect l="-14" t="0" r="-14" b="0"/>
            </a:stretch>
          </a:blipFill>
        </p:spPr>
      </p:sp>
      <p:sp>
        <p:nvSpPr>
          <p:cNvPr name="Freeform 3" id="3" descr="cairo.thws logo"/>
          <p:cNvSpPr/>
          <p:nvPr/>
        </p:nvSpPr>
        <p:spPr>
          <a:xfrm flipH="false" flipV="false" rot="0">
            <a:off x="13282708" y="835628"/>
            <a:ext cx="4646200" cy="1171099"/>
          </a:xfrm>
          <a:custGeom>
            <a:avLst/>
            <a:gdLst/>
            <a:ahLst/>
            <a:cxnLst/>
            <a:rect r="r" b="b" t="t" l="l"/>
            <a:pathLst>
              <a:path h="1171099" w="4646200">
                <a:moveTo>
                  <a:pt x="0" y="0"/>
                </a:moveTo>
                <a:lnTo>
                  <a:pt x="4646200" y="0"/>
                </a:lnTo>
                <a:lnTo>
                  <a:pt x="4646200" y="1171099"/>
                </a:lnTo>
                <a:lnTo>
                  <a:pt x="0" y="1171099"/>
                </a:lnTo>
                <a:lnTo>
                  <a:pt x="0" y="0"/>
                </a:lnTo>
                <a:close/>
              </a:path>
            </a:pathLst>
          </a:custGeom>
          <a:blipFill>
            <a:blip r:embed="rId4"/>
            <a:stretch>
              <a:fillRect l="-39" t="0" r="-39" b="-80162"/>
            </a:stretch>
          </a:blipFill>
        </p:spPr>
      </p:sp>
      <p:grpSp>
        <p:nvGrpSpPr>
          <p:cNvPr name="Group 4" id="4"/>
          <p:cNvGrpSpPr/>
          <p:nvPr/>
        </p:nvGrpSpPr>
        <p:grpSpPr>
          <a:xfrm rot="0">
            <a:off x="708660" y="9429750"/>
            <a:ext cx="639604" cy="114300"/>
            <a:chOff x="0" y="0"/>
            <a:chExt cx="852805" cy="152400"/>
          </a:xfrm>
        </p:grpSpPr>
        <p:sp>
          <p:nvSpPr>
            <p:cNvPr name="Freeform 5" id="5"/>
            <p:cNvSpPr/>
            <p:nvPr/>
          </p:nvSpPr>
          <p:spPr>
            <a:xfrm flipH="false" flipV="false" rot="0">
              <a:off x="0" y="0"/>
              <a:ext cx="852805" cy="152400"/>
            </a:xfrm>
            <a:custGeom>
              <a:avLst/>
              <a:gdLst/>
              <a:ahLst/>
              <a:cxnLst/>
              <a:rect r="r" b="b" t="t" l="l"/>
              <a:pathLst>
                <a:path h="152400" w="852805">
                  <a:moveTo>
                    <a:pt x="0" y="0"/>
                  </a:moveTo>
                  <a:lnTo>
                    <a:pt x="852805" y="0"/>
                  </a:lnTo>
                  <a:lnTo>
                    <a:pt x="852805" y="152400"/>
                  </a:lnTo>
                  <a:lnTo>
                    <a:pt x="0" y="152400"/>
                  </a:lnTo>
                  <a:close/>
                </a:path>
              </a:pathLst>
            </a:custGeom>
            <a:solidFill>
              <a:srgbClr val="FE8213"/>
            </a:solidFill>
          </p:spPr>
        </p:sp>
        <p:sp>
          <p:nvSpPr>
            <p:cNvPr name="TextBox 6" id="6"/>
            <p:cNvSpPr txBox="true"/>
            <p:nvPr/>
          </p:nvSpPr>
          <p:spPr>
            <a:xfrm>
              <a:off x="0" y="-38100"/>
              <a:ext cx="852805" cy="190500"/>
            </a:xfrm>
            <a:prstGeom prst="rect">
              <a:avLst/>
            </a:prstGeom>
          </p:spPr>
          <p:txBody>
            <a:bodyPr anchor="ctr" rtlCol="false" tIns="50800" lIns="50800" bIns="50800" rIns="50800"/>
            <a:lstStyle/>
            <a:p>
              <a:pPr algn="l">
                <a:lnSpc>
                  <a:spcPts val="1679"/>
                </a:lnSpc>
              </a:pPr>
            </a:p>
          </p:txBody>
        </p:sp>
      </p:grpSp>
      <p:sp>
        <p:nvSpPr>
          <p:cNvPr name="TextBox 7" id="7"/>
          <p:cNvSpPr txBox="true"/>
          <p:nvPr/>
        </p:nvSpPr>
        <p:spPr>
          <a:xfrm rot="0">
            <a:off x="553022" y="9704832"/>
            <a:ext cx="2476500" cy="325755"/>
          </a:xfrm>
          <a:prstGeom prst="rect">
            <a:avLst/>
          </a:prstGeom>
        </p:spPr>
        <p:txBody>
          <a:bodyPr anchor="t" rtlCol="false" tIns="0" lIns="0" bIns="0" rIns="0">
            <a:spAutoFit/>
          </a:bodyPr>
          <a:lstStyle/>
          <a:p>
            <a:pPr algn="l">
              <a:lnSpc>
                <a:spcPts val="2520"/>
              </a:lnSpc>
            </a:pPr>
            <a:r>
              <a:rPr lang="en-US" sz="1800" b="true">
                <a:solidFill>
                  <a:srgbClr val="12100E"/>
                </a:solidFill>
                <a:latin typeface="Arimo Bold"/>
                <a:ea typeface="Arimo Bold"/>
                <a:cs typeface="Arimo Bold"/>
                <a:sym typeface="Arimo Bold"/>
              </a:rPr>
              <a:t>CELL FOUNDRY</a:t>
            </a:r>
          </a:p>
        </p:txBody>
      </p:sp>
      <p:sp>
        <p:nvSpPr>
          <p:cNvPr name="TextBox 8" id="8"/>
          <p:cNvSpPr txBox="true"/>
          <p:nvPr/>
        </p:nvSpPr>
        <p:spPr>
          <a:xfrm rot="0">
            <a:off x="12894183" y="9551289"/>
            <a:ext cx="5143500" cy="365760"/>
          </a:xfrm>
          <a:prstGeom prst="rect">
            <a:avLst/>
          </a:prstGeom>
        </p:spPr>
        <p:txBody>
          <a:bodyPr anchor="t" rtlCol="false" tIns="0" lIns="0" bIns="0" rIns="0">
            <a:spAutoFit/>
          </a:bodyPr>
          <a:lstStyle/>
          <a:p>
            <a:pPr algn="l">
              <a:lnSpc>
                <a:spcPts val="2940"/>
              </a:lnSpc>
            </a:pPr>
            <a:r>
              <a:rPr lang="en-US" sz="2100">
                <a:solidFill>
                  <a:srgbClr val="12100E"/>
                </a:solidFill>
                <a:latin typeface="Arimo"/>
                <a:ea typeface="Arimo"/>
                <a:cs typeface="Arimo"/>
                <a:sym typeface="Arimo"/>
              </a:rPr>
              <a:t>Meeting Title: Biweekly meet - 2</a:t>
            </a:r>
          </a:p>
        </p:txBody>
      </p:sp>
      <p:sp>
        <p:nvSpPr>
          <p:cNvPr name="TextBox 9" id="9"/>
          <p:cNvSpPr txBox="true"/>
          <p:nvPr/>
        </p:nvSpPr>
        <p:spPr>
          <a:xfrm rot="0">
            <a:off x="939070" y="2095500"/>
            <a:ext cx="11430000" cy="365760"/>
          </a:xfrm>
          <a:prstGeom prst="rect">
            <a:avLst/>
          </a:prstGeom>
        </p:spPr>
        <p:txBody>
          <a:bodyPr anchor="t" rtlCol="false" tIns="0" lIns="0" bIns="0" rIns="0">
            <a:spAutoFit/>
          </a:bodyPr>
          <a:lstStyle/>
          <a:p>
            <a:pPr algn="l">
              <a:lnSpc>
                <a:spcPts val="2940"/>
              </a:lnSpc>
            </a:pPr>
            <a:r>
              <a:rPr lang="en-US" sz="2100" b="true">
                <a:solidFill>
                  <a:srgbClr val="FE8213"/>
                </a:solidFill>
                <a:latin typeface="Arimo Bold"/>
                <a:ea typeface="Arimo Bold"/>
                <a:cs typeface="Arimo Bold"/>
                <a:sym typeface="Arimo Bold"/>
              </a:rPr>
              <a:t>6 · UPDATE SINCE 8 OCTOBER</a:t>
            </a:r>
          </a:p>
        </p:txBody>
      </p:sp>
      <p:sp>
        <p:nvSpPr>
          <p:cNvPr name="TextBox 10" id="10"/>
          <p:cNvSpPr txBox="true"/>
          <p:nvPr/>
        </p:nvSpPr>
        <p:spPr>
          <a:xfrm rot="0">
            <a:off x="939070" y="2390775"/>
            <a:ext cx="12287250" cy="948690"/>
          </a:xfrm>
          <a:prstGeom prst="rect">
            <a:avLst/>
          </a:prstGeom>
        </p:spPr>
        <p:txBody>
          <a:bodyPr anchor="t" rtlCol="false" tIns="0" lIns="0" bIns="0" rIns="0">
            <a:spAutoFit/>
          </a:bodyPr>
          <a:lstStyle/>
          <a:p>
            <a:pPr algn="l">
              <a:lnSpc>
                <a:spcPts val="7559"/>
              </a:lnSpc>
            </a:pPr>
            <a:r>
              <a:rPr lang="en-US" sz="5400" b="true">
                <a:solidFill>
                  <a:srgbClr val="12100E"/>
                </a:solidFill>
                <a:latin typeface="Arimo Bold"/>
                <a:ea typeface="Arimo Bold"/>
                <a:cs typeface="Arimo Bold"/>
                <a:sym typeface="Arimo Bold"/>
              </a:rPr>
              <a:t>Run Tracking: From PDF to W&amp;B</a:t>
            </a:r>
          </a:p>
        </p:txBody>
      </p:sp>
      <p:grpSp>
        <p:nvGrpSpPr>
          <p:cNvPr name="Group 11" id="11"/>
          <p:cNvGrpSpPr/>
          <p:nvPr/>
        </p:nvGrpSpPr>
        <p:grpSpPr>
          <a:xfrm rot="0">
            <a:off x="939070" y="3810000"/>
            <a:ext cx="7810500" cy="2476500"/>
            <a:chOff x="0" y="0"/>
            <a:chExt cx="10414000" cy="3302000"/>
          </a:xfrm>
        </p:grpSpPr>
        <p:sp>
          <p:nvSpPr>
            <p:cNvPr name="Freeform 12" id="12"/>
            <p:cNvSpPr/>
            <p:nvPr/>
          </p:nvSpPr>
          <p:spPr>
            <a:xfrm flipH="false" flipV="false" rot="0">
              <a:off x="0" y="0"/>
              <a:ext cx="10414000" cy="3302000"/>
            </a:xfrm>
            <a:custGeom>
              <a:avLst/>
              <a:gdLst/>
              <a:ahLst/>
              <a:cxnLst/>
              <a:rect r="r" b="b" t="t" l="l"/>
              <a:pathLst>
                <a:path h="3302000" w="10414000">
                  <a:moveTo>
                    <a:pt x="0" y="0"/>
                  </a:moveTo>
                  <a:lnTo>
                    <a:pt x="10414000" y="0"/>
                  </a:lnTo>
                  <a:lnTo>
                    <a:pt x="10414000" y="3302000"/>
                  </a:lnTo>
                  <a:lnTo>
                    <a:pt x="0" y="3302000"/>
                  </a:lnTo>
                  <a:close/>
                </a:path>
              </a:pathLst>
            </a:custGeom>
            <a:solidFill>
              <a:srgbClr val="F1ECE0"/>
            </a:solidFill>
          </p:spPr>
        </p:sp>
        <p:sp>
          <p:nvSpPr>
            <p:cNvPr name="TextBox 13" id="13"/>
            <p:cNvSpPr txBox="true"/>
            <p:nvPr/>
          </p:nvSpPr>
          <p:spPr>
            <a:xfrm>
              <a:off x="0" y="-38100"/>
              <a:ext cx="10414000" cy="3340100"/>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9549670" y="3810000"/>
            <a:ext cx="7810500" cy="2476500"/>
            <a:chOff x="0" y="0"/>
            <a:chExt cx="10414000" cy="3302000"/>
          </a:xfrm>
        </p:grpSpPr>
        <p:sp>
          <p:nvSpPr>
            <p:cNvPr name="Freeform 15" id="15"/>
            <p:cNvSpPr/>
            <p:nvPr/>
          </p:nvSpPr>
          <p:spPr>
            <a:xfrm flipH="false" flipV="false" rot="0">
              <a:off x="0" y="0"/>
              <a:ext cx="10414000" cy="3302000"/>
            </a:xfrm>
            <a:custGeom>
              <a:avLst/>
              <a:gdLst/>
              <a:ahLst/>
              <a:cxnLst/>
              <a:rect r="r" b="b" t="t" l="l"/>
              <a:pathLst>
                <a:path h="3302000" w="10414000">
                  <a:moveTo>
                    <a:pt x="0" y="0"/>
                  </a:moveTo>
                  <a:lnTo>
                    <a:pt x="10414000" y="0"/>
                  </a:lnTo>
                  <a:lnTo>
                    <a:pt x="10414000" y="3302000"/>
                  </a:lnTo>
                  <a:lnTo>
                    <a:pt x="0" y="3302000"/>
                  </a:lnTo>
                  <a:close/>
                </a:path>
              </a:pathLst>
            </a:custGeom>
            <a:solidFill>
              <a:srgbClr val="1F2A3C"/>
            </a:solidFill>
          </p:spPr>
        </p:sp>
        <p:sp>
          <p:nvSpPr>
            <p:cNvPr name="TextBox 16" id="16"/>
            <p:cNvSpPr txBox="true"/>
            <p:nvPr/>
          </p:nvSpPr>
          <p:spPr>
            <a:xfrm>
              <a:off x="0" y="-38100"/>
              <a:ext cx="10414000" cy="3340100"/>
            </a:xfrm>
            <a:prstGeom prst="rect">
              <a:avLst/>
            </a:prstGeom>
          </p:spPr>
          <p:txBody>
            <a:bodyPr anchor="ctr" rtlCol="false" tIns="50800" lIns="50800" bIns="50800" rIns="50800"/>
            <a:lstStyle/>
            <a:p>
              <a:pPr algn="l">
                <a:lnSpc>
                  <a:spcPts val="1679"/>
                </a:lnSpc>
              </a:pPr>
            </a:p>
          </p:txBody>
        </p:sp>
      </p:grpSp>
      <p:grpSp>
        <p:nvGrpSpPr>
          <p:cNvPr name="Group 17" id="17"/>
          <p:cNvGrpSpPr/>
          <p:nvPr/>
        </p:nvGrpSpPr>
        <p:grpSpPr>
          <a:xfrm rot="0">
            <a:off x="9549670" y="3810000"/>
            <a:ext cx="114300" cy="2476500"/>
            <a:chOff x="0" y="0"/>
            <a:chExt cx="152400" cy="3302000"/>
          </a:xfrm>
        </p:grpSpPr>
        <p:sp>
          <p:nvSpPr>
            <p:cNvPr name="Freeform 18" id="18"/>
            <p:cNvSpPr/>
            <p:nvPr/>
          </p:nvSpPr>
          <p:spPr>
            <a:xfrm flipH="false" flipV="false" rot="0">
              <a:off x="0" y="0"/>
              <a:ext cx="152400" cy="3302000"/>
            </a:xfrm>
            <a:custGeom>
              <a:avLst/>
              <a:gdLst/>
              <a:ahLst/>
              <a:cxnLst/>
              <a:rect r="r" b="b" t="t" l="l"/>
              <a:pathLst>
                <a:path h="3302000" w="152400">
                  <a:moveTo>
                    <a:pt x="0" y="0"/>
                  </a:moveTo>
                  <a:lnTo>
                    <a:pt x="152400" y="0"/>
                  </a:lnTo>
                  <a:lnTo>
                    <a:pt x="152400" y="3302000"/>
                  </a:lnTo>
                  <a:lnTo>
                    <a:pt x="0" y="3302000"/>
                  </a:lnTo>
                  <a:close/>
                </a:path>
              </a:pathLst>
            </a:custGeom>
            <a:solidFill>
              <a:srgbClr val="FE8213"/>
            </a:solidFill>
          </p:spPr>
        </p:sp>
        <p:sp>
          <p:nvSpPr>
            <p:cNvPr name="TextBox 19" id="19"/>
            <p:cNvSpPr txBox="true"/>
            <p:nvPr/>
          </p:nvSpPr>
          <p:spPr>
            <a:xfrm>
              <a:off x="0" y="-38100"/>
              <a:ext cx="152400" cy="3340100"/>
            </a:xfrm>
            <a:prstGeom prst="rect">
              <a:avLst/>
            </a:prstGeom>
          </p:spPr>
          <p:txBody>
            <a:bodyPr anchor="ctr" rtlCol="false" tIns="50800" lIns="50800" bIns="50800" rIns="50800"/>
            <a:lstStyle/>
            <a:p>
              <a:pPr algn="l">
                <a:lnSpc>
                  <a:spcPts val="1679"/>
                </a:lnSpc>
              </a:pPr>
            </a:p>
          </p:txBody>
        </p:sp>
      </p:grpSp>
      <p:sp>
        <p:nvSpPr>
          <p:cNvPr name="TextBox 20" id="20"/>
          <p:cNvSpPr txBox="true"/>
          <p:nvPr/>
        </p:nvSpPr>
        <p:spPr>
          <a:xfrm rot="0">
            <a:off x="1238250" y="4010025"/>
            <a:ext cx="7239000" cy="474345"/>
          </a:xfrm>
          <a:prstGeom prst="rect">
            <a:avLst/>
          </a:prstGeom>
        </p:spPr>
        <p:txBody>
          <a:bodyPr anchor="t" rtlCol="false" tIns="0" lIns="0" bIns="0" rIns="0">
            <a:spAutoFit/>
          </a:bodyPr>
          <a:lstStyle/>
          <a:p>
            <a:pPr algn="l">
              <a:lnSpc>
                <a:spcPts val="3779"/>
              </a:lnSpc>
            </a:pPr>
            <a:r>
              <a:rPr lang="en-US" sz="2700" b="true">
                <a:solidFill>
                  <a:srgbClr val="12100E"/>
                </a:solidFill>
                <a:latin typeface="Arimo Bold"/>
                <a:ea typeface="Arimo Bold"/>
                <a:cs typeface="Arimo Bold"/>
                <a:sym typeface="Arimo Bold"/>
              </a:rPr>
              <a:t>Before: one PDF per run</a:t>
            </a:r>
          </a:p>
        </p:txBody>
      </p:sp>
      <p:sp>
        <p:nvSpPr>
          <p:cNvPr name="TextBox 21" id="21"/>
          <p:cNvSpPr txBox="true"/>
          <p:nvPr/>
        </p:nvSpPr>
        <p:spPr>
          <a:xfrm rot="0">
            <a:off x="1238250" y="4695825"/>
            <a:ext cx="7239000" cy="1186815"/>
          </a:xfrm>
          <a:prstGeom prst="rect">
            <a:avLst/>
          </a:prstGeom>
        </p:spPr>
        <p:txBody>
          <a:bodyPr anchor="t" rtlCol="false" tIns="0" lIns="0" bIns="0" rIns="0">
            <a:spAutoFit/>
          </a:bodyPr>
          <a:lstStyle/>
          <a:p>
            <a:pPr algn="l" marL="453390" indent="-226695" lvl="1">
              <a:lnSpc>
                <a:spcPts val="3150"/>
              </a:lnSpc>
              <a:buFont typeface="Arial"/>
              <a:buChar char="•"/>
            </a:pPr>
            <a:r>
              <a:rPr lang="en-US" sz="2100">
                <a:solidFill>
                  <a:srgbClr val="12100E"/>
                </a:solidFill>
                <a:latin typeface="Arimo"/>
                <a:ea typeface="Arimo"/>
                <a:cs typeface="Arimo"/>
                <a:sym typeface="Arimo"/>
              </a:rPr>
              <a:t>Written by hand after each run</a:t>
            </a:r>
          </a:p>
          <a:p>
            <a:pPr algn="l" marL="453390" indent="-226695" lvl="1">
              <a:lnSpc>
                <a:spcPts val="3150"/>
              </a:lnSpc>
              <a:buFont typeface="Arial"/>
              <a:buChar char="•"/>
            </a:pPr>
            <a:r>
              <a:rPr lang="en-US" sz="2100">
                <a:solidFill>
                  <a:srgbClr val="12100E"/>
                </a:solidFill>
                <a:latin typeface="Arimo"/>
                <a:ea typeface="Arimo"/>
                <a:cs typeface="Arimo"/>
                <a:sym typeface="Arimo"/>
              </a:rPr>
              <a:t>Hard to compare runs side by side</a:t>
            </a:r>
          </a:p>
          <a:p>
            <a:pPr algn="l" marL="453390" indent="-226695" lvl="1">
              <a:lnSpc>
                <a:spcPts val="3150"/>
              </a:lnSpc>
              <a:buFont typeface="Arial"/>
              <a:buChar char="•"/>
            </a:pPr>
            <a:r>
              <a:rPr lang="en-US" sz="2100">
                <a:solidFill>
                  <a:srgbClr val="12100E"/>
                </a:solidFill>
                <a:latin typeface="Arimo"/>
                <a:ea typeface="Arimo"/>
                <a:cs typeface="Arimo"/>
                <a:sym typeface="Arimo"/>
              </a:rPr>
              <a:t>Settings and code version get lost</a:t>
            </a:r>
          </a:p>
        </p:txBody>
      </p:sp>
      <p:sp>
        <p:nvSpPr>
          <p:cNvPr name="TextBox 22" id="22"/>
          <p:cNvSpPr txBox="true"/>
          <p:nvPr/>
        </p:nvSpPr>
        <p:spPr>
          <a:xfrm rot="0">
            <a:off x="9906000" y="4010025"/>
            <a:ext cx="7239000" cy="474345"/>
          </a:xfrm>
          <a:prstGeom prst="rect">
            <a:avLst/>
          </a:prstGeom>
        </p:spPr>
        <p:txBody>
          <a:bodyPr anchor="t" rtlCol="false" tIns="0" lIns="0" bIns="0" rIns="0">
            <a:spAutoFit/>
          </a:bodyPr>
          <a:lstStyle/>
          <a:p>
            <a:pPr algn="l">
              <a:lnSpc>
                <a:spcPts val="3779"/>
              </a:lnSpc>
            </a:pPr>
            <a:r>
              <a:rPr lang="en-US" sz="2700" b="true">
                <a:solidFill>
                  <a:srgbClr val="FE8213"/>
                </a:solidFill>
                <a:latin typeface="Arimo Bold"/>
                <a:ea typeface="Arimo Bold"/>
                <a:cs typeface="Arimo Bold"/>
                <a:sym typeface="Arimo Bold"/>
              </a:rPr>
              <a:t>Now: Weights &amp; Biases (W&amp;B)</a:t>
            </a:r>
          </a:p>
        </p:txBody>
      </p:sp>
      <p:sp>
        <p:nvSpPr>
          <p:cNvPr name="TextBox 23" id="23"/>
          <p:cNvSpPr txBox="true"/>
          <p:nvPr/>
        </p:nvSpPr>
        <p:spPr>
          <a:xfrm rot="0">
            <a:off x="9906000" y="4695825"/>
            <a:ext cx="7239000" cy="1186815"/>
          </a:xfrm>
          <a:prstGeom prst="rect">
            <a:avLst/>
          </a:prstGeom>
        </p:spPr>
        <p:txBody>
          <a:bodyPr anchor="t" rtlCol="false" tIns="0" lIns="0" bIns="0" rIns="0">
            <a:spAutoFit/>
          </a:bodyPr>
          <a:lstStyle/>
          <a:p>
            <a:pPr algn="l" marL="453390" indent="-226695" lvl="1">
              <a:lnSpc>
                <a:spcPts val="3150"/>
              </a:lnSpc>
              <a:buFont typeface="Arial"/>
              <a:buChar char="•"/>
            </a:pPr>
            <a:r>
              <a:rPr lang="en-US" sz="2100">
                <a:solidFill>
                  <a:srgbClr val="FFFFFF"/>
                </a:solidFill>
                <a:latin typeface="Arimo"/>
                <a:ea typeface="Arimo"/>
                <a:cs typeface="Arimo"/>
                <a:sym typeface="Arimo"/>
              </a:rPr>
              <a:t>One run per model, logged by the script</a:t>
            </a:r>
          </a:p>
          <a:p>
            <a:pPr algn="l" marL="453390" indent="-226695" lvl="1">
              <a:lnSpc>
                <a:spcPts val="3150"/>
              </a:lnSpc>
              <a:buFont typeface="Arial"/>
              <a:buChar char="•"/>
            </a:pPr>
            <a:r>
              <a:rPr lang="en-US" sz="2100">
                <a:solidFill>
                  <a:srgbClr val="FFFFFF"/>
                </a:solidFill>
                <a:latin typeface="Arimo"/>
                <a:ea typeface="Arimo"/>
                <a:cs typeface="Arimo"/>
                <a:sym typeface="Arimo"/>
              </a:rPr>
              <a:t>Summary = average over all images</a:t>
            </a:r>
          </a:p>
          <a:p>
            <a:pPr algn="l" marL="453390" indent="-226695" lvl="1">
              <a:lnSpc>
                <a:spcPts val="3150"/>
              </a:lnSpc>
              <a:buFont typeface="Arial"/>
              <a:buChar char="•"/>
            </a:pPr>
            <a:r>
              <a:rPr lang="en-US" sz="2100">
                <a:solidFill>
                  <a:srgbClr val="FFFFFF"/>
                </a:solidFill>
                <a:latin typeface="Arimo"/>
                <a:ea typeface="Arimo"/>
                <a:cs typeface="Arimo"/>
                <a:sym typeface="Arimo"/>
              </a:rPr>
              <a:t>Settings, versions, git commit saved</a:t>
            </a:r>
          </a:p>
        </p:txBody>
      </p:sp>
      <p:sp>
        <p:nvSpPr>
          <p:cNvPr name="TextBox 24" id="24"/>
          <p:cNvSpPr txBox="true"/>
          <p:nvPr/>
        </p:nvSpPr>
        <p:spPr>
          <a:xfrm rot="0">
            <a:off x="939070" y="6753225"/>
            <a:ext cx="16421100" cy="400050"/>
          </a:xfrm>
          <a:prstGeom prst="rect">
            <a:avLst/>
          </a:prstGeom>
        </p:spPr>
        <p:txBody>
          <a:bodyPr anchor="t" rtlCol="false" tIns="0" lIns="0" bIns="0" rIns="0">
            <a:spAutoFit/>
          </a:bodyPr>
          <a:lstStyle/>
          <a:p>
            <a:pPr algn="l">
              <a:lnSpc>
                <a:spcPts val="3149"/>
              </a:lnSpc>
            </a:pPr>
            <a:r>
              <a:rPr lang="en-US" sz="2250" b="true">
                <a:solidFill>
                  <a:srgbClr val="12100E"/>
                </a:solidFill>
                <a:latin typeface="Arimo Bold"/>
                <a:ea typeface="Arimo Bold"/>
                <a:cs typeface="Arimo Bold"/>
                <a:sym typeface="Arimo Bold"/>
              </a:rPr>
              <a:t>Only numbers and tables go to W&amp;B — never images or masks</a:t>
            </a:r>
          </a:p>
        </p:txBody>
      </p:sp>
      <p:sp>
        <p:nvSpPr>
          <p:cNvPr name="TextBox 25" id="25"/>
          <p:cNvSpPr txBox="true"/>
          <p:nvPr/>
        </p:nvSpPr>
        <p:spPr>
          <a:xfrm rot="0">
            <a:off x="939070" y="7277100"/>
            <a:ext cx="16421100" cy="350520"/>
          </a:xfrm>
          <a:prstGeom prst="rect">
            <a:avLst/>
          </a:prstGeom>
        </p:spPr>
        <p:txBody>
          <a:bodyPr anchor="t" rtlCol="false" tIns="0" lIns="0" bIns="0" rIns="0">
            <a:spAutoFit/>
          </a:bodyPr>
          <a:lstStyle/>
          <a:p>
            <a:pPr algn="l">
              <a:lnSpc>
                <a:spcPts val="2729"/>
              </a:lnSpc>
            </a:pPr>
            <a:r>
              <a:rPr lang="en-US" sz="1950">
                <a:solidFill>
                  <a:srgbClr val="5A5650"/>
                </a:solidFill>
                <a:latin typeface="Arimo"/>
                <a:ea typeface="Arimo"/>
                <a:cs typeface="Arimo"/>
                <a:sym typeface="Arimo"/>
              </a:rPr>
              <a:t>Test project: cellfoundry-test · final runs go to a new project after the scoring PR is merged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DAHYuW0DYjQ</dc:identifier>
  <dcterms:modified xsi:type="dcterms:W3CDTF">2011-08-01T06:04:30Z</dcterms:modified>
  <cp:revision>1</cp:revision>
  <dc:title>Biweekly Meet - 2</dc:title>
</cp:coreProperties>
</file>